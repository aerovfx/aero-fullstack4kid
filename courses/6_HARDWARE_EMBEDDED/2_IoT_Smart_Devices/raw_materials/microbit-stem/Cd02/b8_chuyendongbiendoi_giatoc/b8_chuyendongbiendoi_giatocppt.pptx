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media/image102.svg" ContentType="image/svg+xml"/>
  <Override PartName="/ppt/media/image106.svg" ContentType="image/svg+xml"/>
  <Override PartName="/ppt/media/image108.svg" ContentType="image/svg+xml"/>
  <Override PartName="/ppt/media/image111.svg" ContentType="image/svg+xml"/>
  <Override PartName="/ppt/media/image113.svg" ContentType="image/svg+xml"/>
  <Override PartName="/ppt/media/image115.svg" ContentType="image/svg+xml"/>
  <Override PartName="/ppt/media/image117.svg" ContentType="image/svg+xml"/>
  <Override PartName="/ppt/media/image119.svg" ContentType="image/svg+xml"/>
  <Override PartName="/ppt/media/image12.svg" ContentType="image/svg+xml"/>
  <Override PartName="/ppt/media/image121.svg" ContentType="image/svg+xml"/>
  <Override PartName="/ppt/media/image123.svg" ContentType="image/svg+xml"/>
  <Override PartName="/ppt/media/image125.svg" ContentType="image/svg+xml"/>
  <Override PartName="/ppt/media/image127.svg" ContentType="image/svg+xml"/>
  <Override PartName="/ppt/media/image129.svg" ContentType="image/svg+xml"/>
  <Override PartName="/ppt/media/image131.svg" ContentType="image/svg+xml"/>
  <Override PartName="/ppt/media/image133.svg" ContentType="image/svg+xml"/>
  <Override PartName="/ppt/media/image136.svg" ContentType="image/svg+xml"/>
  <Override PartName="/ppt/media/image138.svg" ContentType="image/svg+xml"/>
  <Override PartName="/ppt/media/image14.svg" ContentType="image/svg+xml"/>
  <Override PartName="/ppt/media/image152.svg" ContentType="image/svg+xml"/>
  <Override PartName="/ppt/media/image154.svg" ContentType="image/svg+xml"/>
  <Override PartName="/ppt/media/image157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3.svg" ContentType="image/svg+xml"/>
  <Override PartName="/ppt/media/image36.svg" ContentType="image/svg+xml"/>
  <Override PartName="/ppt/media/image39.svg" ContentType="image/svg+xml"/>
  <Override PartName="/ppt/media/image4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9.svg" ContentType="image/svg+xml"/>
  <Override PartName="/ppt/media/image51.svg" ContentType="image/svg+xml"/>
  <Override PartName="/ppt/media/image57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70.svg" ContentType="image/svg+xml"/>
  <Override PartName="/ppt/media/image72.svg" ContentType="image/svg+xml"/>
  <Override PartName="/ppt/media/image78.svg" ContentType="image/svg+xml"/>
  <Override PartName="/ppt/media/image8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9.svg" ContentType="image/svg+xml"/>
  <Override PartName="/ppt/media/image91.svg" ContentType="image/svg+xml"/>
  <Override PartName="/ppt/media/image95.svg" ContentType="image/svg+xml"/>
  <Override PartName="/ppt/media/image9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306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6" r:id="rId23"/>
    <p:sldId id="277" r:id="rId24"/>
    <p:sldId id="296" r:id="rId25"/>
    <p:sldId id="301" r:id="rId26"/>
    <p:sldId id="303" r:id="rId27"/>
    <p:sldId id="302" r:id="rId28"/>
    <p:sldId id="304" r:id="rId29"/>
    <p:sldId id="305" r:id="rId30"/>
    <p:sldId id="279" r:id="rId31"/>
    <p:sldId id="281" r:id="rId32"/>
    <p:sldId id="280" r:id="rId33"/>
  </p:sldIdLst>
  <p:sldSz cx="18288000" cy="10287000"/>
  <p:notesSz cx="6858000" cy="9144000"/>
  <p:embeddedFontLst>
    <p:embeddedFont>
      <p:font typeface="Calibri" panose="020F0502020204030204" pitchFamily="34" charset="0"/>
      <p:regular r:id="rId37"/>
    </p:embeddedFont>
    <p:embeddedFont>
      <p:font typeface="Cambria Math" panose="02040503050406030204" pitchFamily="18" charset="0"/>
      <p:regular r:id="rId38"/>
    </p:embeddedFont>
    <p:embeddedFont>
      <p:font typeface="Calibri" panose="020F0502020204030204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5200"/>
    <a:srgbClr val="FFF3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54" d="100"/>
          <a:sy n="54" d="100"/>
        </p:scale>
        <p:origin x="754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font" Target="fonts/font3.fntdata"/><Relationship Id="rId38" Type="http://schemas.openxmlformats.org/officeDocument/2006/relationships/font" Target="fonts/font2.fntdata"/><Relationship Id="rId37" Type="http://schemas.openxmlformats.org/officeDocument/2006/relationships/font" Target="fonts/font1.fntdata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0.svg"/><Relationship Id="rId7" Type="http://schemas.openxmlformats.org/officeDocument/2006/relationships/image" Target="../media/image19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4.svg"/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1.jpe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2.svg"/><Relationship Id="rId6" Type="http://schemas.openxmlformats.org/officeDocument/2006/relationships/image" Target="../media/image37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4.svg"/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9.svg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3.jpeg"/><Relationship Id="rId3" Type="http://schemas.openxmlformats.org/officeDocument/2006/relationships/image" Target="../media/image52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5.jpeg"/><Relationship Id="rId1" Type="http://schemas.openxmlformats.org/officeDocument/2006/relationships/image" Target="../media/image54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3.svg"/><Relationship Id="rId7" Type="http://schemas.openxmlformats.org/officeDocument/2006/relationships/image" Target="../media/image62.png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3" Type="http://schemas.openxmlformats.org/officeDocument/2006/relationships/image" Target="../media/image58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image" Target="../media/image67.jpeg"/><Relationship Id="rId3" Type="http://schemas.openxmlformats.org/officeDocument/2006/relationships/image" Target="../media/image66.png"/><Relationship Id="rId2" Type="http://schemas.openxmlformats.org/officeDocument/2006/relationships/image" Target="../media/image65.svg"/><Relationship Id="rId1" Type="http://schemas.openxmlformats.org/officeDocument/2006/relationships/image" Target="../media/image64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0.svg"/><Relationship Id="rId3" Type="http://schemas.openxmlformats.org/officeDocument/2006/relationships/image" Target="../media/image69.png"/><Relationship Id="rId2" Type="http://schemas.openxmlformats.org/officeDocument/2006/relationships/image" Target="../media/image2.svg"/><Relationship Id="rId1" Type="http://schemas.openxmlformats.org/officeDocument/2006/relationships/image" Target="../media/image68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4.png"/><Relationship Id="rId3" Type="http://schemas.openxmlformats.org/officeDocument/2006/relationships/image" Target="../media/image73.png"/><Relationship Id="rId2" Type="http://schemas.openxmlformats.org/officeDocument/2006/relationships/image" Target="../media/image72.svg"/><Relationship Id="rId1" Type="http://schemas.openxmlformats.org/officeDocument/2006/relationships/image" Target="../media/image7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6.png"/><Relationship Id="rId2" Type="http://schemas.openxmlformats.org/officeDocument/2006/relationships/image" Target="../media/image4.svg"/><Relationship Id="rId1" Type="http://schemas.openxmlformats.org/officeDocument/2006/relationships/image" Target="../media/image75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2.svg"/><Relationship Id="rId7" Type="http://schemas.openxmlformats.org/officeDocument/2006/relationships/image" Target="../media/image81.png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svg"/><Relationship Id="rId3" Type="http://schemas.openxmlformats.org/officeDocument/2006/relationships/image" Target="../media/image77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89.svg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svg"/><Relationship Id="rId3" Type="http://schemas.openxmlformats.org/officeDocument/2006/relationships/image" Target="../media/image85.png"/><Relationship Id="rId2" Type="http://schemas.openxmlformats.org/officeDocument/2006/relationships/image" Target="../media/image84.svg"/><Relationship Id="rId1" Type="http://schemas.openxmlformats.org/officeDocument/2006/relationships/image" Target="../media/image83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97.svg"/><Relationship Id="rId7" Type="http://schemas.openxmlformats.org/officeDocument/2006/relationships/image" Target="../media/image96.png"/><Relationship Id="rId6" Type="http://schemas.openxmlformats.org/officeDocument/2006/relationships/image" Target="../media/image95.svg"/><Relationship Id="rId5" Type="http://schemas.openxmlformats.org/officeDocument/2006/relationships/image" Target="../media/image94.png"/><Relationship Id="rId4" Type="http://schemas.openxmlformats.org/officeDocument/2006/relationships/image" Target="../media/image93.png"/><Relationship Id="rId3" Type="http://schemas.openxmlformats.org/officeDocument/2006/relationships/image" Target="../media/image92.png"/><Relationship Id="rId2" Type="http://schemas.openxmlformats.org/officeDocument/2006/relationships/image" Target="../media/image91.svg"/><Relationship Id="rId1" Type="http://schemas.openxmlformats.org/officeDocument/2006/relationships/image" Target="../media/image9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02.svg"/><Relationship Id="rId6" Type="http://schemas.openxmlformats.org/officeDocument/2006/relationships/image" Target="../media/image101.png"/><Relationship Id="rId5" Type="http://schemas.openxmlformats.org/officeDocument/2006/relationships/image" Target="../media/image39.svg"/><Relationship Id="rId4" Type="http://schemas.openxmlformats.org/officeDocument/2006/relationships/image" Target="../media/image100.png"/><Relationship Id="rId3" Type="http://schemas.openxmlformats.org/officeDocument/2006/relationships/image" Target="../media/image99.png"/><Relationship Id="rId2" Type="http://schemas.openxmlformats.org/officeDocument/2006/relationships/image" Target="../media/image36.svg"/><Relationship Id="rId1" Type="http://schemas.openxmlformats.org/officeDocument/2006/relationships/image" Target="../media/image98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06.svg"/><Relationship Id="rId7" Type="http://schemas.openxmlformats.org/officeDocument/2006/relationships/image" Target="../media/image105.png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4.svg"/><Relationship Id="rId3" Type="http://schemas.openxmlformats.org/officeDocument/2006/relationships/image" Target="../media/image75.png"/><Relationship Id="rId2" Type="http://schemas.openxmlformats.org/officeDocument/2006/relationships/image" Target="../media/image2.svg"/><Relationship Id="rId1" Type="http://schemas.openxmlformats.org/officeDocument/2006/relationships/image" Target="../media/image68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8.svg"/><Relationship Id="rId3" Type="http://schemas.openxmlformats.org/officeDocument/2006/relationships/image" Target="../media/image107.png"/><Relationship Id="rId2" Type="http://schemas.openxmlformats.org/officeDocument/2006/relationships/image" Target="../media/image12.svg"/><Relationship Id="rId1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7.svg"/><Relationship Id="rId8" Type="http://schemas.openxmlformats.org/officeDocument/2006/relationships/image" Target="../media/image116.png"/><Relationship Id="rId7" Type="http://schemas.openxmlformats.org/officeDocument/2006/relationships/image" Target="../media/image115.svg"/><Relationship Id="rId6" Type="http://schemas.openxmlformats.org/officeDocument/2006/relationships/image" Target="../media/image114.png"/><Relationship Id="rId5" Type="http://schemas.openxmlformats.org/officeDocument/2006/relationships/image" Target="../media/image113.svg"/><Relationship Id="rId4" Type="http://schemas.openxmlformats.org/officeDocument/2006/relationships/image" Target="../media/image112.png"/><Relationship Id="rId3" Type="http://schemas.openxmlformats.org/officeDocument/2006/relationships/image" Target="../media/image111.svg"/><Relationship Id="rId26" Type="http://schemas.openxmlformats.org/officeDocument/2006/relationships/slideLayout" Target="../slideLayouts/slideLayout7.xml"/><Relationship Id="rId25" Type="http://schemas.openxmlformats.org/officeDocument/2006/relationships/image" Target="../media/image133.svg"/><Relationship Id="rId24" Type="http://schemas.openxmlformats.org/officeDocument/2006/relationships/image" Target="../media/image132.png"/><Relationship Id="rId23" Type="http://schemas.openxmlformats.org/officeDocument/2006/relationships/image" Target="../media/image131.svg"/><Relationship Id="rId22" Type="http://schemas.openxmlformats.org/officeDocument/2006/relationships/image" Target="../media/image130.png"/><Relationship Id="rId21" Type="http://schemas.openxmlformats.org/officeDocument/2006/relationships/image" Target="../media/image129.svg"/><Relationship Id="rId20" Type="http://schemas.openxmlformats.org/officeDocument/2006/relationships/image" Target="../media/image128.png"/><Relationship Id="rId2" Type="http://schemas.openxmlformats.org/officeDocument/2006/relationships/image" Target="../media/image110.png"/><Relationship Id="rId19" Type="http://schemas.openxmlformats.org/officeDocument/2006/relationships/image" Target="../media/image127.svg"/><Relationship Id="rId18" Type="http://schemas.openxmlformats.org/officeDocument/2006/relationships/image" Target="../media/image126.png"/><Relationship Id="rId17" Type="http://schemas.openxmlformats.org/officeDocument/2006/relationships/image" Target="../media/image125.svg"/><Relationship Id="rId16" Type="http://schemas.openxmlformats.org/officeDocument/2006/relationships/image" Target="../media/image124.png"/><Relationship Id="rId15" Type="http://schemas.openxmlformats.org/officeDocument/2006/relationships/image" Target="../media/image123.svg"/><Relationship Id="rId14" Type="http://schemas.openxmlformats.org/officeDocument/2006/relationships/image" Target="../media/image122.png"/><Relationship Id="rId13" Type="http://schemas.openxmlformats.org/officeDocument/2006/relationships/image" Target="../media/image121.svg"/><Relationship Id="rId12" Type="http://schemas.openxmlformats.org/officeDocument/2006/relationships/image" Target="../media/image120.png"/><Relationship Id="rId11" Type="http://schemas.openxmlformats.org/officeDocument/2006/relationships/image" Target="../media/image119.svg"/><Relationship Id="rId10" Type="http://schemas.openxmlformats.org/officeDocument/2006/relationships/image" Target="../media/image118.png"/><Relationship Id="rId1" Type="http://schemas.openxmlformats.org/officeDocument/2006/relationships/image" Target="../media/image109.png"/></Relationships>
</file>

<file path=ppt/slides/_rels/slide24.xml.rels><?xml version="1.0" encoding="UTF-8" standalone="yes"?>
<Relationships xmlns="http://schemas.openxmlformats.org/package/2006/relationships"><Relationship Id="rId9" Type="http://schemas.microsoft.com/office/2007/relationships/media" Target="../media/media2.mp3"/><Relationship Id="rId8" Type="http://schemas.openxmlformats.org/officeDocument/2006/relationships/audio" Target="../media/media2.mp3"/><Relationship Id="rId7" Type="http://schemas.openxmlformats.org/officeDocument/2006/relationships/image" Target="../media/image138.svg"/><Relationship Id="rId6" Type="http://schemas.openxmlformats.org/officeDocument/2006/relationships/image" Target="../media/image137.png"/><Relationship Id="rId5" Type="http://schemas.openxmlformats.org/officeDocument/2006/relationships/image" Target="../media/image136.svg"/><Relationship Id="rId4" Type="http://schemas.openxmlformats.org/officeDocument/2006/relationships/image" Target="../media/image135.png"/><Relationship Id="rId3" Type="http://schemas.openxmlformats.org/officeDocument/2006/relationships/image" Target="../media/image134.png"/><Relationship Id="rId2" Type="http://schemas.microsoft.com/office/2007/relationships/media" Target="../media/media1.mp3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33.svg"/><Relationship Id="rId10" Type="http://schemas.openxmlformats.org/officeDocument/2006/relationships/image" Target="../media/image132.png"/><Relationship Id="rId1" Type="http://schemas.openxmlformats.org/officeDocument/2006/relationships/audio" Target="../media/media1.mp3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audio" Target="../media/media2.mp3"/><Relationship Id="rId8" Type="http://schemas.openxmlformats.org/officeDocument/2006/relationships/image" Target="../media/image134.png"/><Relationship Id="rId7" Type="http://schemas.microsoft.com/office/2007/relationships/media" Target="../media/media1.mp3"/><Relationship Id="rId6" Type="http://schemas.openxmlformats.org/officeDocument/2006/relationships/audio" Target="../media/media1.mp3"/><Relationship Id="rId5" Type="http://schemas.openxmlformats.org/officeDocument/2006/relationships/image" Target="../media/image138.svg"/><Relationship Id="rId4" Type="http://schemas.openxmlformats.org/officeDocument/2006/relationships/image" Target="../media/image137.png"/><Relationship Id="rId3" Type="http://schemas.openxmlformats.org/officeDocument/2006/relationships/image" Target="../media/image136.svg"/><Relationship Id="rId2" Type="http://schemas.openxmlformats.org/officeDocument/2006/relationships/image" Target="../media/image135.png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33.svg"/><Relationship Id="rId11" Type="http://schemas.openxmlformats.org/officeDocument/2006/relationships/image" Target="../media/image132.png"/><Relationship Id="rId10" Type="http://schemas.microsoft.com/office/2007/relationships/media" Target="../media/media2.mp3"/><Relationship Id="rId1" Type="http://schemas.openxmlformats.org/officeDocument/2006/relationships/image" Target="../media/image139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audio" Target="../media/media1.mp3"/><Relationship Id="rId8" Type="http://schemas.openxmlformats.org/officeDocument/2006/relationships/image" Target="../media/image138.svg"/><Relationship Id="rId7" Type="http://schemas.openxmlformats.org/officeDocument/2006/relationships/image" Target="../media/image137.png"/><Relationship Id="rId6" Type="http://schemas.openxmlformats.org/officeDocument/2006/relationships/image" Target="../media/image136.svg"/><Relationship Id="rId5" Type="http://schemas.openxmlformats.org/officeDocument/2006/relationships/image" Target="../media/image135.png"/><Relationship Id="rId4" Type="http://schemas.openxmlformats.org/officeDocument/2006/relationships/image" Target="../media/image143.png"/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133.svg"/><Relationship Id="rId14" Type="http://schemas.openxmlformats.org/officeDocument/2006/relationships/image" Target="../media/image132.png"/><Relationship Id="rId13" Type="http://schemas.microsoft.com/office/2007/relationships/media" Target="../media/media2.mp3"/><Relationship Id="rId12" Type="http://schemas.openxmlformats.org/officeDocument/2006/relationships/audio" Target="../media/media2.mp3"/><Relationship Id="rId11" Type="http://schemas.openxmlformats.org/officeDocument/2006/relationships/image" Target="../media/image134.png"/><Relationship Id="rId10" Type="http://schemas.microsoft.com/office/2007/relationships/media" Target="../media/media1.mp3"/><Relationship Id="rId1" Type="http://schemas.openxmlformats.org/officeDocument/2006/relationships/image" Target="../media/image140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6.svg"/><Relationship Id="rId8" Type="http://schemas.openxmlformats.org/officeDocument/2006/relationships/image" Target="../media/image135.png"/><Relationship Id="rId7" Type="http://schemas.openxmlformats.org/officeDocument/2006/relationships/image" Target="../media/image134.png"/><Relationship Id="rId6" Type="http://schemas.microsoft.com/office/2007/relationships/media" Target="../media/media1.mp3"/><Relationship Id="rId5" Type="http://schemas.openxmlformats.org/officeDocument/2006/relationships/audio" Target="../media/media1.mp3"/><Relationship Id="rId4" Type="http://schemas.openxmlformats.org/officeDocument/2006/relationships/image" Target="../media/image147.png"/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133.svg"/><Relationship Id="rId14" Type="http://schemas.openxmlformats.org/officeDocument/2006/relationships/image" Target="../media/image132.png"/><Relationship Id="rId13" Type="http://schemas.microsoft.com/office/2007/relationships/media" Target="../media/media2.mp3"/><Relationship Id="rId12" Type="http://schemas.openxmlformats.org/officeDocument/2006/relationships/audio" Target="../media/media2.mp3"/><Relationship Id="rId11" Type="http://schemas.openxmlformats.org/officeDocument/2006/relationships/image" Target="../media/image138.svg"/><Relationship Id="rId10" Type="http://schemas.openxmlformats.org/officeDocument/2006/relationships/image" Target="../media/image137.png"/><Relationship Id="rId1" Type="http://schemas.openxmlformats.org/officeDocument/2006/relationships/image" Target="../media/image144.png"/></Relationships>
</file>

<file path=ppt/slides/_rels/slide28.xml.rels><?xml version="1.0" encoding="UTF-8" standalone="yes"?>
<Relationships xmlns="http://schemas.openxmlformats.org/package/2006/relationships"><Relationship Id="rId9" Type="http://schemas.microsoft.com/office/2007/relationships/media" Target="../media/media2.mp3"/><Relationship Id="rId8" Type="http://schemas.openxmlformats.org/officeDocument/2006/relationships/audio" Target="../media/media2.mp3"/><Relationship Id="rId7" Type="http://schemas.openxmlformats.org/officeDocument/2006/relationships/image" Target="../media/image134.png"/><Relationship Id="rId6" Type="http://schemas.microsoft.com/office/2007/relationships/media" Target="../media/media1.mp3"/><Relationship Id="rId5" Type="http://schemas.openxmlformats.org/officeDocument/2006/relationships/audio" Target="../media/media1.mp3"/><Relationship Id="rId4" Type="http://schemas.openxmlformats.org/officeDocument/2006/relationships/image" Target="../media/image138.svg"/><Relationship Id="rId3" Type="http://schemas.openxmlformats.org/officeDocument/2006/relationships/image" Target="../media/image137.png"/><Relationship Id="rId2" Type="http://schemas.openxmlformats.org/officeDocument/2006/relationships/image" Target="../media/image136.svg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33.svg"/><Relationship Id="rId10" Type="http://schemas.openxmlformats.org/officeDocument/2006/relationships/image" Target="../media/image132.png"/><Relationship Id="rId1" Type="http://schemas.openxmlformats.org/officeDocument/2006/relationships/image" Target="../media/image135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4.svg"/><Relationship Id="rId3" Type="http://schemas.openxmlformats.org/officeDocument/2006/relationships/image" Target="../media/image149.png"/><Relationship Id="rId2" Type="http://schemas.openxmlformats.org/officeDocument/2006/relationships/image" Target="../media/image22.svg"/><Relationship Id="rId1" Type="http://schemas.openxmlformats.org/officeDocument/2006/relationships/image" Target="../media/image148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2.svg"/><Relationship Id="rId7" Type="http://schemas.openxmlformats.org/officeDocument/2006/relationships/image" Target="../media/image155.png"/><Relationship Id="rId6" Type="http://schemas.openxmlformats.org/officeDocument/2006/relationships/image" Target="../media/image154.svg"/><Relationship Id="rId5" Type="http://schemas.openxmlformats.org/officeDocument/2006/relationships/image" Target="../media/image153.png"/><Relationship Id="rId4" Type="http://schemas.openxmlformats.org/officeDocument/2006/relationships/image" Target="../media/image152.svg"/><Relationship Id="rId3" Type="http://schemas.openxmlformats.org/officeDocument/2006/relationships/image" Target="../media/image151.png"/><Relationship Id="rId2" Type="http://schemas.openxmlformats.org/officeDocument/2006/relationships/image" Target="../media/image33.svg"/><Relationship Id="rId1" Type="http://schemas.openxmlformats.org/officeDocument/2006/relationships/image" Target="../media/image150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30.svg"/><Relationship Id="rId7" Type="http://schemas.openxmlformats.org/officeDocument/2006/relationships/image" Target="../media/image160.png"/><Relationship Id="rId6" Type="http://schemas.openxmlformats.org/officeDocument/2006/relationships/image" Target="../media/image28.svg"/><Relationship Id="rId5" Type="http://schemas.openxmlformats.org/officeDocument/2006/relationships/image" Target="../media/image159.png"/><Relationship Id="rId4" Type="http://schemas.openxmlformats.org/officeDocument/2006/relationships/image" Target="../media/image26.svg"/><Relationship Id="rId3" Type="http://schemas.openxmlformats.org/officeDocument/2006/relationships/image" Target="../media/image158.png"/><Relationship Id="rId2" Type="http://schemas.openxmlformats.org/officeDocument/2006/relationships/image" Target="../media/image157.svg"/><Relationship Id="rId1" Type="http://schemas.openxmlformats.org/officeDocument/2006/relationships/image" Target="../media/image1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5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4452" y="721620"/>
            <a:ext cx="16721928" cy="8751636"/>
            <a:chOff x="0" y="0"/>
            <a:chExt cx="5656553" cy="2960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56553" cy="2960430"/>
            </a:xfrm>
            <a:custGeom>
              <a:avLst/>
              <a:gdLst/>
              <a:ahLst/>
              <a:cxnLst/>
              <a:rect l="l" t="t" r="r" b="b"/>
              <a:pathLst>
                <a:path w="5656553" h="2960430">
                  <a:moveTo>
                    <a:pt x="0" y="0"/>
                  </a:moveTo>
                  <a:lnTo>
                    <a:pt x="5656553" y="0"/>
                  </a:lnTo>
                  <a:lnTo>
                    <a:pt x="5656553" y="2960430"/>
                  </a:lnTo>
                  <a:lnTo>
                    <a:pt x="0" y="2960430"/>
                  </a:lnTo>
                  <a:close/>
                </a:path>
              </a:pathLst>
            </a:custGeom>
            <a:solidFill>
              <a:srgbClr val="F6EABE"/>
            </a:solidFill>
          </p:spPr>
        </p:sp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flipH="1">
            <a:off x="13759680" y="5344685"/>
            <a:ext cx="4948913" cy="5264801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-253094" y="5423423"/>
            <a:ext cx="5154181" cy="5107324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 rot="-1977484">
            <a:off x="14515067" y="-427529"/>
            <a:ext cx="4395041" cy="4758411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-550030" y="307080"/>
            <a:ext cx="3972652" cy="4114800"/>
          </a:xfrm>
          <a:prstGeom prst="rect">
            <a:avLst/>
          </a:prstGeom>
        </p:spPr>
      </p:pic>
      <p:sp>
        <p:nvSpPr>
          <p:cNvPr id="9" name="Hộp Văn bản 8"/>
          <p:cNvSpPr txBox="1"/>
          <p:nvPr/>
        </p:nvSpPr>
        <p:spPr>
          <a:xfrm>
            <a:off x="3803541" y="3537996"/>
            <a:ext cx="10803749" cy="3211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704020202020204" pitchFamily="34" charset="0"/>
                <a:cs typeface="Arial" panose="020B0704020202020204" pitchFamily="34" charset="0"/>
              </a:rPr>
              <a:t>CHÀO MỪNG CÁC EM ĐẾN VỚI LỚP HỌC</a:t>
            </a:r>
            <a:endParaRPr lang="en-US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5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4452" y="721620"/>
            <a:ext cx="16721928" cy="8751636"/>
            <a:chOff x="0" y="0"/>
            <a:chExt cx="5656553" cy="2960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56553" cy="2960430"/>
            </a:xfrm>
            <a:custGeom>
              <a:avLst/>
              <a:gdLst/>
              <a:ahLst/>
              <a:cxnLst/>
              <a:rect l="l" t="t" r="r" b="b"/>
              <a:pathLst>
                <a:path w="5656553" h="2960430">
                  <a:moveTo>
                    <a:pt x="0" y="0"/>
                  </a:moveTo>
                  <a:lnTo>
                    <a:pt x="5656553" y="0"/>
                  </a:lnTo>
                  <a:lnTo>
                    <a:pt x="5656553" y="2960430"/>
                  </a:lnTo>
                  <a:lnTo>
                    <a:pt x="0" y="2960430"/>
                  </a:lnTo>
                  <a:close/>
                </a:path>
              </a:pathLst>
            </a:custGeom>
            <a:solidFill>
              <a:srgbClr val="F6EABE"/>
            </a:solid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 rot="935681">
            <a:off x="1026301" y="7580166"/>
            <a:ext cx="1781172" cy="1929740"/>
            <a:chOff x="0" y="0"/>
            <a:chExt cx="1370330" cy="1484630"/>
          </a:xfrm>
        </p:grpSpPr>
        <p:sp>
          <p:nvSpPr>
            <p:cNvPr id="8" name="Freeform 8"/>
            <p:cNvSpPr/>
            <p:nvPr/>
          </p:nvSpPr>
          <p:spPr>
            <a:xfrm>
              <a:off x="-24130" y="-29210"/>
              <a:ext cx="1398270" cy="1512570"/>
            </a:xfrm>
            <a:custGeom>
              <a:avLst/>
              <a:gdLst/>
              <a:ahLst/>
              <a:cxnLst/>
              <a:rect l="l" t="t" r="r" b="b"/>
              <a:pathLst>
                <a:path w="1398270" h="1512570">
                  <a:moveTo>
                    <a:pt x="128270" y="111760"/>
                  </a:moveTo>
                  <a:cubicBezTo>
                    <a:pt x="236220" y="11430"/>
                    <a:pt x="425450" y="0"/>
                    <a:pt x="546100" y="88900"/>
                  </a:cubicBezTo>
                  <a:cubicBezTo>
                    <a:pt x="676910" y="185420"/>
                    <a:pt x="707390" y="358140"/>
                    <a:pt x="727710" y="514350"/>
                  </a:cubicBezTo>
                  <a:cubicBezTo>
                    <a:pt x="782320" y="407670"/>
                    <a:pt x="836930" y="295910"/>
                    <a:pt x="932180" y="217170"/>
                  </a:cubicBezTo>
                  <a:cubicBezTo>
                    <a:pt x="1027430" y="139700"/>
                    <a:pt x="1177290" y="106680"/>
                    <a:pt x="1280160" y="175260"/>
                  </a:cubicBezTo>
                  <a:cubicBezTo>
                    <a:pt x="1377950" y="240030"/>
                    <a:pt x="1398270" y="368300"/>
                    <a:pt x="1393190" y="481330"/>
                  </a:cubicBezTo>
                  <a:cubicBezTo>
                    <a:pt x="1372870" y="922020"/>
                    <a:pt x="1061720" y="1334770"/>
                    <a:pt x="637540" y="1512570"/>
                  </a:cubicBezTo>
                  <a:cubicBezTo>
                    <a:pt x="563880" y="1320800"/>
                    <a:pt x="462280" y="1137920"/>
                    <a:pt x="337820" y="970280"/>
                  </a:cubicBezTo>
                  <a:cubicBezTo>
                    <a:pt x="238760" y="839470"/>
                    <a:pt x="124460" y="715010"/>
                    <a:pt x="62230" y="565150"/>
                  </a:cubicBezTo>
                  <a:cubicBezTo>
                    <a:pt x="0" y="415290"/>
                    <a:pt x="6350" y="224790"/>
                    <a:pt x="128270" y="111760"/>
                  </a:cubicBezTo>
                  <a:close/>
                </a:path>
              </a:pathLst>
            </a:custGeom>
            <a:solidFill>
              <a:srgbClr val="FF0000"/>
            </a:solidFill>
          </p:spPr>
        </p:sp>
      </p:grpSp>
      <p:pic>
        <p:nvPicPr>
          <p:cNvPr id="11" name="Hình ảnh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6189" y="952500"/>
            <a:ext cx="15818453" cy="36576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Hộp Văn bản 13"/>
              <p:cNvSpPr txBox="1"/>
              <p:nvPr/>
            </p:nvSpPr>
            <p:spPr>
              <a:xfrm>
                <a:off x="3757115" y="5097438"/>
                <a:ext cx="10896600" cy="39369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 indent="-45720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Calibri" panose="020F0502020204030204" pitchFamily="34" charset="0"/>
                  <a:buChar char="+"/>
                </a:pPr>
                <a:r>
                  <a:rPr lang="vi-VN" sz="32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Ở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 (giai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1) :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vận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tốc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xe đang tăng lên </a:t>
                </a:r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marR="0" indent="-45720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Calibri" panose="020F0502020204030204" pitchFamily="34" charset="0"/>
                  <a:buChar char="+"/>
                </a:pPr>
                <a:r>
                  <a:rPr lang="vi-VN" sz="32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Ở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b (giai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2):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vận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tốc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xe không thay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marR="0" indent="-45720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  <a:buFont typeface="Calibri" panose="020F0502020204030204" pitchFamily="34" charset="0"/>
                  <a:buChar char="+"/>
                </a:pPr>
                <a:r>
                  <a:rPr lang="vi-VN" sz="32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Ở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 (giai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3):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vận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tốc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xe đang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giảm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xuống</a:t>
                </a:r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r>
                      <a:rPr lang="vi-VN" sz="320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</m:oMath>
                </a14:m>
                <a:r>
                  <a:rPr lang="en-US" sz="32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Vận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tốc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trong 3 giai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giống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nhau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phương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khác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nhau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lớn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Hộp Văn bản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115" y="5097438"/>
                <a:ext cx="10896600" cy="3936975"/>
              </a:xfrm>
              <a:prstGeom prst="rect">
                <a:avLst/>
              </a:prstGeom>
              <a:blipFill rotWithShape="1">
                <a:blip r:embed="rId2"/>
                <a:stretch>
                  <a:fillRect l="-4" t="-7" r="4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-290063" y="7563574"/>
            <a:ext cx="3055387" cy="28941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5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4452" y="721620"/>
            <a:ext cx="16721928" cy="8751636"/>
            <a:chOff x="0" y="0"/>
            <a:chExt cx="5656553" cy="2960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56553" cy="2960430"/>
            </a:xfrm>
            <a:custGeom>
              <a:avLst/>
              <a:gdLst/>
              <a:ahLst/>
              <a:cxnLst/>
              <a:rect l="l" t="t" r="r" b="b"/>
              <a:pathLst>
                <a:path w="5656553" h="2960430">
                  <a:moveTo>
                    <a:pt x="0" y="0"/>
                  </a:moveTo>
                  <a:lnTo>
                    <a:pt x="5656553" y="0"/>
                  </a:lnTo>
                  <a:lnTo>
                    <a:pt x="5656553" y="2960430"/>
                  </a:lnTo>
                  <a:lnTo>
                    <a:pt x="0" y="2960430"/>
                  </a:lnTo>
                  <a:close/>
                </a:path>
              </a:pathLst>
            </a:custGeom>
            <a:solidFill>
              <a:srgbClr val="F6EABE"/>
            </a:solidFill>
          </p:spPr>
        </p:sp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52381" y="6343650"/>
            <a:ext cx="3246467" cy="3924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1319971">
            <a:off x="14820745" y="-555666"/>
            <a:ext cx="4368996" cy="4114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14384084" y="7415856"/>
            <a:ext cx="3903916" cy="411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 rot="-756977" flipH="1">
            <a:off x="522620" y="314194"/>
            <a:ext cx="2305987" cy="2375081"/>
          </a:xfrm>
          <a:prstGeom prst="rect">
            <a:avLst/>
          </a:prstGeom>
        </p:spPr>
      </p:pic>
      <p:sp>
        <p:nvSpPr>
          <p:cNvPr id="10" name="Hộp Văn bản 9"/>
          <p:cNvSpPr txBox="1"/>
          <p:nvPr/>
        </p:nvSpPr>
        <p:spPr>
          <a:xfrm>
            <a:off x="1981199" y="2129766"/>
            <a:ext cx="14448433" cy="593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8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704020202020204" pitchFamily="34" charset="0"/>
                <a:cs typeface="Arial" panose="020B0704020202020204" pitchFamily="34" charset="0"/>
              </a:rPr>
              <a:t>BÀI 8: </a:t>
            </a:r>
            <a:endParaRPr lang="en-US" sz="8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8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704020202020204" pitchFamily="34" charset="0"/>
                <a:cs typeface="Arial" panose="020B0704020202020204" pitchFamily="34" charset="0"/>
              </a:rPr>
              <a:t>CHUYỂN ĐỘNG BIẾN ĐỔI. GIA TỐC</a:t>
            </a:r>
            <a:endParaRPr lang="en-US" sz="8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38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32" tmFilter="0, 0; 0.125,0.2665; 0.25,0.4; 0.375,0.465; 0.5,0.5;  0.625,0.535; 0.75,0.6; 0.875,0.7335; 1,1">
                                          <p:stCondLst>
                                            <p:cond delay="23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16" tmFilter="0, 0; 0.125,0.2665; 0.25,0.4; 0.375,0.465; 0.5,0.5;  0.625,0.535; 0.75,0.6; 0.875,0.7335; 1,1">
                                          <p:stCondLst>
                                            <p:cond delay="463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7" tmFilter="0, 0; 0.125,0.2665; 0.25,0.4; 0.375,0.465; 0.5,0.5;  0.625,0.535; 0.75,0.6; 0.875,0.7335; 1,1">
                                          <p:stCondLst>
                                            <p:cond delay="58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9">
                                          <p:stCondLst>
                                            <p:cond delay="227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58" decel="50000">
                                          <p:stCondLst>
                                            <p:cond delay="237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9">
                                          <p:stCondLst>
                                            <p:cond delay="45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58" decel="50000">
                                          <p:stCondLst>
                                            <p:cond delay="4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9">
                                          <p:stCondLst>
                                            <p:cond delay="575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58" decel="50000">
                                          <p:stCondLst>
                                            <p:cond delay="58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9">
                                          <p:stCondLst>
                                            <p:cond delay="633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58" decel="50000">
                                          <p:stCondLst>
                                            <p:cond delay="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5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4452" y="721620"/>
            <a:ext cx="16721928" cy="8751636"/>
            <a:chOff x="0" y="0"/>
            <a:chExt cx="5656553" cy="2960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56553" cy="2960430"/>
            </a:xfrm>
            <a:custGeom>
              <a:avLst/>
              <a:gdLst/>
              <a:ahLst/>
              <a:cxnLst/>
              <a:rect l="l" t="t" r="r" b="b"/>
              <a:pathLst>
                <a:path w="5656553" h="2960430">
                  <a:moveTo>
                    <a:pt x="0" y="0"/>
                  </a:moveTo>
                  <a:lnTo>
                    <a:pt x="5656553" y="0"/>
                  </a:lnTo>
                  <a:lnTo>
                    <a:pt x="5656553" y="2960430"/>
                  </a:lnTo>
                  <a:lnTo>
                    <a:pt x="0" y="2960430"/>
                  </a:lnTo>
                  <a:close/>
                </a:path>
              </a:pathLst>
            </a:custGeom>
            <a:solidFill>
              <a:srgbClr val="F6EABE"/>
            </a:solidFill>
          </p:spPr>
        </p:sp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-739788">
            <a:off x="15015463" y="8120310"/>
            <a:ext cx="3363129" cy="1828702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-231415" y="6172200"/>
            <a:ext cx="3441469" cy="4114800"/>
          </a:xfrm>
          <a:prstGeom prst="rect">
            <a:avLst/>
          </a:prstGeom>
        </p:spPr>
      </p:pic>
      <p:sp>
        <p:nvSpPr>
          <p:cNvPr id="13" name="Hộp Văn bản 12"/>
          <p:cNvSpPr txBox="1"/>
          <p:nvPr/>
        </p:nvSpPr>
        <p:spPr>
          <a:xfrm>
            <a:off x="4747716" y="1866900"/>
            <a:ext cx="8915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latin typeface="Arial" panose="020B0704020202020204" pitchFamily="34" charset="0"/>
                <a:cs typeface="Arial" panose="020B0704020202020204" pitchFamily="34" charset="0"/>
              </a:rPr>
              <a:t>NỘI DUNG BÀI HỌC</a:t>
            </a:r>
            <a:endParaRPr lang="en-US" sz="7200" b="1" dirty="0"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  <p:sp>
        <p:nvSpPr>
          <p:cNvPr id="14" name="Hình chữ nhật: Góc Tròn 13"/>
          <p:cNvSpPr/>
          <p:nvPr/>
        </p:nvSpPr>
        <p:spPr>
          <a:xfrm>
            <a:off x="2971800" y="4076700"/>
            <a:ext cx="5248146" cy="41910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4000" dirty="0">
                <a:latin typeface="Arial" panose="020B0704020202020204" pitchFamily="34" charset="0"/>
                <a:cs typeface="Arial" panose="020B0704020202020204" pitchFamily="34" charset="0"/>
              </a:rPr>
              <a:t>1. </a:t>
            </a:r>
            <a:r>
              <a:rPr lang="en-US" sz="4000" dirty="0" err="1">
                <a:latin typeface="Arial" panose="020B0704020202020204" pitchFamily="34" charset="0"/>
                <a:cs typeface="Arial" panose="020B0704020202020204" pitchFamily="34" charset="0"/>
              </a:rPr>
              <a:t>Chuyển</a:t>
            </a:r>
            <a:r>
              <a:rPr lang="en-US" sz="4000" dirty="0">
                <a:latin typeface="Arial" panose="020B0704020202020204" pitchFamily="34" charset="0"/>
                <a:cs typeface="Arial" panose="020B0704020202020204" pitchFamily="34" charset="0"/>
              </a:rPr>
              <a:t> </a:t>
            </a:r>
            <a:r>
              <a:rPr lang="en-US" sz="4000" dirty="0" err="1">
                <a:latin typeface="Arial" panose="020B0704020202020204" pitchFamily="34" charset="0"/>
                <a:cs typeface="Arial" panose="020B0704020202020204" pitchFamily="34" charset="0"/>
              </a:rPr>
              <a:t>động</a:t>
            </a:r>
            <a:r>
              <a:rPr lang="en-US" sz="4000" dirty="0">
                <a:latin typeface="Arial" panose="020B0704020202020204" pitchFamily="34" charset="0"/>
                <a:cs typeface="Arial" panose="020B0704020202020204" pitchFamily="34" charset="0"/>
              </a:rPr>
              <a:t> </a:t>
            </a:r>
            <a:r>
              <a:rPr lang="en-US" sz="4000" dirty="0" err="1">
                <a:latin typeface="Arial" panose="020B0704020202020204" pitchFamily="34" charset="0"/>
                <a:cs typeface="Arial" panose="020B0704020202020204" pitchFamily="34" charset="0"/>
              </a:rPr>
              <a:t>biến</a:t>
            </a:r>
            <a:r>
              <a:rPr lang="en-US" sz="4000" dirty="0">
                <a:latin typeface="Arial" panose="020B0704020202020204" pitchFamily="34" charset="0"/>
                <a:cs typeface="Arial" panose="020B0704020202020204" pitchFamily="34" charset="0"/>
              </a:rPr>
              <a:t> </a:t>
            </a:r>
            <a:r>
              <a:rPr lang="en-US" sz="4000" dirty="0" err="1">
                <a:latin typeface="Arial" panose="020B0704020202020204" pitchFamily="34" charset="0"/>
                <a:cs typeface="Arial" panose="020B0704020202020204" pitchFamily="34" charset="0"/>
              </a:rPr>
              <a:t>đổi</a:t>
            </a:r>
            <a:endParaRPr lang="en-US" sz="4000" dirty="0"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  <p:sp>
        <p:nvSpPr>
          <p:cNvPr id="15" name="Hình chữ nhật: Góc Tròn 14"/>
          <p:cNvSpPr/>
          <p:nvPr/>
        </p:nvSpPr>
        <p:spPr>
          <a:xfrm>
            <a:off x="10347294" y="4024312"/>
            <a:ext cx="5426106" cy="41910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4000" dirty="0">
                <a:latin typeface="Arial" panose="020B0704020202020204" pitchFamily="34" charset="0"/>
                <a:cs typeface="Arial" panose="020B0704020202020204" pitchFamily="34" charset="0"/>
              </a:rPr>
              <a:t>2. Gia </a:t>
            </a:r>
            <a:r>
              <a:rPr lang="en-US" sz="4000" dirty="0" err="1">
                <a:latin typeface="Arial" panose="020B0704020202020204" pitchFamily="34" charset="0"/>
                <a:cs typeface="Arial" panose="020B0704020202020204" pitchFamily="34" charset="0"/>
              </a:rPr>
              <a:t>tốc</a:t>
            </a:r>
            <a:r>
              <a:rPr lang="en-US" sz="4000" dirty="0">
                <a:latin typeface="Arial" panose="020B0704020202020204" pitchFamily="34" charset="0"/>
                <a:cs typeface="Arial" panose="020B0704020202020204" pitchFamily="34" charset="0"/>
              </a:rPr>
              <a:t> </a:t>
            </a:r>
            <a:r>
              <a:rPr lang="en-US" sz="4000" dirty="0" err="1">
                <a:latin typeface="Arial" panose="020B0704020202020204" pitchFamily="34" charset="0"/>
                <a:cs typeface="Arial" panose="020B0704020202020204" pitchFamily="34" charset="0"/>
              </a:rPr>
              <a:t>của</a:t>
            </a:r>
            <a:r>
              <a:rPr lang="en-US" sz="4000" dirty="0">
                <a:latin typeface="Arial" panose="020B0704020202020204" pitchFamily="34" charset="0"/>
                <a:cs typeface="Arial" panose="020B0704020202020204" pitchFamily="34" charset="0"/>
              </a:rPr>
              <a:t> </a:t>
            </a:r>
            <a:r>
              <a:rPr lang="en-US" sz="4000" dirty="0" err="1">
                <a:latin typeface="Arial" panose="020B0704020202020204" pitchFamily="34" charset="0"/>
                <a:cs typeface="Arial" panose="020B0704020202020204" pitchFamily="34" charset="0"/>
              </a:rPr>
              <a:t>chuyển</a:t>
            </a:r>
            <a:r>
              <a:rPr lang="en-US" sz="4000" dirty="0">
                <a:latin typeface="Arial" panose="020B0704020202020204" pitchFamily="34" charset="0"/>
                <a:cs typeface="Arial" panose="020B0704020202020204" pitchFamily="34" charset="0"/>
              </a:rPr>
              <a:t> </a:t>
            </a:r>
            <a:r>
              <a:rPr lang="en-US" sz="4000" dirty="0" err="1">
                <a:latin typeface="Arial" panose="020B0704020202020204" pitchFamily="34" charset="0"/>
                <a:cs typeface="Arial" panose="020B0704020202020204" pitchFamily="34" charset="0"/>
              </a:rPr>
              <a:t>động</a:t>
            </a:r>
            <a:r>
              <a:rPr lang="en-US" sz="4000" dirty="0">
                <a:latin typeface="Arial" panose="020B0704020202020204" pitchFamily="34" charset="0"/>
                <a:cs typeface="Arial" panose="020B0704020202020204" pitchFamily="34" charset="0"/>
              </a:rPr>
              <a:t> </a:t>
            </a:r>
            <a:r>
              <a:rPr lang="en-US" sz="4000" dirty="0" err="1">
                <a:latin typeface="Arial" panose="020B0704020202020204" pitchFamily="34" charset="0"/>
                <a:cs typeface="Arial" panose="020B0704020202020204" pitchFamily="34" charset="0"/>
              </a:rPr>
              <a:t>biến</a:t>
            </a:r>
            <a:r>
              <a:rPr lang="en-US" sz="4000" dirty="0">
                <a:latin typeface="Arial" panose="020B0704020202020204" pitchFamily="34" charset="0"/>
                <a:cs typeface="Arial" panose="020B0704020202020204" pitchFamily="34" charset="0"/>
              </a:rPr>
              <a:t> </a:t>
            </a:r>
            <a:r>
              <a:rPr lang="en-US" sz="4000" dirty="0" err="1">
                <a:latin typeface="Arial" panose="020B0704020202020204" pitchFamily="34" charset="0"/>
                <a:cs typeface="Arial" panose="020B0704020202020204" pitchFamily="34" charset="0"/>
              </a:rPr>
              <a:t>đổi</a:t>
            </a:r>
            <a:endParaRPr lang="en-US" sz="4000" dirty="0"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5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4452" y="721620"/>
            <a:ext cx="16721928" cy="8751636"/>
            <a:chOff x="0" y="0"/>
            <a:chExt cx="5656553" cy="2960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56553" cy="2960430"/>
            </a:xfrm>
            <a:custGeom>
              <a:avLst/>
              <a:gdLst/>
              <a:ahLst/>
              <a:cxnLst/>
              <a:rect l="l" t="t" r="r" b="b"/>
              <a:pathLst>
                <a:path w="5656553" h="2960430">
                  <a:moveTo>
                    <a:pt x="0" y="0"/>
                  </a:moveTo>
                  <a:lnTo>
                    <a:pt x="5656553" y="0"/>
                  </a:lnTo>
                  <a:lnTo>
                    <a:pt x="5656553" y="2960430"/>
                  </a:lnTo>
                  <a:lnTo>
                    <a:pt x="0" y="2960430"/>
                  </a:lnTo>
                  <a:close/>
                </a:path>
              </a:pathLst>
            </a:custGeom>
            <a:solidFill>
              <a:srgbClr val="F6EABE"/>
            </a:solidFill>
          </p:spPr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-9525" y="7430621"/>
            <a:ext cx="2319710" cy="2511951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6687800" y="4686300"/>
            <a:ext cx="2000149" cy="4000297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15849600" y="7886814"/>
            <a:ext cx="2553493" cy="2330643"/>
          </a:xfrm>
          <a:prstGeom prst="rect">
            <a:avLst/>
          </a:prstGeom>
        </p:spPr>
      </p:pic>
      <p:sp>
        <p:nvSpPr>
          <p:cNvPr id="12" name="Hộp Văn bản 11"/>
          <p:cNvSpPr txBox="1"/>
          <p:nvPr/>
        </p:nvSpPr>
        <p:spPr>
          <a:xfrm>
            <a:off x="3414216" y="1257300"/>
            <a:ext cx="6235303" cy="833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vi-VN" sz="36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I. CHUYỂN ĐỘNG BIẾN ĐỔI</a:t>
            </a:r>
            <a:endParaRPr lang="en-US" sz="3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Hộp Văn bản 13"/>
          <p:cNvSpPr txBox="1"/>
          <p:nvPr/>
        </p:nvSpPr>
        <p:spPr>
          <a:xfrm>
            <a:off x="3414216" y="2243725"/>
            <a:ext cx="11582400" cy="2382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Chuyển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nhanh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dần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chuyển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vận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tăng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dần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3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Chuyển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chậm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dần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chuyển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vận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giảm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dần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3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Chuyển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biến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đổi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chuyển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vận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thay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đổi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3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Hộp Văn bản 16"/>
          <p:cNvSpPr txBox="1"/>
          <p:nvPr/>
        </p:nvSpPr>
        <p:spPr>
          <a:xfrm>
            <a:off x="3414216" y="5385067"/>
            <a:ext cx="6217692" cy="296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vi-VN" sz="32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VD1: 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Khi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đạp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xe trên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núi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lúc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đoạn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lên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dốc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xe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sẽ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chuyển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chậm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dần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còn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khi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xuống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dốc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xe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sẽ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chuyển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nhanh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dần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3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99+ Hình Ảnh Bốc Đầu Xe Đạp Chất, Ngầu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1976" y="4963806"/>
            <a:ext cx="5584938" cy="3809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5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4452" y="721620"/>
            <a:ext cx="16721928" cy="8751636"/>
            <a:chOff x="0" y="0"/>
            <a:chExt cx="5656553" cy="2960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56553" cy="2960430"/>
            </a:xfrm>
            <a:custGeom>
              <a:avLst/>
              <a:gdLst/>
              <a:ahLst/>
              <a:cxnLst/>
              <a:rect l="l" t="t" r="r" b="b"/>
              <a:pathLst>
                <a:path w="5656553" h="2960430">
                  <a:moveTo>
                    <a:pt x="0" y="0"/>
                  </a:moveTo>
                  <a:lnTo>
                    <a:pt x="5656553" y="0"/>
                  </a:lnTo>
                  <a:lnTo>
                    <a:pt x="5656553" y="2960430"/>
                  </a:lnTo>
                  <a:lnTo>
                    <a:pt x="0" y="2960430"/>
                  </a:lnTo>
                  <a:close/>
                </a:path>
              </a:pathLst>
            </a:custGeom>
            <a:solidFill>
              <a:srgbClr val="F6EABE"/>
            </a:solidFill>
          </p:spPr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418868" y="423109"/>
            <a:ext cx="2514600" cy="2542889"/>
          </a:xfrm>
          <a:prstGeom prst="rect">
            <a:avLst/>
          </a:prstGeom>
        </p:spPr>
      </p:pic>
      <p:sp>
        <p:nvSpPr>
          <p:cNvPr id="13" name="Hộp Văn bản 12"/>
          <p:cNvSpPr txBox="1"/>
          <p:nvPr/>
        </p:nvSpPr>
        <p:spPr>
          <a:xfrm>
            <a:off x="3254827" y="918933"/>
            <a:ext cx="11778344" cy="2228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vi-VN" sz="32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VD2: 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Khi đi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máy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bay,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máy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bay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sẽ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chuyển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nhanh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dần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trên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đường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băng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dài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khoảng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100m, sau khi lên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cao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nhất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thì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máy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bay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giảm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vận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chuyển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chậm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dần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3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2" name="Picture 4" descr="Tại sao lúc máy bay cất và hạ cánh lại nguy hiểm nhất?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33" y="3822236"/>
            <a:ext cx="9397933" cy="4933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255950" y="7316239"/>
            <a:ext cx="1677518" cy="2020237"/>
          </a:xfrm>
          <a:prstGeom prst="rect">
            <a:avLst/>
          </a:prstGeom>
        </p:spPr>
      </p:pic>
      <p:pic>
        <p:nvPicPr>
          <p:cNvPr id="5" name="Picture 2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15188579" y="7453019"/>
            <a:ext cx="2132770" cy="20202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5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4452" y="721620"/>
            <a:ext cx="16721928" cy="8751636"/>
            <a:chOff x="0" y="0"/>
            <a:chExt cx="5656553" cy="2960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56553" cy="2960430"/>
            </a:xfrm>
            <a:custGeom>
              <a:avLst/>
              <a:gdLst/>
              <a:ahLst/>
              <a:cxnLst/>
              <a:rect l="l" t="t" r="r" b="b"/>
              <a:pathLst>
                <a:path w="5656553" h="2960430">
                  <a:moveTo>
                    <a:pt x="0" y="0"/>
                  </a:moveTo>
                  <a:lnTo>
                    <a:pt x="5656553" y="0"/>
                  </a:lnTo>
                  <a:lnTo>
                    <a:pt x="5656553" y="2960430"/>
                  </a:lnTo>
                  <a:lnTo>
                    <a:pt x="0" y="2960430"/>
                  </a:lnTo>
                  <a:close/>
                </a:path>
              </a:pathLst>
            </a:custGeom>
            <a:solidFill>
              <a:srgbClr val="F6EABE"/>
            </a:solidFill>
          </p:spPr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16475077" y="7654471"/>
            <a:ext cx="2182606" cy="2632529"/>
          </a:xfrm>
          <a:prstGeom prst="rect">
            <a:avLst/>
          </a:prstGeom>
        </p:spPr>
      </p:pic>
      <p:sp>
        <p:nvSpPr>
          <p:cNvPr id="14" name="Hộp Văn bản 13"/>
          <p:cNvSpPr txBox="1"/>
          <p:nvPr/>
        </p:nvSpPr>
        <p:spPr>
          <a:xfrm>
            <a:off x="2156916" y="1203168"/>
            <a:ext cx="9582837" cy="833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vi-VN" sz="36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II. GIA TỐC CỦA CHUYỂN ĐỘNG BIẾN ĐỔI</a:t>
            </a:r>
            <a:endParaRPr lang="en-US" sz="3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Hộp Văn bản 19"/>
          <p:cNvSpPr txBox="1"/>
          <p:nvPr/>
        </p:nvSpPr>
        <p:spPr>
          <a:xfrm>
            <a:off x="2156917" y="2518599"/>
            <a:ext cx="14097000" cy="1490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Bảng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dưới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đây ghi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vận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tức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thời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ô tô sau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khoảng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thời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gian 2s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kể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khi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bắt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chạy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trên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đường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thẳng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3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Bảng 21"/>
              <p:cNvGraphicFramePr>
                <a:graphicFrameLocks noGrp="1"/>
              </p:cNvGraphicFramePr>
              <p:nvPr/>
            </p:nvGraphicFramePr>
            <p:xfrm>
              <a:off x="2230170" y="4587112"/>
              <a:ext cx="14023747" cy="3890518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5008830"/>
                    <a:gridCol w="2514600"/>
                    <a:gridCol w="1295400"/>
                    <a:gridCol w="1295400"/>
                    <a:gridCol w="1295400"/>
                    <a:gridCol w="1295400"/>
                    <a:gridCol w="1318717"/>
                  </a:tblGrid>
                  <a:tr h="1085099"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 dirty="0" err="1">
                              <a:effectLst/>
                            </a:rPr>
                            <a:t>Thời</a:t>
                          </a:r>
                          <a:r>
                            <a:rPr lang="vi-VN" sz="3200" dirty="0">
                              <a:effectLst/>
                            </a:rPr>
                            <a:t> </a:t>
                          </a:r>
                          <a:r>
                            <a:rPr lang="vi-VN" sz="3200" dirty="0" err="1">
                              <a:effectLst/>
                            </a:rPr>
                            <a:t>điểm</a:t>
                          </a:r>
                          <a:r>
                            <a:rPr lang="vi-VN" sz="3200" dirty="0">
                              <a:effectLst/>
                            </a:rPr>
                            <a:t> t (s)</a:t>
                          </a:r>
                          <a:endParaRPr lang="en-US" sz="3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>
                              <a:effectLst/>
                            </a:rPr>
                            <a:t>0</a:t>
                          </a:r>
                          <a:endParaRPr lang="en-US" sz="3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>
                              <a:effectLst/>
                            </a:rPr>
                            <a:t>2</a:t>
                          </a:r>
                          <a:endParaRPr lang="en-US" sz="3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>
                              <a:effectLst/>
                            </a:rPr>
                            <a:t>4</a:t>
                          </a:r>
                          <a:endParaRPr lang="en-US" sz="3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>
                              <a:effectLst/>
                            </a:rPr>
                            <a:t>6</a:t>
                          </a:r>
                          <a:endParaRPr lang="en-US" sz="3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 dirty="0">
                              <a:effectLst/>
                            </a:rPr>
                            <a:t>8</a:t>
                          </a:r>
                          <a:endParaRPr lang="en-US" sz="3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1085099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>
                              <a:effectLst/>
                            </a:rPr>
                            <a:t>Vận tốc tức thời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3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sz="3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vi-VN" sz="3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endParaRPr lang="en-US" sz="3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>
                              <a:effectLst/>
                            </a:rPr>
                            <a:t>(km/h)</a:t>
                          </a:r>
                          <a:endParaRPr lang="en-US" sz="3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>
                              <a:effectLst/>
                            </a:rPr>
                            <a:t>0</a:t>
                          </a:r>
                          <a:endParaRPr lang="en-US" sz="3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>
                              <a:effectLst/>
                            </a:rPr>
                            <a:t>9</a:t>
                          </a:r>
                          <a:endParaRPr lang="en-US" sz="3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>
                              <a:effectLst/>
                            </a:rPr>
                            <a:t>19</a:t>
                          </a:r>
                          <a:endParaRPr lang="en-US" sz="3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>
                              <a:effectLst/>
                            </a:rPr>
                            <a:t>30</a:t>
                          </a:r>
                          <a:endParaRPr lang="en-US" sz="3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>
                              <a:effectLst/>
                            </a:rPr>
                            <a:t>45</a:t>
                          </a:r>
                          <a:endParaRPr lang="en-US" sz="3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1720320">
                    <a:tc vMerge="1"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 dirty="0">
                              <a:effectLst/>
                            </a:rPr>
                            <a:t>(m/s)</a:t>
                          </a:r>
                          <a:endParaRPr lang="en-US" sz="3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>
                              <a:effectLst/>
                            </a:rPr>
                            <a:t>0</a:t>
                          </a:r>
                          <a:endParaRPr lang="en-US" sz="3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>
                              <a:effectLst/>
                            </a:rPr>
                            <a:t>2,50</a:t>
                          </a:r>
                          <a:endParaRPr lang="en-US" sz="3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>
                              <a:effectLst/>
                            </a:rPr>
                            <a:t>5,28</a:t>
                          </a:r>
                          <a:endParaRPr lang="en-US" sz="3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>
                              <a:effectLst/>
                            </a:rPr>
                            <a:t>8,33</a:t>
                          </a:r>
                          <a:endParaRPr lang="en-US" sz="3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 dirty="0">
                              <a:effectLst/>
                            </a:rPr>
                            <a:t>12,5</a:t>
                          </a:r>
                          <a:endParaRPr lang="en-US" sz="3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Bảng 21"/>
              <p:cNvGraphicFramePr>
                <a:graphicFrameLocks noGrp="1"/>
              </p:cNvGraphicFramePr>
              <p:nvPr/>
            </p:nvGraphicFramePr>
            <p:xfrm>
              <a:off x="2230170" y="4587112"/>
              <a:ext cx="14023747" cy="3890518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5008830"/>
                    <a:gridCol w="2514600"/>
                    <a:gridCol w="1295400"/>
                    <a:gridCol w="1295400"/>
                    <a:gridCol w="1295400"/>
                    <a:gridCol w="1295400"/>
                    <a:gridCol w="1318717"/>
                  </a:tblGrid>
                  <a:tr h="1085099"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 dirty="0" err="1">
                              <a:effectLst/>
                            </a:rPr>
                            <a:t>Thời</a:t>
                          </a:r>
                          <a:r>
                            <a:rPr lang="vi-VN" sz="3200" dirty="0">
                              <a:effectLst/>
                            </a:rPr>
                            <a:t> </a:t>
                          </a:r>
                          <a:r>
                            <a:rPr lang="vi-VN" sz="3200" dirty="0" err="1">
                              <a:effectLst/>
                            </a:rPr>
                            <a:t>điểm</a:t>
                          </a:r>
                          <a:r>
                            <a:rPr lang="vi-VN" sz="3200" dirty="0">
                              <a:effectLst/>
                            </a:rPr>
                            <a:t> t (s)</a:t>
                          </a:r>
                          <a:endParaRPr lang="en-US" sz="3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>
                              <a:effectLst/>
                            </a:rPr>
                            <a:t>0</a:t>
                          </a:r>
                          <a:endParaRPr lang="en-US" sz="3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>
                              <a:effectLst/>
                            </a:rPr>
                            <a:t>2</a:t>
                          </a:r>
                          <a:endParaRPr lang="en-US" sz="3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>
                              <a:effectLst/>
                            </a:rPr>
                            <a:t>4</a:t>
                          </a:r>
                          <a:endParaRPr lang="en-US" sz="3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>
                              <a:effectLst/>
                            </a:rPr>
                            <a:t>6</a:t>
                          </a:r>
                          <a:endParaRPr lang="en-US" sz="3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 dirty="0">
                              <a:effectLst/>
                            </a:rPr>
                            <a:t>8</a:t>
                          </a:r>
                          <a:endParaRPr lang="en-US" sz="3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1085215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>
                              <a:effectLst/>
                            </a:rPr>
                            <a:t>(km/h)</a:t>
                          </a:r>
                          <a:endParaRPr lang="en-US" sz="3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>
                              <a:effectLst/>
                            </a:rPr>
                            <a:t>0</a:t>
                          </a:r>
                          <a:endParaRPr lang="en-US" sz="3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>
                              <a:effectLst/>
                            </a:rPr>
                            <a:t>9</a:t>
                          </a:r>
                          <a:endParaRPr lang="en-US" sz="3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>
                              <a:effectLst/>
                            </a:rPr>
                            <a:t>19</a:t>
                          </a:r>
                          <a:endParaRPr lang="en-US" sz="3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>
                              <a:effectLst/>
                            </a:rPr>
                            <a:t>30</a:t>
                          </a:r>
                          <a:endParaRPr lang="en-US" sz="3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>
                              <a:effectLst/>
                            </a:rPr>
                            <a:t>45</a:t>
                          </a:r>
                          <a:endParaRPr lang="en-US" sz="3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1720320">
                    <a:tc vMerge="1"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 dirty="0">
                              <a:effectLst/>
                            </a:rPr>
                            <a:t>(m/s)</a:t>
                          </a:r>
                          <a:endParaRPr lang="en-US" sz="3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>
                              <a:effectLst/>
                            </a:rPr>
                            <a:t>0</a:t>
                          </a:r>
                          <a:endParaRPr lang="en-US" sz="3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>
                              <a:effectLst/>
                            </a:rPr>
                            <a:t>2,50</a:t>
                          </a:r>
                          <a:endParaRPr lang="en-US" sz="3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>
                              <a:effectLst/>
                            </a:rPr>
                            <a:t>5,28</a:t>
                          </a:r>
                          <a:endParaRPr lang="en-US" sz="3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>
                              <a:effectLst/>
                            </a:rPr>
                            <a:t>8,33</a:t>
                          </a:r>
                          <a:endParaRPr lang="en-US" sz="3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vi-VN" sz="3200" dirty="0">
                              <a:effectLst/>
                            </a:rPr>
                            <a:t>12,5</a:t>
                          </a:r>
                          <a:endParaRPr lang="en-US" sz="3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5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4452" y="721620"/>
            <a:ext cx="16721928" cy="8751636"/>
            <a:chOff x="0" y="0"/>
            <a:chExt cx="5656553" cy="2960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56553" cy="2960430"/>
            </a:xfrm>
            <a:custGeom>
              <a:avLst/>
              <a:gdLst/>
              <a:ahLst/>
              <a:cxnLst/>
              <a:rect l="l" t="t" r="r" b="b"/>
              <a:pathLst>
                <a:path w="5656553" h="2960430">
                  <a:moveTo>
                    <a:pt x="0" y="0"/>
                  </a:moveTo>
                  <a:lnTo>
                    <a:pt x="5656553" y="0"/>
                  </a:lnTo>
                  <a:lnTo>
                    <a:pt x="5656553" y="2960430"/>
                  </a:lnTo>
                  <a:lnTo>
                    <a:pt x="0" y="2960430"/>
                  </a:lnTo>
                  <a:close/>
                </a:path>
              </a:pathLst>
            </a:custGeom>
            <a:solidFill>
              <a:srgbClr val="F6EABE"/>
            </a:solidFill>
          </p:spPr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-938591" y="6748409"/>
            <a:ext cx="2919791" cy="3616858"/>
          </a:xfrm>
          <a:prstGeom prst="rect">
            <a:avLst/>
          </a:prstGeom>
        </p:spPr>
      </p:pic>
      <p:sp>
        <p:nvSpPr>
          <p:cNvPr id="13" name="Hộp Văn bản 12"/>
          <p:cNvSpPr txBox="1"/>
          <p:nvPr/>
        </p:nvSpPr>
        <p:spPr>
          <a:xfrm>
            <a:off x="2895600" y="1372578"/>
            <a:ext cx="12496800" cy="5375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Bảng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trên cho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thấy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vận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ô tô tăng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dần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theo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thời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gian: ô tô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chuyển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nhanh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dần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theo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thời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gian</a:t>
            </a:r>
            <a:endParaRPr lang="en-US" sz="3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Xác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biến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thiên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vận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sau 8s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chuyển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trên.</a:t>
            </a:r>
            <a:endParaRPr lang="en-US" sz="3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Xác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biến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thiên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vận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sau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mỗi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giây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chuyển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trên trong 4s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4s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cuối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3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3.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Các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đại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lượng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xác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định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ở câu 2 cho ta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biết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điều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gì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về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sự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thay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đổi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vận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tốc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của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chuyển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động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trên.</a:t>
            </a:r>
            <a:endParaRPr lang="en-US" sz="32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9010650" y="6617248"/>
            <a:ext cx="6362700" cy="27995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5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4452" y="721620"/>
            <a:ext cx="16721928" cy="8751636"/>
            <a:chOff x="0" y="0"/>
            <a:chExt cx="5656553" cy="2960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56553" cy="2960430"/>
            </a:xfrm>
            <a:custGeom>
              <a:avLst/>
              <a:gdLst/>
              <a:ahLst/>
              <a:cxnLst/>
              <a:rect l="l" t="t" r="r" b="b"/>
              <a:pathLst>
                <a:path w="5656553" h="2960430">
                  <a:moveTo>
                    <a:pt x="0" y="0"/>
                  </a:moveTo>
                  <a:lnTo>
                    <a:pt x="5656553" y="0"/>
                  </a:lnTo>
                  <a:lnTo>
                    <a:pt x="5656553" y="2960430"/>
                  </a:lnTo>
                  <a:lnTo>
                    <a:pt x="0" y="2960430"/>
                  </a:lnTo>
                  <a:close/>
                </a:path>
              </a:pathLst>
            </a:custGeom>
            <a:solidFill>
              <a:srgbClr val="F6EABE"/>
            </a:solidFill>
          </p:spPr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16611599" y="7041234"/>
            <a:ext cx="3017651" cy="3394085"/>
          </a:xfrm>
          <a:prstGeom prst="rect">
            <a:avLst/>
          </a:prstGeom>
        </p:spPr>
      </p:pic>
      <p:sp>
        <p:nvSpPr>
          <p:cNvPr id="12" name="Hộp Văn bản 11"/>
          <p:cNvSpPr txBox="1"/>
          <p:nvPr/>
        </p:nvSpPr>
        <p:spPr>
          <a:xfrm>
            <a:off x="8672016" y="932865"/>
            <a:ext cx="10668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dirty="0" err="1">
                <a:solidFill>
                  <a:srgbClr val="FF0000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Giải</a:t>
            </a:r>
            <a:endParaRPr lang="en-US" sz="3400" b="1" dirty="0">
              <a:solidFill>
                <a:srgbClr val="FF0000"/>
              </a:solidFill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Hộp Văn bản 14"/>
              <p:cNvSpPr txBox="1"/>
              <p:nvPr/>
            </p:nvSpPr>
            <p:spPr>
              <a:xfrm>
                <a:off x="1752600" y="1759663"/>
                <a:ext cx="14782800" cy="77505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0480" marR="3048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1.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Độ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biến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thiên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vận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tốc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sau 8s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của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chuyển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động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trên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là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0480" marR="3048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∆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8</m:t>
                          </m:r>
                        </m:sub>
                      </m:sSub>
                      <m:r>
                        <a:rPr lang="vi-VN" sz="32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12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5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 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12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5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/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</m:t>
                      </m:r>
                    </m:oMath>
                  </m:oMathPara>
                </a14:m>
                <a:endParaRPr lang="en-US" sz="3200" i="1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0480" marR="3048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vi-VN" sz="32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2.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Độ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biến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thiên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của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vận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tốc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sau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mỗi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giây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của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chuyển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động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trên trong 4 s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đầu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là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:</a:t>
                </a:r>
                <a:endParaRPr lang="en-US" sz="3200" dirty="0">
                  <a:effectLst/>
                  <a:ea typeface="Times New Roman" panose="02020603050405020304" pitchFamily="18" charset="0"/>
                </a:endParaRPr>
              </a:p>
              <a:p>
                <a:pPr marL="30480" marR="3048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den>
                      </m:f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32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vi-VN" sz="32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32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vi-VN" sz="32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5</m:t>
                          </m:r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28</m:t>
                          </m:r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(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/</m:t>
                      </m:r>
                      <m:sSup>
                        <m:sSupPr>
                          <m:ctrlPr>
                            <a:rPr lang="en-US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3200" i="1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0480" marR="3048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Độ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biến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thiên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của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vận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tốc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sau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mỗi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giây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của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chuyển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động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trên trong 4 s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cuối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là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0480" marR="3048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den>
                      </m:f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32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vi-VN" sz="32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8</m:t>
                              </m:r>
                            </m:sub>
                          </m:sSub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32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vi-VN" sz="32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12</m:t>
                          </m:r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5</m:t>
                          </m:r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 </m:t>
                          </m:r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5</m:t>
                          </m:r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28</m:t>
                          </m:r>
                        </m:num>
                        <m:den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805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(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/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3200" i="1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3.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Các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đại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lượng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xác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định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được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ở câu 2 cho ta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biết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sự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thay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đổi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nhanh hay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chậm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của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vận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tốc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Hộp Văn bản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1759663"/>
                <a:ext cx="14782800" cy="7750583"/>
              </a:xfrm>
              <a:prstGeom prst="rect">
                <a:avLst/>
              </a:prstGeom>
              <a:blipFill rotWithShape="1">
                <a:blip r:embed="rId3"/>
                <a:stretch>
                  <a:fillRect t="-1" b="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flipH="1">
            <a:off x="12877800" y="1240641"/>
            <a:ext cx="4370845" cy="2005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5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4452" y="721620"/>
            <a:ext cx="16721928" cy="8751636"/>
            <a:chOff x="0" y="0"/>
            <a:chExt cx="5656553" cy="2960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56553" cy="2960430"/>
            </a:xfrm>
            <a:custGeom>
              <a:avLst/>
              <a:gdLst/>
              <a:ahLst/>
              <a:cxnLst/>
              <a:rect l="l" t="t" r="r" b="b"/>
              <a:pathLst>
                <a:path w="5656553" h="2960430">
                  <a:moveTo>
                    <a:pt x="0" y="0"/>
                  </a:moveTo>
                  <a:lnTo>
                    <a:pt x="5656553" y="0"/>
                  </a:lnTo>
                  <a:lnTo>
                    <a:pt x="5656553" y="2960430"/>
                  </a:lnTo>
                  <a:lnTo>
                    <a:pt x="0" y="2960430"/>
                  </a:lnTo>
                  <a:close/>
                </a:path>
              </a:pathLst>
            </a:custGeom>
            <a:solidFill>
              <a:srgbClr val="F6EABE"/>
            </a:solidFill>
          </p:spPr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-683177" y="7231743"/>
            <a:ext cx="3055257" cy="305525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Hộp Văn bản 13"/>
              <p:cNvSpPr txBox="1"/>
              <p:nvPr/>
            </p:nvSpPr>
            <p:spPr>
              <a:xfrm>
                <a:off x="2043112" y="2371759"/>
                <a:ext cx="13829519" cy="22288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 indent="-457200" algn="just">
                  <a:lnSpc>
                    <a:spcPct val="150000"/>
                  </a:lnSpc>
                  <a:buFontTx/>
                  <a:buChar char="+"/>
                </a:pP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Đại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lượng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cho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biết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độ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biến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thiên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vận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tốc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trong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một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đơn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vị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thời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gian hay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nói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cách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khác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là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đại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lượng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cho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biết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sự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thay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đổi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nhanh hay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chậm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của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tốc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độ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được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gọi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là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gia </a:t>
                </a:r>
                <a:r>
                  <a:rPr lang="vi-VN" sz="3200" b="1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tốc</a:t>
                </a:r>
                <a:r>
                  <a:rPr lang="vi-VN" sz="3200" b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của</a:t>
                </a:r>
                <a:r>
                  <a:rPr lang="vi-VN" sz="3200" b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chuyển</a:t>
                </a:r>
                <a:r>
                  <a:rPr lang="vi-VN" sz="3200" b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động</a:t>
                </a:r>
                <a:r>
                  <a:rPr lang="vi-VN" sz="3200" b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(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gọi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tắt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là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gia </a:t>
                </a:r>
                <a:r>
                  <a:rPr lang="vi-VN" sz="3200" b="1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tốc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),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kí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hiệu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là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. </a:t>
                </a:r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Hộp Văn bản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3112" y="2371759"/>
                <a:ext cx="13829519" cy="2228815"/>
              </a:xfrm>
              <a:prstGeom prst="rect">
                <a:avLst/>
              </a:prstGeom>
              <a:blipFill rotWithShape="1">
                <a:blip r:embed="rId3"/>
                <a:stretch>
                  <a:fillRect l="-2" t="-2" r="1" b="-51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Hộp Văn bản 4"/>
          <p:cNvSpPr txBox="1"/>
          <p:nvPr/>
        </p:nvSpPr>
        <p:spPr>
          <a:xfrm>
            <a:off x="2043112" y="1334218"/>
            <a:ext cx="4267200" cy="780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3400" b="1" dirty="0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1. </a:t>
            </a:r>
            <a:r>
              <a:rPr lang="en-US" sz="3400" b="1" dirty="0" err="1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Khái</a:t>
            </a:r>
            <a:r>
              <a:rPr lang="vi-VN" sz="3400" b="1" dirty="0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 </a:t>
            </a:r>
            <a:r>
              <a:rPr lang="vi-VN" sz="3400" b="1" dirty="0" err="1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niệm</a:t>
            </a:r>
            <a:r>
              <a:rPr lang="vi-VN" sz="3400" b="1" dirty="0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 gia </a:t>
            </a:r>
            <a:r>
              <a:rPr lang="vi-VN" sz="3400" b="1" dirty="0" err="1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tốc</a:t>
            </a:r>
            <a:endParaRPr lang="en-US" sz="3400" dirty="0">
              <a:effectLst/>
              <a:latin typeface="Arial" panose="020B0704020202020204" pitchFamily="34" charset="0"/>
              <a:ea typeface="Calibri" panose="020F0502020204030204" pitchFamily="34" charset="0"/>
              <a:cs typeface="Arial" panose="020B0704020202020204" pitchFamily="34" charset="0"/>
            </a:endParaRPr>
          </a:p>
        </p:txBody>
      </p:sp>
      <p:pic>
        <p:nvPicPr>
          <p:cNvPr id="4098" name="Picture 2" descr="Kiến thức Gia tốc là gì – Phân loại, công thức tính gia tốc - Banmaynuocno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9083" y="5115228"/>
            <a:ext cx="6832665" cy="384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5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/>
          <p:cNvGrpSpPr/>
          <p:nvPr/>
        </p:nvGrpSpPr>
        <p:grpSpPr>
          <a:xfrm>
            <a:off x="844452" y="721620"/>
            <a:ext cx="16721928" cy="8751636"/>
            <a:chOff x="0" y="0"/>
            <a:chExt cx="5656553" cy="2960430"/>
          </a:xfrm>
        </p:grpSpPr>
        <p:sp>
          <p:nvSpPr>
            <p:cNvPr id="7" name="Freeform 3"/>
            <p:cNvSpPr/>
            <p:nvPr/>
          </p:nvSpPr>
          <p:spPr>
            <a:xfrm>
              <a:off x="0" y="0"/>
              <a:ext cx="5656553" cy="2960430"/>
            </a:xfrm>
            <a:custGeom>
              <a:avLst/>
              <a:gdLst/>
              <a:ahLst/>
              <a:cxnLst/>
              <a:rect l="l" t="t" r="r" b="b"/>
              <a:pathLst>
                <a:path w="5656553" h="2960430">
                  <a:moveTo>
                    <a:pt x="0" y="0"/>
                  </a:moveTo>
                  <a:lnTo>
                    <a:pt x="5656553" y="0"/>
                  </a:lnTo>
                  <a:lnTo>
                    <a:pt x="5656553" y="2960430"/>
                  </a:lnTo>
                  <a:lnTo>
                    <a:pt x="0" y="2960430"/>
                  </a:lnTo>
                  <a:close/>
                </a:path>
              </a:pathLst>
            </a:custGeom>
            <a:solidFill>
              <a:srgbClr val="F6EABE"/>
            </a:solidFill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Hộp Văn bản 4"/>
              <p:cNvSpPr txBox="1"/>
              <p:nvPr/>
            </p:nvSpPr>
            <p:spPr>
              <a:xfrm>
                <a:off x="2174826" y="1562099"/>
                <a:ext cx="7467600" cy="6884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 lvl="0" indent="-45720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Char char="+"/>
                  <a:defRPr/>
                </a:pP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Công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thức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tính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kumimoji="0" lang="vi-VN" sz="3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kumimoji="0" lang="vi-VN" sz="3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kumimoji="0" lang="en-US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kumimoji="0" lang="vi-V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kumimoji="0" lang="vi-V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num>
                      <m:den>
                        <m:r>
                          <a:rPr kumimoji="0" lang="vi-V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kumimoji="0" lang="vi-V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den>
                    </m:f>
                    <m:r>
                      <a:rPr kumimoji="0" lang="vi-VN" sz="3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kumimoji="0" lang="en-US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0" lang="en-US" sz="3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vi-VN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0" lang="vi-VN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kumimoji="0" lang="vi-V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kumimoji="0" lang="en-US" sz="3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vi-VN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0" lang="vi-VN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kumimoji="0" lang="vi-V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kumimoji="0" lang="vi-V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kumimoji="0" lang="en-US" sz="3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vi-VN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0" lang="vi-VN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0" lang="en-US" sz="32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(1)</a:t>
                </a:r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marR="0" lvl="0" indent="-45720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Char char="+"/>
                  <a:defRPr/>
                </a:pP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Từ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công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thức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xác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định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gia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tốc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ta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có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thể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suy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luận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ra đơn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vị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của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gia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tốc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r>
                  <a:rPr kumimoji="0" lang="vi-V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kumimoji="0" lang="vi-V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kumimoji="0" lang="vi-V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𝑣</m:t>
                    </m:r>
                  </m:oMath>
                </a14:m>
                <a:r>
                  <a:rPr kumimoji="0" lang="vi-VN" sz="32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có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đơn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vị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là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vi-VN" sz="3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kumimoji="0" lang="vi-VN" sz="3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kumimoji="0" lang="vi-VN" sz="3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kumimoji="0" lang="vi-V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kumimoji="0" lang="vi-V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kumimoji="0" lang="vi-VN" sz="32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có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đơn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vị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là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vi-VN" sz="3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endParaRPr kumimoji="0" 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Cambria Math" panose="020405030504060302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kumimoji="0" lang="vi-V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  <m:r>
                      <a:rPr kumimoji="0" lang="en-US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có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đơn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vị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là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vi-VN" sz="3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kumimoji="0" lang="vi-VN" sz="3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</m:t>
                    </m:r>
                    <m:sSup>
                      <m:sSupPr>
                        <m:ctrlPr>
                          <a:rPr kumimoji="0" lang="en-US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vi-VN" sz="32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s</m:t>
                        </m:r>
                      </m:e>
                      <m:sup>
                        <m:r>
                          <a:rPr kumimoji="0" lang="vi-VN" sz="32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+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Vì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0" lang="en-US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kumimoji="0" lang="vi-V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kumimoji="0" lang="vi-V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kumimoji="0" lang="vi-VN" sz="32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là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đại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lượng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vectơ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nên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0" lang="en-US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0" lang="vi-VN" sz="32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cũng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là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đại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lượng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vectơ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0" lang="en-US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kumimoji="0" lang="vi-V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acc>
                    <m:r>
                      <a:rPr kumimoji="0" lang="vi-V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kumimoji="0" lang="en-US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kumimoji="0" lang="en-US" sz="3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kumimoji="0" lang="vi-VN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∆</m:t>
                            </m:r>
                            <m:r>
                              <a:rPr kumimoji="0" lang="vi-VN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</m:acc>
                        <m:r>
                          <a:rPr kumimoji="0" lang="vi-V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 </m:t>
                        </m:r>
                      </m:num>
                      <m:den>
                        <m:r>
                          <a:rPr kumimoji="0" lang="vi-V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kumimoji="0" lang="vi-V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(2)</a:t>
                </a:r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Hộp Văn bản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4826" y="1562099"/>
                <a:ext cx="7467600" cy="6884705"/>
              </a:xfrm>
              <a:prstGeom prst="rect">
                <a:avLst/>
              </a:prstGeom>
              <a:blipFill rotWithShape="1">
                <a:blip r:embed="rId1"/>
                <a:stretch>
                  <a:fillRect l="-8" t="-9" r="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 descr="Công Thức Tính Gia Tốc Lớp 10 Và Công Thức Tính Gia Tốc Rơi Tự Do |  Lessonopol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7400" y="3118501"/>
            <a:ext cx="5715000" cy="377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5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4452" y="721620"/>
            <a:ext cx="16721928" cy="8751636"/>
            <a:chOff x="0" y="0"/>
            <a:chExt cx="5656553" cy="2960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56553" cy="2960430"/>
            </a:xfrm>
            <a:custGeom>
              <a:avLst/>
              <a:gdLst/>
              <a:ahLst/>
              <a:cxnLst/>
              <a:rect l="l" t="t" r="r" b="b"/>
              <a:pathLst>
                <a:path w="5656553" h="2960430">
                  <a:moveTo>
                    <a:pt x="0" y="0"/>
                  </a:moveTo>
                  <a:lnTo>
                    <a:pt x="5656553" y="0"/>
                  </a:lnTo>
                  <a:lnTo>
                    <a:pt x="5656553" y="2960430"/>
                  </a:lnTo>
                  <a:lnTo>
                    <a:pt x="0" y="2960430"/>
                  </a:lnTo>
                  <a:close/>
                </a:path>
              </a:pathLst>
            </a:custGeom>
            <a:solidFill>
              <a:srgbClr val="F6EABE"/>
            </a:solidFill>
          </p:spPr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1" y="7105112"/>
            <a:ext cx="2667000" cy="318188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Hộp Văn bản 13"/>
              <p:cNvSpPr txBox="1"/>
              <p:nvPr/>
            </p:nvSpPr>
            <p:spPr>
              <a:xfrm>
                <a:off x="1943100" y="827770"/>
                <a:ext cx="14401800" cy="14784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3200" b="1" dirty="0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?.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Hãy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chứng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tỏ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vi-VN" sz="32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vi-VN" sz="3200" i="1" dirty="0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 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khi 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cùng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chiều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với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 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2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vi-VN" sz="32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vi-VN" sz="3200" i="1" dirty="0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704020202020204" pitchFamily="34" charset="0"/>
                      </a:rPr>
                      <m:t>(</m:t>
                    </m:r>
                    <m:r>
                      <a:rPr lang="vi-VN" sz="3200" i="1" dirty="0" err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704020202020204" pitchFamily="34" charset="0"/>
                      </a:rPr>
                      <m:t>𝑎</m:t>
                    </m:r>
                    <m:r>
                      <a:rPr lang="vi-VN" sz="3200" i="1" dirty="0" err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704020202020204" pitchFamily="34" charset="0"/>
                      </a:rPr>
                      <m:t>.</m:t>
                    </m:r>
                    <m:r>
                      <a:rPr lang="vi-VN" sz="3200" i="1" dirty="0" err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704020202020204" pitchFamily="34" charset="0"/>
                      </a:rPr>
                      <m:t>𝑣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704020202020204" pitchFamily="34" charset="0"/>
                      </a:rPr>
                      <m:t> &gt; 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704020202020204" pitchFamily="34" charset="0"/>
                      </a:rPr>
                      <m:t>0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704020202020204" pitchFamily="34" charset="0"/>
                      </a:rPr>
                      <m:t>) </m:t>
                    </m:r>
                  </m:oMath>
                </a14:m>
                <a:r>
                  <a:rPr lang="vi-VN" sz="3200" dirty="0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thì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chuyển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động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là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 nhanh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dần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, khi 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vi-VN" sz="32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vi-VN" sz="3200" i="1" dirty="0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ngược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chiều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với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 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vi-VN" sz="32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vi-VN" sz="3200" i="1" dirty="0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704020202020204" pitchFamily="34" charset="0"/>
                      </a:rPr>
                      <m:t>(</m:t>
                    </m:r>
                    <m:r>
                      <a:rPr lang="vi-VN" sz="3200" i="1" dirty="0" err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704020202020204" pitchFamily="34" charset="0"/>
                      </a:rPr>
                      <m:t>𝑎</m:t>
                    </m:r>
                    <m:r>
                      <a:rPr lang="vi-VN" sz="3200" i="1" dirty="0" err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704020202020204" pitchFamily="34" charset="0"/>
                      </a:rPr>
                      <m:t>.</m:t>
                    </m:r>
                    <m:r>
                      <a:rPr lang="vi-VN" sz="3200" i="1" dirty="0" err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704020202020204" pitchFamily="34" charset="0"/>
                      </a:rPr>
                      <m:t>𝑣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704020202020204" pitchFamily="34" charset="0"/>
                      </a:rPr>
                      <m:t> &lt;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704020202020204" pitchFamily="34" charset="0"/>
                      </a:rPr>
                      <m:t>0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704020202020204" pitchFamily="34" charset="0"/>
                      </a:rPr>
                      <m:t>) </m:t>
                    </m:r>
                  </m:oMath>
                </a14:m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thì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chuyển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động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là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chậm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dần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" panose="020B0704020202020204" pitchFamily="34" charset="0"/>
                    <a:ea typeface="Calibri" panose="020F0502020204030204" pitchFamily="34" charset="0"/>
                    <a:cs typeface="Arial" panose="020B0704020202020204" pitchFamily="34" charset="0"/>
                  </a:rPr>
                  <a:t>.</a:t>
                </a:r>
                <a:endParaRPr lang="en-US" sz="3200" dirty="0">
                  <a:latin typeface="Arial" panose="020B0704020202020204" pitchFamily="34" charset="0"/>
                  <a:cs typeface="Arial" panose="020B0704020202020204" pitchFamily="34" charset="0"/>
                </a:endParaRPr>
              </a:p>
            </p:txBody>
          </p:sp>
        </mc:Choice>
        <mc:Fallback>
          <p:sp>
            <p:nvSpPr>
              <p:cNvPr id="14" name="Hộp Văn bản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100" y="827770"/>
                <a:ext cx="14401800" cy="1478418"/>
              </a:xfrm>
              <a:prstGeom prst="rect">
                <a:avLst/>
              </a:prstGeom>
              <a:blipFill rotWithShape="1">
                <a:blip r:embed="rId3"/>
                <a:stretch>
                  <a:fillRect t="-25" b="-1061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Hộp Văn bản 14"/>
          <p:cNvSpPr txBox="1"/>
          <p:nvPr/>
        </p:nvSpPr>
        <p:spPr>
          <a:xfrm>
            <a:off x="8610600" y="2613865"/>
            <a:ext cx="10668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dirty="0" err="1">
                <a:solidFill>
                  <a:srgbClr val="FF0000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Giải</a:t>
            </a:r>
            <a:endParaRPr lang="en-US" sz="3400" b="1" dirty="0">
              <a:solidFill>
                <a:srgbClr val="FF0000"/>
              </a:solidFill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Hộp Văn bản 17"/>
              <p:cNvSpPr txBox="1"/>
              <p:nvPr/>
            </p:nvSpPr>
            <p:spPr>
              <a:xfrm>
                <a:off x="2667000" y="3390270"/>
                <a:ext cx="13106400" cy="59221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 indent="-457200" algn="just">
                  <a:lnSpc>
                    <a:spcPct val="150000"/>
                  </a:lnSpc>
                  <a:buFont typeface="Symbol" panose="05050102010706020507" pitchFamily="18" charset="2"/>
                  <a:buChar char="-"/>
                </a:pP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Chọn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chiều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dương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là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chiều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chuyển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động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của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vật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87680" marR="30480" indent="-457200" algn="just">
                  <a:lnSpc>
                    <a:spcPct val="150000"/>
                  </a:lnSpc>
                  <a:buFont typeface="Symbol" panose="05050102010706020507" pitchFamily="18" charset="2"/>
                  <a:buChar char="-"/>
                </a:pP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Giả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sử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vật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chuyển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động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theo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chiều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dương nên </a:t>
                </a:r>
                <a14:m>
                  <m:oMath xmlns:m="http://schemas.openxmlformats.org/officeDocument/2006/math"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87680" marR="30480" indent="-457200" algn="just">
                  <a:lnSpc>
                    <a:spcPct val="150000"/>
                  </a:lnSpc>
                  <a:buFont typeface="Cambria Math" panose="02040503050406030204" pitchFamily="18" charset="0"/>
                  <a:buChar char="+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khi 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cùng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chiều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với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vi-VN" sz="32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vi-VN" sz="3200" i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tức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là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mà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⇒ 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0480" marR="30480" algn="just">
                  <a:lnSpc>
                    <a:spcPct val="150000"/>
                  </a:lnSpc>
                </a:pP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Từ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biểu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thức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(1) ta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có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và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nên </a:t>
                </a:r>
                <a14:m>
                  <m:oMath xmlns:m="http://schemas.openxmlformats.org/officeDocument/2006/math"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.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Điều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này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có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nghĩa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là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vận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tốc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của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vật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tăng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dần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vật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chuyển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động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nhanh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dần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(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đpcm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87680" marR="30480" indent="-457200" algn="just">
                  <a:lnSpc>
                    <a:spcPct val="150000"/>
                  </a:lnSpc>
                  <a:buFont typeface="Cambria Math" panose="02040503050406030204" pitchFamily="18" charset="0"/>
                  <a:buChar char="+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khi 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ngược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chiều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với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vi-VN" sz="32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vi-VN" sz="3200" i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tức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là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mà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⇒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Từ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biểu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thức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(1) ta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có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&lt;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và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&gt;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nên </a:t>
                </a:r>
                <a14:m>
                  <m:oMath xmlns:m="http://schemas.openxmlformats.org/officeDocument/2006/math"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&lt;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.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Điều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này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có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nghĩa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là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vận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tốc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của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vật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giảm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dần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320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vật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chuyển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động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chậm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dần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(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đpcm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)</a:t>
                </a:r>
                <a:endParaRPr lang="en-US" sz="3200" dirty="0"/>
              </a:p>
            </p:txBody>
          </p:sp>
        </mc:Choice>
        <mc:Fallback>
          <p:sp>
            <p:nvSpPr>
              <p:cNvPr id="18" name="Hộp Văn bản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3390270"/>
                <a:ext cx="13106400" cy="5922134"/>
              </a:xfrm>
              <a:prstGeom prst="rect">
                <a:avLst/>
              </a:prstGeom>
              <a:blipFill rotWithShape="1">
                <a:blip r:embed="rId4"/>
                <a:stretch>
                  <a:fillRect b="-1368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754277" y="2488023"/>
            <a:ext cx="2034920" cy="1478418"/>
          </a:xfrm>
          <a:prstGeom prst="rect">
            <a:avLst/>
          </a:prstGeom>
        </p:spPr>
      </p:pic>
      <p:pic>
        <p:nvPicPr>
          <p:cNvPr id="5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14876023" y="2236537"/>
            <a:ext cx="1975104" cy="4114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5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4452" y="721620"/>
            <a:ext cx="16721928" cy="8751636"/>
            <a:chOff x="0" y="0"/>
            <a:chExt cx="5656553" cy="2960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56553" cy="2960430"/>
            </a:xfrm>
            <a:custGeom>
              <a:avLst/>
              <a:gdLst/>
              <a:ahLst/>
              <a:cxnLst/>
              <a:rect l="l" t="t" r="r" b="b"/>
              <a:pathLst>
                <a:path w="5656553" h="2960430">
                  <a:moveTo>
                    <a:pt x="0" y="0"/>
                  </a:moveTo>
                  <a:lnTo>
                    <a:pt x="5656553" y="0"/>
                  </a:lnTo>
                  <a:lnTo>
                    <a:pt x="5656553" y="2960430"/>
                  </a:lnTo>
                  <a:lnTo>
                    <a:pt x="0" y="2960430"/>
                  </a:lnTo>
                  <a:close/>
                </a:path>
              </a:pathLst>
            </a:custGeom>
            <a:solidFill>
              <a:srgbClr val="F6EABE"/>
            </a:solidFill>
          </p:spPr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15299481" y="272635"/>
            <a:ext cx="3500788" cy="41148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Hộp Văn bản 12"/>
              <p:cNvSpPr txBox="1"/>
              <p:nvPr/>
            </p:nvSpPr>
            <p:spPr>
              <a:xfrm>
                <a:off x="3079675" y="1409700"/>
                <a:ext cx="12251481" cy="4034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 indent="-457200" algn="just">
                  <a:lnSpc>
                    <a:spcPct val="150000"/>
                  </a:lnSpc>
                  <a:buFont typeface="Symbol" panose="05050102010706020507" pitchFamily="18" charset="2"/>
                  <a:buChar char="-"/>
                </a:pP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Thuật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ngữ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“</a:t>
                </a:r>
                <a:r>
                  <a:rPr lang="vi-VN" sz="3200" b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gia </a:t>
                </a:r>
                <a:r>
                  <a:rPr lang="vi-VN" sz="3200" b="1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tốc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”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được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hiểu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là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sự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gia tăng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tốc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độ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. Tuy nhiên trong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vật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lý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, gia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tốc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không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những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dùng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để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mô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tả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sự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tăng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mà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còn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dùng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để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mô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tả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sự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giảm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vận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tốc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và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sự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đổi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hướng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của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vận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tốc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. </a:t>
                </a:r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marR="0" indent="-457200" algn="just">
                  <a:lnSpc>
                    <a:spcPct val="150000"/>
                  </a:lnSpc>
                  <a:buFont typeface="Symbol" panose="05050102010706020507" pitchFamily="18" charset="2"/>
                  <a:buChar char="-"/>
                </a:pPr>
                <a14:m>
                  <m:oMath xmlns:m="http://schemas.openxmlformats.org/officeDocument/2006/math"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m:rPr>
                            <m:sty m:val="p"/>
                          </m:rP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v</m:t>
                        </m:r>
                      </m:num>
                      <m:den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m:rPr>
                            <m:sty m:val="p"/>
                          </m:rP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t</m:t>
                        </m:r>
                      </m:den>
                    </m:f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được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gọi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là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gia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tốc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trung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bình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Khi </a:t>
                </a:r>
                <a14:m>
                  <m:oMath xmlns:m="http://schemas.openxmlformats.org/officeDocument/2006/math">
                    <m:r>
                      <a:rPr lang="vi-VN" sz="3200" i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∆</m:t>
                    </m:r>
                    <m:r>
                      <m:rPr>
                        <m:sty m:val="p"/>
                      </m:rPr>
                      <a:rPr lang="vi-VN" sz="3200" i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t</m:t>
                    </m:r>
                  </m:oMath>
                </a14:m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rất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nhỏ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thì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có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thể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coi gia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tốc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này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là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gia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tốc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tức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thời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.</a:t>
                </a:r>
                <a:endParaRPr lang="en-US" sz="3200" dirty="0"/>
              </a:p>
            </p:txBody>
          </p:sp>
        </mc:Choice>
        <mc:Fallback>
          <p:sp>
            <p:nvSpPr>
              <p:cNvPr id="13" name="Hộp Văn bản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675" y="1409700"/>
                <a:ext cx="12251481" cy="4034887"/>
              </a:xfrm>
              <a:prstGeom prst="rect">
                <a:avLst/>
              </a:prstGeom>
              <a:blipFill rotWithShape="1">
                <a:blip r:embed="rId3"/>
                <a:stretch>
                  <a:fillRect l="-5" r="3" b="-4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Gia tốc là gì - Phân loại, công thức tính gia tốc - Rửa xe tự độ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5744421"/>
            <a:ext cx="6096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795164" y="6439852"/>
            <a:ext cx="2514600" cy="30000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7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5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4452" y="721620"/>
            <a:ext cx="16721928" cy="8751636"/>
            <a:chOff x="0" y="0"/>
            <a:chExt cx="5656553" cy="2960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56553" cy="2960430"/>
            </a:xfrm>
            <a:custGeom>
              <a:avLst/>
              <a:gdLst/>
              <a:ahLst/>
              <a:cxnLst/>
              <a:rect l="l" t="t" r="r" b="b"/>
              <a:pathLst>
                <a:path w="5656553" h="2960430">
                  <a:moveTo>
                    <a:pt x="0" y="0"/>
                  </a:moveTo>
                  <a:lnTo>
                    <a:pt x="5656553" y="0"/>
                  </a:lnTo>
                  <a:lnTo>
                    <a:pt x="5656553" y="2960430"/>
                  </a:lnTo>
                  <a:lnTo>
                    <a:pt x="0" y="2960430"/>
                  </a:lnTo>
                  <a:close/>
                </a:path>
              </a:pathLst>
            </a:custGeom>
            <a:solidFill>
              <a:srgbClr val="F6EABE"/>
            </a:solidFill>
          </p:spPr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0" y="7013565"/>
            <a:ext cx="3077029" cy="3273435"/>
          </a:xfrm>
          <a:prstGeom prst="rect">
            <a:avLst/>
          </a:prstGeom>
        </p:spPr>
      </p:pic>
      <p:sp>
        <p:nvSpPr>
          <p:cNvPr id="14" name="Hộp Văn bản 13"/>
          <p:cNvSpPr txBox="1"/>
          <p:nvPr/>
        </p:nvSpPr>
        <p:spPr>
          <a:xfrm>
            <a:off x="2423616" y="1418894"/>
            <a:ext cx="3352800" cy="792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vi-VN" sz="3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vi-VN" sz="3400" b="1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Bài</a:t>
            </a:r>
            <a:r>
              <a:rPr lang="vi-VN" sz="3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400" b="1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tập</a:t>
            </a:r>
            <a:r>
              <a:rPr lang="vi-VN" sz="3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400" b="1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ví</a:t>
            </a:r>
            <a:r>
              <a:rPr lang="vi-VN" sz="3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400" b="1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dụ</a:t>
            </a:r>
            <a:endParaRPr lang="en-US" sz="3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Hộp Văn bản 16"/>
          <p:cNvSpPr txBox="1"/>
          <p:nvPr/>
        </p:nvSpPr>
        <p:spPr>
          <a:xfrm>
            <a:off x="2423616" y="2525543"/>
            <a:ext cx="13563600" cy="3860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vi-VN" sz="3200" b="1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Bài</a:t>
            </a:r>
            <a:r>
              <a:rPr lang="vi-VN" sz="32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b="1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tập</a:t>
            </a:r>
            <a:r>
              <a:rPr lang="vi-VN" sz="32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b="1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ví</a:t>
            </a:r>
            <a:r>
              <a:rPr lang="vi-VN" sz="32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b="1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dụ</a:t>
            </a:r>
            <a:r>
              <a:rPr lang="vi-VN" sz="32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xe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máy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đang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chuyển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thẳng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vận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10 m/s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thì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tăng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Biết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rằng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sau 5s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kể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khi tăng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xe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đạt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vận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12 m/s. </a:t>
            </a:r>
            <a:endParaRPr lang="en-US" sz="3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gia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xe</a:t>
            </a:r>
            <a:endParaRPr lang="en-US" sz="3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Nếu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sau khi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đạt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vận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12 m/s, xe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chuyển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chậm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dần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gia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lớn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gia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trên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thì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sau bao lâu xe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sẽ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dừng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lại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3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6705600" y="6551332"/>
            <a:ext cx="4343400" cy="29219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5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4452" y="721620"/>
            <a:ext cx="16721928" cy="8751636"/>
            <a:chOff x="0" y="0"/>
            <a:chExt cx="5656553" cy="2960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56553" cy="2960430"/>
            </a:xfrm>
            <a:custGeom>
              <a:avLst/>
              <a:gdLst/>
              <a:ahLst/>
              <a:cxnLst/>
              <a:rect l="l" t="t" r="r" b="b"/>
              <a:pathLst>
                <a:path w="5656553" h="2960430">
                  <a:moveTo>
                    <a:pt x="0" y="0"/>
                  </a:moveTo>
                  <a:lnTo>
                    <a:pt x="5656553" y="0"/>
                  </a:lnTo>
                  <a:lnTo>
                    <a:pt x="5656553" y="2960430"/>
                  </a:lnTo>
                  <a:lnTo>
                    <a:pt x="0" y="2960430"/>
                  </a:lnTo>
                  <a:close/>
                </a:path>
              </a:pathLst>
            </a:custGeom>
            <a:solidFill>
              <a:srgbClr val="F6EABE"/>
            </a:solidFill>
          </p:spPr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-228600" y="6210300"/>
            <a:ext cx="2514597" cy="389585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Hộp Văn bản 15"/>
              <p:cNvSpPr txBox="1"/>
              <p:nvPr/>
            </p:nvSpPr>
            <p:spPr>
              <a:xfrm>
                <a:off x="2655916" y="1714500"/>
                <a:ext cx="5867400" cy="70405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US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Lập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giả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thiết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kết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luận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vi-VN" sz="32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vi-VN" sz="32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vi-VN" sz="3200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10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/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12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/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</m:t>
                      </m:r>
                    </m:oMath>
                  </m:oMathPara>
                </a14:m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r>
                      <a:rPr lang="vi-VN" sz="3200" b="0" i="1" u="sng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vi-VN" sz="3200" b="0" i="1" u="sng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vi-VN" sz="3200" i="1" u="sng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vi-VN" sz="3200" i="1" u="sng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5</m:t>
                    </m:r>
                    <m:r>
                      <a:rPr lang="vi-VN" sz="3200" i="1" u="sng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vi-VN" sz="3200" i="1" u="sng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      </m:t>
                    </m:r>
                  </m:oMath>
                </a14:m>
                <a:r>
                  <a:rPr lang="vi-VN" sz="3200" u="sng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                 </a:t>
                </a:r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?</a:t>
                </a:r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vi-VN" sz="3400" b="1" dirty="0" err="1">
                    <a:solidFill>
                      <a:srgbClr val="FF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Giải</a:t>
                </a:r>
                <a:r>
                  <a:rPr lang="vi-VN" sz="3400" b="1" dirty="0">
                    <a:solidFill>
                      <a:srgbClr val="FF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endParaRPr lang="en-US" sz="3400" b="1" dirty="0">
                  <a:solidFill>
                    <a:srgbClr val="FF0000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vi-VN" sz="3200" b="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m:rPr>
                              <m:sty m:val="p"/>
                            </m:rPr>
                            <a:rPr lang="vi-VN" sz="3200" b="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v</m:t>
                          </m:r>
                        </m:num>
                        <m:den>
                          <m:r>
                            <a:rPr lang="vi-VN" sz="3200" b="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m:rPr>
                              <m:sty m:val="p"/>
                            </m:rPr>
                            <a:rPr lang="vi-VN" sz="3200" b="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t</m:t>
                          </m:r>
                        </m:den>
                      </m:f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vi-VN" sz="3200" b="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12</m:t>
                          </m:r>
                          <m:r>
                            <a:rPr lang="vi-VN" sz="3200" b="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vi-VN" sz="3200" b="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vi-VN" sz="3200" b="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5</m:t>
                          </m:r>
                        </m:den>
                      </m:f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4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/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vi-VN" sz="3200" b="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vi-VN" sz="3200" b="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Gia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tốc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của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xe </a:t>
                </a:r>
                <a14:m>
                  <m:oMath xmlns:m="http://schemas.openxmlformats.org/officeDocument/2006/math"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</m:t>
                    </m:r>
                    <m:sSup>
                      <m:sSupPr>
                        <m:ctrlPr>
                          <a:rPr lang="en-US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vi-VN" sz="3200" b="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s</m:t>
                        </m:r>
                      </m:e>
                      <m:sup>
                        <m:r>
                          <a:rPr lang="vi-VN" sz="3200" b="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" name="Hộp Văn bản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916" y="1714500"/>
                <a:ext cx="5867400" cy="7040517"/>
              </a:xfrm>
              <a:prstGeom prst="rect">
                <a:avLst/>
              </a:prstGeom>
              <a:blipFill rotWithShape="1">
                <a:blip r:embed="rId3"/>
                <a:stretch>
                  <a:fillRect l="-6" r="6" b="-4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Đường nối Thẳng 17"/>
          <p:cNvCxnSpPr/>
          <p:nvPr/>
        </p:nvCxnSpPr>
        <p:spPr>
          <a:xfrm>
            <a:off x="9296400" y="1714500"/>
            <a:ext cx="0" cy="76893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Hộp Văn bản 20"/>
              <p:cNvSpPr txBox="1"/>
              <p:nvPr/>
            </p:nvSpPr>
            <p:spPr>
              <a:xfrm>
                <a:off x="10334780" y="1683779"/>
                <a:ext cx="6193974" cy="7136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b</a:t>
                </a:r>
                <a:r>
                  <a:rPr lang="en-US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Lập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giả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thiết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kết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luận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vi-VN" sz="3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vi-VN" sz="3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′</m:t>
                      </m:r>
                      <m:r>
                        <a:rPr lang="vi-VN" sz="3200" i="1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a:rPr lang="vi-VN" sz="3200" i="1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12</m:t>
                      </m:r>
                      <m:r>
                        <a:rPr lang="vi-VN" sz="3200" i="1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vi-VN" sz="3200" i="1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/</m:t>
                      </m:r>
                      <m:r>
                        <a:rPr lang="vi-VN" sz="3200" i="1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</m:t>
                      </m:r>
                    </m:oMath>
                  </m:oMathPara>
                </a14:m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’ = 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vi-VN" sz="3200" i="1" u="sng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vi-VN" sz="3200" i="1" u="sng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 −</m:t>
                      </m:r>
                      <m:r>
                        <a:rPr lang="vi-VN" sz="3200" i="1" u="sng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vi-VN" sz="3200" i="1" u="sng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vi-VN" sz="3200" i="1" u="sng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4</m:t>
                      </m:r>
                      <m:r>
                        <a:rPr lang="vi-VN" sz="3200" i="1" u="sng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vi-VN" sz="3200" i="1" u="sng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vi-VN" sz="3200" i="1" u="sng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/</m:t>
                      </m:r>
                      <m:sSup>
                        <m:sSupPr>
                          <m:ctrlPr>
                            <a:rPr lang="en-US" sz="3200" i="1" u="sng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vi-VN" sz="3200" i="1" u="sng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vi-VN" sz="3200" i="1" u="sng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′ = </m:t>
                    </m:r>
                  </m:oMath>
                </a14:m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?</a:t>
                </a:r>
                <a:r>
                  <a:rPr lang="vi-VN" sz="3200" b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          </a:t>
                </a:r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vi-VN" sz="3400" b="1" dirty="0" err="1">
                    <a:solidFill>
                      <a:srgbClr val="FF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Giải</a:t>
                </a:r>
                <a:r>
                  <a:rPr lang="vi-VN" sz="3400" b="1" dirty="0">
                    <a:solidFill>
                      <a:srgbClr val="FF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endParaRPr lang="en-US" sz="3400" dirty="0">
                  <a:solidFill>
                    <a:srgbClr val="FF0000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32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∆</m:t>
                      </m:r>
                      <m:r>
                        <a:rPr lang="vi-VN" sz="32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vi-VN" sz="32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′=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vi-VN" sz="3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a:rPr lang="vi-VN" sz="3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vi-VN" sz="3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′</m:t>
                          </m:r>
                          <m:r>
                            <a:rPr lang="vi-VN" sz="3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vi-VN" sz="3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den>
                      </m:f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vi-VN" sz="3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vi-VN" sz="3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vi-VN" sz="3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vi-VN" sz="3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vi-VN" sz="3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vi-VN" sz="3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vi-VN" sz="3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30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Vậy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sau 30s, xe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sẽ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dừng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hẳn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" name="Hộp Văn bản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4780" y="1683779"/>
                <a:ext cx="6193974" cy="7136505"/>
              </a:xfrm>
              <a:prstGeom prst="rect">
                <a:avLst/>
              </a:prstGeom>
              <a:blipFill rotWithShape="1">
                <a:blip r:embed="rId4"/>
                <a:stretch>
                  <a:fillRect l="-3" t="-6" r="5" b="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ộp Văn bản 3"/>
          <p:cNvSpPr txBox="1"/>
          <p:nvPr/>
        </p:nvSpPr>
        <p:spPr>
          <a:xfrm>
            <a:off x="8349258" y="924686"/>
            <a:ext cx="1589484" cy="792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vi-VN" sz="3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7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Trả</a:t>
            </a:r>
            <a:r>
              <a:rPr kumimoji="0" lang="vi-VN" sz="3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7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vi-VN" sz="3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7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lời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5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4452" y="721620"/>
            <a:ext cx="16721928" cy="8751636"/>
            <a:chOff x="0" y="0"/>
            <a:chExt cx="5656553" cy="2960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56553" cy="2960430"/>
            </a:xfrm>
            <a:custGeom>
              <a:avLst/>
              <a:gdLst/>
              <a:ahLst/>
              <a:cxnLst/>
              <a:rect l="l" t="t" r="r" b="b"/>
              <a:pathLst>
                <a:path w="5656553" h="2960430">
                  <a:moveTo>
                    <a:pt x="0" y="0"/>
                  </a:moveTo>
                  <a:lnTo>
                    <a:pt x="5656553" y="0"/>
                  </a:lnTo>
                  <a:lnTo>
                    <a:pt x="5656553" y="2960430"/>
                  </a:lnTo>
                  <a:lnTo>
                    <a:pt x="0" y="2960430"/>
                  </a:lnTo>
                  <a:close/>
                </a:path>
              </a:pathLst>
            </a:custGeom>
            <a:solidFill>
              <a:srgbClr val="F6EABE"/>
            </a:solidFill>
          </p:spPr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flipH="1">
            <a:off x="14630400" y="5905500"/>
            <a:ext cx="4575484" cy="4533888"/>
          </a:xfrm>
          <a:prstGeom prst="rect">
            <a:avLst/>
          </a:prstGeom>
        </p:spPr>
      </p:pic>
      <p:sp>
        <p:nvSpPr>
          <p:cNvPr id="5" name="Hộp Văn bản 4"/>
          <p:cNvSpPr txBox="1"/>
          <p:nvPr/>
        </p:nvSpPr>
        <p:spPr>
          <a:xfrm>
            <a:off x="2775445" y="1331234"/>
            <a:ext cx="12859941" cy="3109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3200" b="1" dirty="0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?</a:t>
            </a:r>
            <a:r>
              <a:rPr lang="vi-VN" sz="3200" b="1" dirty="0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1</a:t>
            </a:r>
            <a:r>
              <a:rPr lang="en-US" sz="3200" b="1" dirty="0">
                <a:solidFill>
                  <a:srgbClr val="000000"/>
                </a:solidFill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.</a:t>
            </a:r>
            <a:r>
              <a:rPr lang="vi-VN" sz="3200" b="1" dirty="0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 </a:t>
            </a:r>
            <a:endParaRPr lang="en-US" sz="3200" dirty="0">
              <a:effectLst/>
              <a:latin typeface="Arial" panose="020B0704020202020204" pitchFamily="34" charset="0"/>
              <a:ea typeface="Calibri" panose="020F0502020204030204" pitchFamily="34" charset="0"/>
              <a:cs typeface="Arial" panose="020B0704020202020204" pitchFamily="34" charset="0"/>
            </a:endParaRPr>
          </a:p>
          <a:p>
            <a:pPr marL="0" marR="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vi-VN" sz="3200" dirty="0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a.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Tính</a:t>
            </a:r>
            <a:r>
              <a:rPr lang="vi-VN" sz="3200" dirty="0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 gia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tốc</a:t>
            </a:r>
            <a:r>
              <a:rPr lang="vi-VN" sz="3200" dirty="0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của</a:t>
            </a:r>
            <a:r>
              <a:rPr lang="vi-VN" sz="3200" dirty="0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 ô tô trên 4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đoạn</a:t>
            </a:r>
            <a:r>
              <a:rPr lang="vi-VN" sz="3200" dirty="0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đường</a:t>
            </a:r>
            <a:r>
              <a:rPr lang="vi-VN" sz="3200" dirty="0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 trong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hình</a:t>
            </a:r>
            <a:r>
              <a:rPr lang="vi-VN" sz="3200" dirty="0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 8.1. </a:t>
            </a:r>
            <a:endParaRPr lang="en-US" sz="3200" dirty="0">
              <a:effectLst/>
              <a:latin typeface="Arial" panose="020B0704020202020204" pitchFamily="34" charset="0"/>
              <a:ea typeface="Calibri" panose="020F0502020204030204" pitchFamily="34" charset="0"/>
              <a:cs typeface="Arial" panose="020B0704020202020204" pitchFamily="34" charset="0"/>
            </a:endParaRPr>
          </a:p>
          <a:p>
            <a:pPr marL="0" marR="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vi-VN" sz="3200" dirty="0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b. Gia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tốc</a:t>
            </a:r>
            <a:r>
              <a:rPr lang="vi-VN" sz="3200" dirty="0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của</a:t>
            </a:r>
            <a:r>
              <a:rPr lang="vi-VN" sz="3200" dirty="0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 ô tô trên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đoạn</a:t>
            </a:r>
            <a:r>
              <a:rPr lang="vi-VN" sz="3200" dirty="0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đường</a:t>
            </a:r>
            <a:r>
              <a:rPr lang="vi-VN" sz="3200" dirty="0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 4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có</a:t>
            </a:r>
            <a:r>
              <a:rPr lang="vi-VN" sz="3200" dirty="0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gì</a:t>
            </a:r>
            <a:r>
              <a:rPr lang="vi-VN" sz="3200" dirty="0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đặc</a:t>
            </a:r>
            <a:r>
              <a:rPr lang="vi-VN" sz="3200" dirty="0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biệt</a:t>
            </a:r>
            <a:r>
              <a:rPr lang="vi-VN" sz="3200" dirty="0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 so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với</a:t>
            </a:r>
            <a:r>
              <a:rPr lang="vi-VN" sz="3200" dirty="0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sự</a:t>
            </a:r>
            <a:r>
              <a:rPr lang="vi-VN" sz="3200" dirty="0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 thay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đổi</a:t>
            </a:r>
            <a:r>
              <a:rPr lang="vi-VN" sz="3200" dirty="0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vận</a:t>
            </a:r>
            <a:r>
              <a:rPr lang="vi-VN" sz="3200" dirty="0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tốc</a:t>
            </a:r>
            <a:r>
              <a:rPr lang="vi-VN" sz="3200" dirty="0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 trên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các</a:t>
            </a:r>
            <a:r>
              <a:rPr lang="vi-VN" sz="3200" dirty="0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đoạn</a:t>
            </a:r>
            <a:r>
              <a:rPr lang="vi-VN" sz="3200" dirty="0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đường</a:t>
            </a:r>
            <a:r>
              <a:rPr lang="vi-VN" sz="3200" dirty="0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khác</a:t>
            </a:r>
            <a:r>
              <a:rPr lang="vi-VN" sz="3200" dirty="0">
                <a:solidFill>
                  <a:srgbClr val="000000"/>
                </a:solidFill>
                <a:effectLst/>
                <a:latin typeface="Arial" panose="020B0704020202020204" pitchFamily="34" charset="0"/>
                <a:ea typeface="Calibri" panose="020F0502020204030204" pitchFamily="34" charset="0"/>
                <a:cs typeface="Arial" panose="020B0704020202020204" pitchFamily="34" charset="0"/>
              </a:rPr>
              <a:t>.</a:t>
            </a:r>
            <a:endParaRPr lang="en-US" sz="3200" dirty="0">
              <a:effectLst/>
              <a:latin typeface="Arial" panose="020B0704020202020204" pitchFamily="34" charset="0"/>
              <a:ea typeface="Calibri" panose="020F0502020204030204" pitchFamily="34" charset="0"/>
              <a:cs typeface="Arial" panose="020B0704020202020204" pitchFamily="34" charset="0"/>
            </a:endParaRPr>
          </a:p>
        </p:txBody>
      </p:sp>
      <p:pic>
        <p:nvPicPr>
          <p:cNvPr id="6" name="Hình ảnh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8808" y="5097438"/>
            <a:ext cx="10410383" cy="3573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A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-23813" y="7986713"/>
            <a:ext cx="1928059" cy="230028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6154400" y="0"/>
            <a:ext cx="2267339" cy="264202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Hộp Văn bản 5"/>
              <p:cNvSpPr txBox="1"/>
              <p:nvPr/>
            </p:nvSpPr>
            <p:spPr>
              <a:xfrm>
                <a:off x="1600200" y="2095500"/>
                <a:ext cx="6324600" cy="64607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vi-VN" sz="3200" b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+ </a:t>
                </a:r>
                <a:r>
                  <a:rPr lang="vi-VN" sz="3200" b="1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Lập</a:t>
                </a:r>
                <a:r>
                  <a:rPr lang="vi-VN" sz="3200" b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giả</a:t>
                </a:r>
                <a:r>
                  <a:rPr lang="vi-VN" sz="3200" b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thiết</a:t>
                </a:r>
                <a:r>
                  <a:rPr lang="vi-VN" sz="3200" b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vi-VN" sz="3200" b="1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kết</a:t>
                </a:r>
                <a:r>
                  <a:rPr lang="vi-VN" sz="3200" b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luận</a:t>
                </a:r>
                <a:r>
                  <a:rPr lang="vi-VN" sz="3200" b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:endParaRPr lang="en-US" sz="3200" b="1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vi-VN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vi-VN" sz="3200" i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vi-VN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vi-VN" sz="3200" i="1" dirty="0" err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𝑘𝑚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ℎ</m:t>
                    </m:r>
                  </m:oMath>
                </a14:m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vi-VN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vi-VN" sz="3200" i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vi-VN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5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vi-VN" sz="3200" i="1" dirty="0" err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𝑘𝑚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ℎ</m:t>
                    </m:r>
                  </m:oMath>
                </a14:m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vi-VN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vi-VN" sz="3200" i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vi-VN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29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vi-VN" sz="3200" i="1" dirty="0" err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𝑘𝑚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ℎ</m:t>
                    </m:r>
                  </m:oMath>
                </a14:m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vi-VN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6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vi-VN" sz="3200" i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vi-VN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49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vi-VN" sz="3200" i="1" dirty="0" err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𝑘𝑚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ℎ</m:t>
                    </m:r>
                  </m:oMath>
                </a14:m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u="sng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3200" i="1" u="sng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vi-VN" sz="3200" i="1" u="sng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vi-VN" sz="3200" i="1" u="sng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vi-VN" sz="3200" i="1" u="sng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7</m:t>
                    </m:r>
                    <m:r>
                      <a:rPr lang="vi-VN" sz="3200" i="1" u="sng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vi-VN" sz="3200" i="1" u="sng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u="sng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3200" i="1" u="sng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vi-VN" sz="3200" i="1" u="sng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vi-VN" sz="3200" i="1" u="sng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vi-VN" sz="3200" i="1" u="sng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30</m:t>
                    </m:r>
                    <m:r>
                      <a:rPr lang="vi-VN" sz="3200" i="1" u="sng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vi-VN" sz="3200" i="1" u="sng" dirty="0" err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𝑘𝑚</m:t>
                    </m:r>
                    <m:r>
                      <a:rPr lang="vi-VN" sz="3200" i="1" u="sng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vi-VN" sz="3200" i="1" u="sng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ℎ</m:t>
                    </m:r>
                    <m:r>
                      <a:rPr lang="vi-VN" sz="3200" i="1" u="sng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         </m:t>
                    </m:r>
                  </m:oMath>
                </a14:m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US" sz="3200" dirty="0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vi-VN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vi-VN" sz="32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 ?;</m:t>
                    </m:r>
                  </m:oMath>
                </a14:m>
                <a:r>
                  <a:rPr lang="vi-VN" sz="3200" i="1" dirty="0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vi-VN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vi-VN" sz="32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 ?;</m:t>
                    </m:r>
                    <m:sSub>
                      <m:sSubPr>
                        <m:ctrlPr>
                          <a:rPr lang="en-US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vi-VN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vi-VN" sz="32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 ?;</m:t>
                    </m:r>
                    <m:sSub>
                      <m:sSubPr>
                        <m:ctrlPr>
                          <a:rPr lang="en-US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vi-VN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vi-VN" sz="32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 ?</m:t>
                    </m:r>
                  </m:oMath>
                </a14:m>
                <a:endParaRPr lang="en-US" sz="3200" dirty="0">
                  <a:effectLst/>
                  <a:latin typeface="Arial (Thân)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b</a:t>
                </a:r>
                <a:r>
                  <a:rPr lang="en-US" sz="3200" dirty="0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vi-VN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vi-VN" sz="3200" i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có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gì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khác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so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với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vi-VN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vi-VN" sz="3200" i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vi-VN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vi-VN" sz="3200" i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vi-VN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vi-VN" sz="3200" dirty="0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?</a:t>
                </a:r>
                <a:endParaRPr lang="en-US" sz="3200" dirty="0">
                  <a:effectLst/>
                  <a:latin typeface="Arial (Thân)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Hộp Văn bản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2095500"/>
                <a:ext cx="6324600" cy="6460743"/>
              </a:xfrm>
              <a:prstGeom prst="rect">
                <a:avLst/>
              </a:prstGeom>
              <a:blipFill rotWithShape="1">
                <a:blip r:embed="rId5"/>
                <a:stretch>
                  <a:fillRect b="-1086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Hộp Văn bản 7"/>
          <p:cNvSpPr txBox="1"/>
          <p:nvPr/>
        </p:nvSpPr>
        <p:spPr>
          <a:xfrm>
            <a:off x="8349258" y="924686"/>
            <a:ext cx="1589484" cy="792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vi-VN" sz="3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7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Trả</a:t>
            </a:r>
            <a:r>
              <a:rPr kumimoji="0" lang="vi-VN" sz="3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7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vi-VN" sz="3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7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lời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Hộp Văn bản 10"/>
              <p:cNvSpPr txBox="1"/>
              <p:nvPr/>
            </p:nvSpPr>
            <p:spPr>
              <a:xfrm>
                <a:off x="9873259" y="2095500"/>
                <a:ext cx="5486400" cy="42743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vi-VN" sz="3200" b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+ </a:t>
                </a:r>
                <a:r>
                  <a:rPr lang="vi-VN" sz="3200" b="1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Giải</a:t>
                </a:r>
                <a:r>
                  <a:rPr lang="vi-VN" sz="3200" b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R="30480" lvl="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Đổi</a:t>
                </a:r>
                <a:r>
                  <a:rPr lang="en-US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5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vi-VN" sz="3200" i="1" dirty="0" err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𝑘𝑚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ℎ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39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; </a:t>
                </a:r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59080" marR="3048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29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vi-VN" sz="3200" i="1" dirty="0" err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𝑘𝑚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ℎ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8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06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;</a:t>
                </a:r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59080" marR="3048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49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vi-VN" sz="3200" i="1" dirty="0" err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𝑘𝑚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ℎ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13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61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; </a:t>
                </a:r>
                <a:endParaRPr lang="en-US" sz="320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59080" marR="3048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30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vi-VN" sz="3200" i="1" dirty="0" err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𝑘𝑚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ℎ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8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33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Hộp Văn bản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3259" y="2095500"/>
                <a:ext cx="5486400" cy="4274312"/>
              </a:xfrm>
              <a:prstGeom prst="rect">
                <a:avLst/>
              </a:prstGeom>
              <a:blipFill rotWithShape="1">
                <a:blip r:embed="rId6"/>
                <a:stretch>
                  <a:fillRect l="-5" r="5" b="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Đường nối Thẳng 12"/>
          <p:cNvCxnSpPr/>
          <p:nvPr/>
        </p:nvCxnSpPr>
        <p:spPr>
          <a:xfrm>
            <a:off x="9144000" y="2109787"/>
            <a:ext cx="0" cy="77581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11201399" y="6896100"/>
            <a:ext cx="5741201" cy="31791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5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4452" y="721620"/>
            <a:ext cx="16721928" cy="8751636"/>
            <a:chOff x="0" y="0"/>
            <a:chExt cx="5656553" cy="2960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56553" cy="2960430"/>
            </a:xfrm>
            <a:custGeom>
              <a:avLst/>
              <a:gdLst/>
              <a:ahLst/>
              <a:cxnLst/>
              <a:rect l="l" t="t" r="r" b="b"/>
              <a:pathLst>
                <a:path w="5656553" h="2960430">
                  <a:moveTo>
                    <a:pt x="0" y="0"/>
                  </a:moveTo>
                  <a:lnTo>
                    <a:pt x="5656553" y="0"/>
                  </a:lnTo>
                  <a:lnTo>
                    <a:pt x="5656553" y="2960430"/>
                  </a:lnTo>
                  <a:lnTo>
                    <a:pt x="0" y="2960430"/>
                  </a:lnTo>
                  <a:close/>
                </a:path>
              </a:pathLst>
            </a:custGeom>
            <a:solidFill>
              <a:srgbClr val="F6EABE"/>
            </a:solidFill>
          </p:spPr>
        </p:sp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-899823">
            <a:off x="27458" y="224705"/>
            <a:ext cx="1347075" cy="1178078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flipH="1">
            <a:off x="16230600" y="419100"/>
            <a:ext cx="1735900" cy="17359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Hộp Văn bản 4"/>
              <p:cNvSpPr txBox="1"/>
              <p:nvPr/>
            </p:nvSpPr>
            <p:spPr>
              <a:xfrm>
                <a:off x="2133600" y="1080529"/>
                <a:ext cx="14020800" cy="5358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0480" marR="3048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3200" dirty="0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a)</a:t>
                </a:r>
                <a:endParaRPr lang="en-US" sz="3200" dirty="0">
                  <a:solidFill>
                    <a:srgbClr val="000000"/>
                  </a:solidFill>
                  <a:effectLst/>
                  <a:latin typeface="Arial (Thân)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87680" marR="30480" indent="-45720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Symbol" panose="05050102010706020507" pitchFamily="18" charset="2"/>
                  <a:buChar char="-"/>
                </a:pP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Gia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tốc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của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 ô tô trên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đoạn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đường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 1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là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  <m:sub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vi-VN" sz="3200" i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32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3200" i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3200" i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32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3200" i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vi-VN" sz="3200" i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vi-VN" sz="3200" i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39</m:t>
                        </m:r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num>
                      <m:den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den>
                    </m:f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39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</m:t>
                    </m:r>
                    <m:sSup>
                      <m:sSupPr>
                        <m:ctrlPr>
                          <a:rPr lang="en-US" sz="32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s</m:t>
                        </m:r>
                      </m:e>
                      <m:sup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3200" dirty="0">
                  <a:effectLst/>
                  <a:latin typeface="Arial (Thân)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87680" marR="30480" indent="-45720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Symbol" panose="05050102010706020507" pitchFamily="18" charset="2"/>
                  <a:buChar char="-"/>
                </a:pP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Gia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tốc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của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 ô tô trên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đoạn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đường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 2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là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  <m:sub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vi-VN" sz="3200" i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32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3200" i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3200" i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32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3200" i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vi-VN" sz="3200" i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vi-VN" sz="3200" i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8</m:t>
                        </m:r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06</m:t>
                        </m:r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39</m:t>
                        </m:r>
                      </m:num>
                      <m:den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22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vi-VN" sz="32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vi-VN" sz="3200" dirty="0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s</m:t>
                        </m:r>
                      </m:e>
                      <m:sup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3200" dirty="0">
                  <a:effectLst/>
                  <a:latin typeface="Arial (Thân)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87680" marR="30480" indent="-45720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Symbol" panose="05050102010706020507" pitchFamily="18" charset="2"/>
                  <a:buChar char="-"/>
                </a:pP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Gia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tốc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của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 ô tô trên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đoạn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đường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 3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là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  <m:sub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vi-VN" sz="3200" i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32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3200" i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3200" i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32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3200" i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vi-VN" sz="3200" i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vi-VN" sz="3200" i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13</m:t>
                        </m:r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61</m:t>
                        </m:r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8</m:t>
                        </m:r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06</m:t>
                        </m:r>
                      </m:num>
                      <m:den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6</m:t>
                        </m:r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  <m:r>
                      <a:rPr lang="vi-VN" sz="3200" i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78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</m:t>
                    </m:r>
                    <m:sSup>
                      <m:sSupPr>
                        <m:ctrlPr>
                          <a:rPr lang="en-US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s</m:t>
                        </m:r>
                      </m:e>
                      <m:sup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3200" dirty="0">
                  <a:effectLst/>
                  <a:latin typeface="Arial (Thân)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87680" marR="30480" indent="-45720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Symbol" panose="05050102010706020507" pitchFamily="18" charset="2"/>
                  <a:buChar char="-"/>
                </a:pP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Gia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tốc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của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 ô tô trên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đoạn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đường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 4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là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latin typeface="Arial (Thân)"/>
                    <a:ea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  <m:sub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vi-VN" sz="3200" i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32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3200" i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3200" i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32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3200" i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vi-VN" sz="3200" i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  <m:r>
                      <a:rPr lang="vi-VN" sz="3200" i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8</m:t>
                        </m:r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33</m:t>
                        </m:r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13</m:t>
                        </m:r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61</m:t>
                        </m:r>
                      </m:num>
                      <m:den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7</m:t>
                        </m:r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6</m:t>
                        </m:r>
                      </m:den>
                    </m:f>
                    <m:r>
                      <a:rPr lang="vi-VN" sz="3200" i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5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28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vi-VN" sz="32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</m:t>
                    </m:r>
                    <m:sSup>
                      <m:sSupPr>
                        <m:ctrlPr>
                          <a:rPr lang="en-US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s</m:t>
                        </m:r>
                      </m:e>
                      <m:sup>
                        <m:r>
                          <a:rPr lang="vi-VN" sz="320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3200" dirty="0">
                  <a:effectLst/>
                  <a:latin typeface="Arial (Thân)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Hộp Văn bản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1080529"/>
                <a:ext cx="14020800" cy="5358133"/>
              </a:xfrm>
              <a:prstGeom prst="rect">
                <a:avLst/>
              </a:prstGeom>
              <a:blipFill rotWithShape="1">
                <a:blip r:embed="rId5"/>
                <a:stretch>
                  <a:fillRect t="-7" b="-43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Hộp Văn bản 7"/>
          <p:cNvSpPr txBox="1"/>
          <p:nvPr/>
        </p:nvSpPr>
        <p:spPr>
          <a:xfrm>
            <a:off x="2133600" y="6730896"/>
            <a:ext cx="14206538" cy="164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80" marR="3048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b) Trên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đoạn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đường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1, 2, 3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thì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gia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xe dương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vì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vận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luôn tăng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dần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3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0480" marR="3048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Trên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đoạn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đường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4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thì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gia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âm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vì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vận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giảm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dần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3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13670450" y="7990982"/>
            <a:ext cx="2483950" cy="13729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5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4452" y="721620"/>
            <a:ext cx="16721928" cy="8751636"/>
            <a:chOff x="0" y="0"/>
            <a:chExt cx="5656553" cy="2960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56553" cy="2960430"/>
            </a:xfrm>
            <a:custGeom>
              <a:avLst/>
              <a:gdLst/>
              <a:ahLst/>
              <a:cxnLst/>
              <a:rect l="l" t="t" r="r" b="b"/>
              <a:pathLst>
                <a:path w="5656553" h="2960430">
                  <a:moveTo>
                    <a:pt x="0" y="0"/>
                  </a:moveTo>
                  <a:lnTo>
                    <a:pt x="5656553" y="0"/>
                  </a:lnTo>
                  <a:lnTo>
                    <a:pt x="5656553" y="2960430"/>
                  </a:lnTo>
                  <a:lnTo>
                    <a:pt x="0" y="2960430"/>
                  </a:lnTo>
                  <a:close/>
                </a:path>
              </a:pathLst>
            </a:custGeom>
            <a:solidFill>
              <a:srgbClr val="F6EABE"/>
            </a:solidFill>
          </p:spPr>
        </p:sp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flipH="1">
            <a:off x="16510454" y="8087633"/>
            <a:ext cx="1777546" cy="1898350"/>
          </a:xfrm>
          <a:prstGeom prst="rect">
            <a:avLst/>
          </a:prstGeom>
        </p:spPr>
      </p:pic>
      <p:sp>
        <p:nvSpPr>
          <p:cNvPr id="7" name="Hộp Văn bản 6"/>
          <p:cNvSpPr txBox="1"/>
          <p:nvPr/>
        </p:nvSpPr>
        <p:spPr>
          <a:xfrm>
            <a:off x="1425624" y="1181100"/>
            <a:ext cx="15559584" cy="1478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3200" b="1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r>
              <a:rPr lang="vi-VN" sz="3200" b="1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2.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 con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báo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 đang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chạy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vận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 30m/s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thì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chuyển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chậm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dần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 khi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tới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gần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 con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suối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. Trong 3 giây,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vận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nó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giảm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còn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 9 m/s.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 gia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 con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báo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3200" dirty="0">
              <a:effectLst/>
              <a:latin typeface="Arial (Thân)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Hộp Văn bản 7"/>
          <p:cNvSpPr txBox="1"/>
          <p:nvPr/>
        </p:nvSpPr>
        <p:spPr>
          <a:xfrm>
            <a:off x="8410674" y="2722671"/>
            <a:ext cx="1589484" cy="792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vi-VN" sz="3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7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Trả</a:t>
            </a:r>
            <a:r>
              <a:rPr kumimoji="0" lang="vi-VN" sz="3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7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vi-VN" sz="3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7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lời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Hộp Văn bản 10"/>
              <p:cNvSpPr txBox="1"/>
              <p:nvPr/>
            </p:nvSpPr>
            <p:spPr>
              <a:xfrm>
                <a:off x="2624638" y="4152900"/>
                <a:ext cx="4800593" cy="40164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vi-VN" sz="3200" b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+ </a:t>
                </a:r>
                <a:r>
                  <a:rPr lang="vi-VN" sz="3200" b="1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Viết</a:t>
                </a:r>
                <a:r>
                  <a:rPr lang="vi-VN" sz="3200" b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giả</a:t>
                </a:r>
                <a:r>
                  <a:rPr lang="vi-VN" sz="3200" b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thiết</a:t>
                </a:r>
                <a:r>
                  <a:rPr lang="vi-VN" sz="3200" b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vi-VN" sz="3200" b="1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kết</a:t>
                </a:r>
                <a:r>
                  <a:rPr lang="vi-VN" sz="3200" b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luận</a:t>
                </a:r>
                <a:endParaRPr lang="en-US" sz="3200" b="1" i="1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30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/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</m:t>
                      </m:r>
                    </m:oMath>
                  </m:oMathPara>
                </a14:m>
                <a:endParaRPr lang="en-US" sz="3200" i="1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vi-VN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9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/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</m:t>
                      </m:r>
                    </m:oMath>
                  </m:oMathPara>
                </a14:m>
                <a:endParaRPr lang="en-US" sz="3200" i="1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r>
                      <a:rPr lang="vi-VN" sz="3200" i="1" u="sng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vi-VN" sz="3200" i="1" u="sng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vi-VN" sz="3200" i="1" u="sng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vi-VN" sz="3200" i="1" u="sng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vi-VN" sz="3200" i="1" u="sng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vi-VN" sz="3200" i="1" u="sng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     </m:t>
                    </m:r>
                  </m:oMath>
                </a14:m>
                <a:r>
                  <a:rPr lang="vi-VN" sz="3200" i="1" u="sng" dirty="0">
                    <a:solidFill>
                      <a:srgbClr val="F2F2F2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s</a:t>
                </a:r>
                <a:endParaRPr lang="en-US" sz="3200" i="1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=?</m:t>
                      </m:r>
                    </m:oMath>
                  </m:oMathPara>
                </a14:m>
                <a:endParaRPr lang="en-US" sz="3200" i="1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Hộp Văn bản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4638" y="4152900"/>
                <a:ext cx="4800593" cy="4016484"/>
              </a:xfrm>
              <a:prstGeom prst="rect">
                <a:avLst/>
              </a:prstGeom>
              <a:blipFill rotWithShape="1">
                <a:blip r:embed="rId3"/>
                <a:stretch>
                  <a:fillRect l="-4" r="4" b="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Đường nối Thẳng 12"/>
          <p:cNvCxnSpPr/>
          <p:nvPr/>
        </p:nvCxnSpPr>
        <p:spPr>
          <a:xfrm>
            <a:off x="9205416" y="3619500"/>
            <a:ext cx="0" cy="56251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Hộp Văn bản 16"/>
              <p:cNvSpPr txBox="1"/>
              <p:nvPr/>
            </p:nvSpPr>
            <p:spPr>
              <a:xfrm>
                <a:off x="9465295" y="4152900"/>
                <a:ext cx="7841206" cy="32321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vi-VN" sz="3200" b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+ </a:t>
                </a:r>
                <a:r>
                  <a:rPr lang="vi-VN" sz="3200" b="1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Giải</a:t>
                </a:r>
                <a:r>
                  <a:rPr lang="vi-VN" sz="3200" b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Gia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tốc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của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con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báo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là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m:rPr>
                              <m:sty m:val="p"/>
                            </m:rP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v</m:t>
                          </m:r>
                        </m:num>
                        <m:den>
                          <m: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m:rPr>
                              <m:sty m:val="p"/>
                            </m:rP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t</m:t>
                          </m:r>
                        </m:den>
                      </m:f>
                      <m:r>
                        <a:rPr lang="vi-VN" sz="3200" i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3200" i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vi-VN" sz="3200" i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3200" i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vi-VN" sz="3200" i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3200" i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vi-VN" sz="3200" i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vi-VN" sz="3200" i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9</m:t>
                          </m:r>
                          <m: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30</m:t>
                          </m:r>
                        </m:num>
                        <m:den>
                          <m: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den>
                      </m:f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= −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7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/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" name="Hộp Văn bản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5295" y="4152900"/>
                <a:ext cx="7841206" cy="3232167"/>
              </a:xfrm>
              <a:prstGeom prst="rect">
                <a:avLst/>
              </a:prstGeom>
              <a:blipFill rotWithShape="1">
                <a:blip r:embed="rId4"/>
                <a:stretch>
                  <a:fillRect l="-8" r="3" b="-1950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4283224" y="6420438"/>
            <a:ext cx="5239214" cy="3012548"/>
          </a:xfrm>
          <a:prstGeom prst="rect">
            <a:avLst/>
          </a:prstGeom>
        </p:spPr>
      </p:pic>
      <p:pic>
        <p:nvPicPr>
          <p:cNvPr id="19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14694286" y="2659518"/>
            <a:ext cx="2733482" cy="28697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5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4452" y="721620"/>
            <a:ext cx="16721928" cy="8751636"/>
            <a:chOff x="0" y="0"/>
            <a:chExt cx="5656553" cy="2960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56553" cy="2960430"/>
            </a:xfrm>
            <a:custGeom>
              <a:avLst/>
              <a:gdLst/>
              <a:ahLst/>
              <a:cxnLst/>
              <a:rect l="l" t="t" r="r" b="b"/>
              <a:pathLst>
                <a:path w="5656553" h="2960430">
                  <a:moveTo>
                    <a:pt x="0" y="0"/>
                  </a:moveTo>
                  <a:lnTo>
                    <a:pt x="5656553" y="0"/>
                  </a:lnTo>
                  <a:lnTo>
                    <a:pt x="5656553" y="2960430"/>
                  </a:lnTo>
                  <a:lnTo>
                    <a:pt x="0" y="2960430"/>
                  </a:lnTo>
                  <a:close/>
                </a:path>
              </a:pathLst>
            </a:custGeom>
            <a:solidFill>
              <a:srgbClr val="F6EABE"/>
            </a:solidFill>
          </p:spPr>
        </p:sp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16152930" y="7505700"/>
            <a:ext cx="2149357" cy="2588473"/>
          </a:xfrm>
          <a:prstGeom prst="rect">
            <a:avLst/>
          </a:prstGeom>
        </p:spPr>
      </p:pic>
      <p:sp>
        <p:nvSpPr>
          <p:cNvPr id="10" name="Hộp Văn bản 9"/>
          <p:cNvSpPr txBox="1"/>
          <p:nvPr/>
        </p:nvSpPr>
        <p:spPr>
          <a:xfrm>
            <a:off x="2385516" y="1582754"/>
            <a:ext cx="13639800" cy="1478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80" marR="3048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3200" b="1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?</a:t>
            </a:r>
            <a:r>
              <a:rPr lang="vi-VN" sz="3200" b="1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3.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Đồ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thị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 ở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Hình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 8.2 mô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tả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sự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 thay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đổi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vận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tốc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 theo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thời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 gian trong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chuyển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động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của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một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 ô tô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thể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 thao đang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chạy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thử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về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phía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Bắc</a:t>
            </a:r>
            <a:r>
              <a:rPr lang="vi-VN" sz="3200" dirty="0">
                <a:solidFill>
                  <a:srgbClr val="000000"/>
                </a:solidFill>
                <a:effectLst/>
                <a:latin typeface="Arial (Thân)"/>
                <a:ea typeface="Calibri" panose="020F0502020204030204" pitchFamily="34" charset="0"/>
              </a:rPr>
              <a:t>.</a:t>
            </a:r>
            <a:endParaRPr lang="en-US" sz="3200" dirty="0">
              <a:effectLst/>
              <a:latin typeface="Arial (Thân)"/>
              <a:ea typeface="Times New Roman" panose="02020603050405020304" pitchFamily="18" charset="0"/>
            </a:endParaRPr>
          </a:p>
        </p:txBody>
      </p:sp>
      <p:pic>
        <p:nvPicPr>
          <p:cNvPr id="11" name="Picture 49" descr="Đồ thị ở Hình 8.2 mô tả sự thay đổi vận tốc theo thời gian trong chuyển độ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5516" y="3958187"/>
            <a:ext cx="6225634" cy="400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Hộp Văn bản 13"/>
          <p:cNvSpPr txBox="1"/>
          <p:nvPr/>
        </p:nvSpPr>
        <p:spPr>
          <a:xfrm>
            <a:off x="9475688" y="3643341"/>
            <a:ext cx="6549628" cy="432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80" marR="3048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gia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tốc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ô tô:</a:t>
            </a:r>
            <a:endParaRPr lang="en-US" sz="3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0480" marR="3048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a) Trong 4 s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3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0480" marR="3048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b)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giây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thứ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4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giây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thứ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12.</a:t>
            </a:r>
            <a:endParaRPr lang="en-US" sz="3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0480" marR="3048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c)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giây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thứ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12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giây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thứ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20.</a:t>
            </a:r>
            <a:endParaRPr lang="en-US" sz="3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0480" marR="3048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d)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giây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thứ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20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giây </a:t>
            </a:r>
            <a:r>
              <a:rPr lang="vi-VN" sz="32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thứ</a:t>
            </a:r>
            <a:r>
              <a:rPr lang="vi-VN" sz="3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28.</a:t>
            </a:r>
            <a:endParaRPr lang="en-US" sz="3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5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494966" y="342900"/>
            <a:ext cx="1767718" cy="2132116"/>
          </a:xfrm>
          <a:prstGeom prst="rect">
            <a:avLst/>
          </a:prstGeom>
        </p:spPr>
      </p:pic>
      <p:pic>
        <p:nvPicPr>
          <p:cNvPr id="16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14166948" y="3061172"/>
            <a:ext cx="3276600" cy="18646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5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7725" y="716857"/>
            <a:ext cx="16721928" cy="8751636"/>
            <a:chOff x="0" y="0"/>
            <a:chExt cx="5656553" cy="2960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56553" cy="2960430"/>
            </a:xfrm>
            <a:custGeom>
              <a:avLst/>
              <a:gdLst/>
              <a:ahLst/>
              <a:cxnLst/>
              <a:rect l="l" t="t" r="r" b="b"/>
              <a:pathLst>
                <a:path w="5656553" h="2960430">
                  <a:moveTo>
                    <a:pt x="0" y="0"/>
                  </a:moveTo>
                  <a:lnTo>
                    <a:pt x="5656553" y="0"/>
                  </a:lnTo>
                  <a:lnTo>
                    <a:pt x="5656553" y="2960430"/>
                  </a:lnTo>
                  <a:lnTo>
                    <a:pt x="0" y="2960430"/>
                  </a:lnTo>
                  <a:close/>
                </a:path>
              </a:pathLst>
            </a:custGeom>
            <a:solidFill>
              <a:srgbClr val="F6EABE"/>
            </a:solidFill>
          </p:spPr>
        </p:sp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flipH="1">
            <a:off x="16100094" y="7959440"/>
            <a:ext cx="2187906" cy="232756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-121641" y="7411814"/>
            <a:ext cx="2901564" cy="287518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Hộp Văn bản 9"/>
              <p:cNvSpPr txBox="1"/>
              <p:nvPr/>
            </p:nvSpPr>
            <p:spPr>
              <a:xfrm>
                <a:off x="1095807" y="1940547"/>
                <a:ext cx="7924800" cy="5325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50000"/>
                  </a:lnSpc>
                </a:pP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a) Gia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tốc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của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ô tô trong 4 giây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đầu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là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vi-VN" sz="3200" i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3200" i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vi-VN" sz="3200" i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3200" i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vi-VN" sz="3200" i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vi-VN" sz="3200" i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20</m:t>
                          </m:r>
                          <m: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4</m:t>
                          </m:r>
                          <m: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den>
                      </m:f>
                      <m:r>
                        <a:rPr lang="vi-VN" sz="3200" i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5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/</m:t>
                      </m:r>
                      <m:sSup>
                        <m:sSupPr>
                          <m:ctrlPr>
                            <a:rPr lang="en-US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50000"/>
                  </a:lnSpc>
                </a:pP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b) Gia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tốc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của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ô tô trong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từ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giây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thứ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4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đến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giây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thứ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12 </a:t>
                </a:r>
                <a:r>
                  <a:rPr lang="vi-VN" sz="3200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là</a:t>
                </a:r>
                <a:r>
                  <a:rPr lang="vi-VN" sz="3200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vi-VN" sz="3200" i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3200" i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vi-VN" sz="3200" i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3200" i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vi-VN" sz="3200" i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vi-VN" sz="3200" i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20</m:t>
                          </m:r>
                          <m: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20</m:t>
                          </m:r>
                        </m:num>
                        <m:den>
                          <m: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12</m:t>
                          </m:r>
                          <m: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  <m:r>
                        <a:rPr lang="vi-VN" sz="3200" i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vi-VN" sz="320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/</m:t>
                      </m:r>
                      <m:sSup>
                        <m:sSupPr>
                          <m:ctrlPr>
                            <a:rPr lang="en-US" sz="32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vi-VN" sz="320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Hộp Văn bản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807" y="1940547"/>
                <a:ext cx="7924800" cy="5325560"/>
              </a:xfrm>
              <a:prstGeom prst="rect">
                <a:avLst/>
              </a:prstGeom>
              <a:blipFill rotWithShape="1">
                <a:blip r:embed="rId5"/>
                <a:stretch>
                  <a:fillRect l="-5" t="-12" r="5" b="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Hộp Văn bản 11"/>
              <p:cNvSpPr txBox="1"/>
              <p:nvPr/>
            </p:nvSpPr>
            <p:spPr>
              <a:xfrm>
                <a:off x="9604289" y="1940547"/>
                <a:ext cx="7587904" cy="6067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c) Gia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tốc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của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ô tô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từ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giây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thứ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12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đến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giây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thứ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20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là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vi-V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0" lang="vi-V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0" lang="vi-VN" sz="32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kumimoji="0" lang="vi-V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kumimoji="0" lang="en-US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vi-VN" sz="32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kumimoji="0" lang="vi-VN" sz="32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kumimoji="0" lang="vi-V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kumimoji="0" lang="en-US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vi-VN" sz="32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kumimoji="0" lang="vi-VN" sz="32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kumimoji="0" lang="vi-VN" sz="32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kumimoji="0" lang="vi-V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20</m:t>
                          </m:r>
                          <m:r>
                            <a:rPr kumimoji="0" lang="vi-V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kumimoji="0" lang="vi-V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num>
                        <m:den>
                          <m:r>
                            <a:rPr kumimoji="0" lang="vi-V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20</m:t>
                          </m:r>
                          <m:r>
                            <a:rPr kumimoji="0" lang="vi-V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kumimoji="0" lang="vi-V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12</m:t>
                          </m:r>
                        </m:den>
                      </m:f>
                      <m:r>
                        <a:rPr kumimoji="0" lang="vi-VN" sz="32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0" lang="vi-VN" sz="32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kumimoji="0" lang="vi-VN" sz="32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kumimoji="0" lang="vi-VN" sz="32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kumimoji="0" lang="vi-VN" sz="32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5</m:t>
                      </m:r>
                      <m:r>
                        <a:rPr kumimoji="0" lang="vi-VN" sz="32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kumimoji="0" lang="vi-VN" sz="32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kumimoji="0" lang="vi-VN" sz="32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/</m:t>
                      </m:r>
                      <m:sSup>
                        <m:sSupPr>
                          <m:ctrlP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0" lang="vi-V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s</m:t>
                          </m:r>
                        </m:e>
                        <m:sup>
                          <m:r>
                            <a:rPr kumimoji="0" lang="vi-V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d) Gia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tốc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của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ô</a:t>
                </a: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en-US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tô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từ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giây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thứ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20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đến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giây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thứ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28 </a:t>
                </a:r>
                <a:r>
                  <a:rPr kumimoji="0" lang="vi-VN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là</a:t>
                </a:r>
                <a:r>
                  <a:rPr kumimoji="0" lang="vi-V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7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vi-V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0" lang="vi-V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  <m:r>
                        <a:rPr kumimoji="0" lang="vi-VN" sz="32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kumimoji="0" lang="vi-V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kumimoji="0" lang="en-US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vi-VN" sz="32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kumimoji="0" lang="vi-VN" sz="32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r>
                            <a:rPr kumimoji="0" lang="vi-V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kumimoji="0" lang="en-US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vi-VN" sz="32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kumimoji="0" lang="vi-VN" sz="32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kumimoji="0" lang="vi-VN" sz="32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kumimoji="0" lang="vi-V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kumimoji="0" lang="vi-V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20</m:t>
                          </m:r>
                          <m:r>
                            <a:rPr kumimoji="0" lang="vi-V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kumimoji="0" lang="vi-V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num>
                        <m:den>
                          <m:r>
                            <a:rPr kumimoji="0" lang="vi-V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28</m:t>
                          </m:r>
                          <m:r>
                            <a:rPr kumimoji="0" lang="vi-V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kumimoji="0" lang="vi-V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20</m:t>
                          </m:r>
                        </m:den>
                      </m:f>
                      <m:r>
                        <a:rPr kumimoji="0" lang="vi-VN" sz="32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kumimoji="0" lang="vi-VN" sz="32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kumimoji="0" lang="vi-VN" sz="32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kumimoji="0" lang="vi-VN" sz="32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5</m:t>
                      </m:r>
                      <m:r>
                        <a:rPr kumimoji="0" lang="vi-VN" sz="32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kumimoji="0" lang="vi-VN" sz="32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kumimoji="0" lang="vi-VN" sz="32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/</m:t>
                      </m:r>
                      <m:sSup>
                        <m:sSupPr>
                          <m:ctrlP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0" lang="vi-V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s</m:t>
                          </m:r>
                        </m:e>
                        <m:sup>
                          <m:r>
                            <a:rPr kumimoji="0" lang="vi-VN" sz="32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Hộp Văn bản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4289" y="1940547"/>
                <a:ext cx="7587904" cy="6067943"/>
              </a:xfrm>
              <a:prstGeom prst="rect">
                <a:avLst/>
              </a:prstGeom>
              <a:blipFill rotWithShape="1">
                <a:blip r:embed="rId6"/>
                <a:stretch>
                  <a:fillRect l="-7" t="-10" r="3" b="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Đường nối Thẳng 13"/>
          <p:cNvCxnSpPr/>
          <p:nvPr/>
        </p:nvCxnSpPr>
        <p:spPr>
          <a:xfrm>
            <a:off x="9296334" y="2084730"/>
            <a:ext cx="32228" cy="67505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Hộp Văn bản 16"/>
          <p:cNvSpPr txBox="1"/>
          <p:nvPr/>
        </p:nvSpPr>
        <p:spPr>
          <a:xfrm>
            <a:off x="8476175" y="1004467"/>
            <a:ext cx="1589484" cy="792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vi-VN" sz="3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7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Trả</a:t>
            </a:r>
            <a:r>
              <a:rPr kumimoji="0" lang="vi-VN" sz="3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7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vi-VN" sz="3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7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lời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9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5486400" y="7409534"/>
            <a:ext cx="4208975" cy="20360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5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4452" y="721620"/>
            <a:ext cx="16721928" cy="8751636"/>
            <a:chOff x="0" y="0"/>
            <a:chExt cx="5656553" cy="2960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56553" cy="2960430"/>
            </a:xfrm>
            <a:custGeom>
              <a:avLst/>
              <a:gdLst/>
              <a:ahLst/>
              <a:cxnLst/>
              <a:rect l="l" t="t" r="r" b="b"/>
              <a:pathLst>
                <a:path w="5656553" h="2960430">
                  <a:moveTo>
                    <a:pt x="0" y="0"/>
                  </a:moveTo>
                  <a:lnTo>
                    <a:pt x="5656553" y="0"/>
                  </a:lnTo>
                  <a:lnTo>
                    <a:pt x="5656553" y="2960430"/>
                  </a:lnTo>
                  <a:lnTo>
                    <a:pt x="0" y="2960430"/>
                  </a:lnTo>
                  <a:close/>
                </a:path>
              </a:pathLst>
            </a:custGeom>
            <a:solidFill>
              <a:srgbClr val="F6EABE"/>
            </a:solidFill>
          </p:spPr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820639" y="5829300"/>
            <a:ext cx="4344006" cy="4114800"/>
          </a:xfrm>
          <a:prstGeom prst="rect">
            <a:avLst/>
          </a:prstGeom>
        </p:spPr>
      </p:pic>
      <p:grpSp>
        <p:nvGrpSpPr>
          <p:cNvPr id="7" name="Group 7"/>
          <p:cNvGrpSpPr>
            <a:grpSpLocks noChangeAspect="1"/>
          </p:cNvGrpSpPr>
          <p:nvPr/>
        </p:nvGrpSpPr>
        <p:grpSpPr>
          <a:xfrm rot="935681">
            <a:off x="3142583" y="5753062"/>
            <a:ext cx="1781172" cy="1929740"/>
            <a:chOff x="0" y="0"/>
            <a:chExt cx="1370330" cy="1484630"/>
          </a:xfrm>
        </p:grpSpPr>
        <p:sp>
          <p:nvSpPr>
            <p:cNvPr id="8" name="Freeform 8"/>
            <p:cNvSpPr/>
            <p:nvPr/>
          </p:nvSpPr>
          <p:spPr>
            <a:xfrm>
              <a:off x="-24130" y="-29210"/>
              <a:ext cx="1398270" cy="1512570"/>
            </a:xfrm>
            <a:custGeom>
              <a:avLst/>
              <a:gdLst/>
              <a:ahLst/>
              <a:cxnLst/>
              <a:rect l="l" t="t" r="r" b="b"/>
              <a:pathLst>
                <a:path w="1398270" h="1512570">
                  <a:moveTo>
                    <a:pt x="128270" y="111760"/>
                  </a:moveTo>
                  <a:cubicBezTo>
                    <a:pt x="236220" y="11430"/>
                    <a:pt x="425450" y="0"/>
                    <a:pt x="546100" y="88900"/>
                  </a:cubicBezTo>
                  <a:cubicBezTo>
                    <a:pt x="676910" y="185420"/>
                    <a:pt x="707390" y="358140"/>
                    <a:pt x="727710" y="514350"/>
                  </a:cubicBezTo>
                  <a:cubicBezTo>
                    <a:pt x="782320" y="407670"/>
                    <a:pt x="836930" y="295910"/>
                    <a:pt x="932180" y="217170"/>
                  </a:cubicBezTo>
                  <a:cubicBezTo>
                    <a:pt x="1027430" y="139700"/>
                    <a:pt x="1177290" y="106680"/>
                    <a:pt x="1280160" y="175260"/>
                  </a:cubicBezTo>
                  <a:cubicBezTo>
                    <a:pt x="1377950" y="240030"/>
                    <a:pt x="1398270" y="368300"/>
                    <a:pt x="1393190" y="481330"/>
                  </a:cubicBezTo>
                  <a:cubicBezTo>
                    <a:pt x="1372870" y="922020"/>
                    <a:pt x="1061720" y="1334770"/>
                    <a:pt x="637540" y="1512570"/>
                  </a:cubicBezTo>
                  <a:cubicBezTo>
                    <a:pt x="563880" y="1320800"/>
                    <a:pt x="462280" y="1137920"/>
                    <a:pt x="337820" y="970280"/>
                  </a:cubicBezTo>
                  <a:cubicBezTo>
                    <a:pt x="238760" y="839470"/>
                    <a:pt x="124460" y="715010"/>
                    <a:pt x="62230" y="565150"/>
                  </a:cubicBezTo>
                  <a:cubicBezTo>
                    <a:pt x="0" y="415290"/>
                    <a:pt x="6350" y="224790"/>
                    <a:pt x="128270" y="111760"/>
                  </a:cubicBez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4" name="Hộp Văn bản 3"/>
          <p:cNvSpPr txBox="1"/>
          <p:nvPr/>
        </p:nvSpPr>
        <p:spPr>
          <a:xfrm>
            <a:off x="6438900" y="1562100"/>
            <a:ext cx="5410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latin typeface="Arial (Thân)"/>
              </a:rPr>
              <a:t>LUYỆN TẬP</a:t>
            </a:r>
            <a:endParaRPr lang="en-US" sz="7200" b="1" dirty="0">
              <a:latin typeface="Arial (Thân)"/>
            </a:endParaRPr>
          </a:p>
        </p:txBody>
      </p:sp>
      <p:sp>
        <p:nvSpPr>
          <p:cNvPr id="5" name="Hộp Văn bản 4"/>
          <p:cNvSpPr txBox="1"/>
          <p:nvPr/>
        </p:nvSpPr>
        <p:spPr>
          <a:xfrm>
            <a:off x="4229100" y="4000500"/>
            <a:ext cx="9829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err="1">
                <a:latin typeface="Arial (Thân)"/>
              </a:rPr>
              <a:t>Trả</a:t>
            </a:r>
            <a:r>
              <a:rPr lang="en-US" sz="4800" dirty="0">
                <a:latin typeface="Arial (Thân)"/>
              </a:rPr>
              <a:t> </a:t>
            </a:r>
            <a:r>
              <a:rPr lang="en-US" sz="4800" dirty="0" err="1">
                <a:latin typeface="Arial (Thân)"/>
              </a:rPr>
              <a:t>lời</a:t>
            </a:r>
            <a:r>
              <a:rPr lang="en-US" sz="4800" dirty="0">
                <a:latin typeface="Arial (Thân)"/>
              </a:rPr>
              <a:t> </a:t>
            </a:r>
            <a:r>
              <a:rPr lang="en-US" sz="4800" dirty="0" err="1">
                <a:latin typeface="Arial (Thân)"/>
              </a:rPr>
              <a:t>các</a:t>
            </a:r>
            <a:r>
              <a:rPr lang="en-US" sz="4800" dirty="0">
                <a:latin typeface="Arial (Thân)"/>
              </a:rPr>
              <a:t> </a:t>
            </a:r>
            <a:r>
              <a:rPr lang="en-US" sz="4800" dirty="0" err="1">
                <a:latin typeface="Arial (Thân)"/>
              </a:rPr>
              <a:t>câu</a:t>
            </a:r>
            <a:r>
              <a:rPr lang="en-US" sz="4800" dirty="0">
                <a:latin typeface="Arial (Thân)"/>
              </a:rPr>
              <a:t> </a:t>
            </a:r>
            <a:r>
              <a:rPr lang="en-US" sz="4800" dirty="0" err="1">
                <a:latin typeface="Arial (Thân)"/>
              </a:rPr>
              <a:t>hỏi</a:t>
            </a:r>
            <a:r>
              <a:rPr lang="en-US" sz="4800" dirty="0">
                <a:latin typeface="Arial (Thân)"/>
              </a:rPr>
              <a:t> </a:t>
            </a:r>
            <a:r>
              <a:rPr lang="en-US" sz="4800" dirty="0" err="1">
                <a:latin typeface="Arial (Thân)"/>
              </a:rPr>
              <a:t>trắc</a:t>
            </a:r>
            <a:r>
              <a:rPr lang="en-US" sz="4800" dirty="0">
                <a:latin typeface="Arial (Thân)"/>
              </a:rPr>
              <a:t> </a:t>
            </a:r>
            <a:r>
              <a:rPr lang="en-US" sz="4800" dirty="0" err="1">
                <a:latin typeface="Arial (Thân)"/>
              </a:rPr>
              <a:t>nghiệm</a:t>
            </a:r>
            <a:r>
              <a:rPr lang="en-US" sz="4800" dirty="0">
                <a:latin typeface="Arial (Thân)"/>
              </a:rPr>
              <a:t> </a:t>
            </a:r>
            <a:r>
              <a:rPr lang="en-US" sz="4800" dirty="0" err="1">
                <a:latin typeface="Arial (Thân)"/>
              </a:rPr>
              <a:t>sau</a:t>
            </a:r>
            <a:endParaRPr lang="en-US" sz="4800" dirty="0">
              <a:latin typeface="Arial (Thân)"/>
            </a:endParaRP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2726890" y="1640924"/>
            <a:ext cx="4227576" cy="6818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8570" y="595368"/>
            <a:ext cx="8936016" cy="5625435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-204072" y="9113001"/>
            <a:ext cx="18696144" cy="1173999"/>
          </a:xfrm>
          <a:prstGeom prst="rect">
            <a:avLst/>
          </a:prstGeom>
          <a:solidFill>
            <a:srgbClr val="FFD68B">
              <a:alpha val="52157"/>
            </a:srgbClr>
          </a:solidFill>
        </p:spPr>
        <p:txBody>
          <a:bodyPr/>
          <a:lstStyle/>
          <a:p>
            <a:pPr defTabSz="1371600"/>
            <a:endParaRPr lang="en-US" sz="27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9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106251" y="8331423"/>
            <a:ext cx="5514080" cy="1782885"/>
          </a:xfrm>
          <a:prstGeom prst="rect">
            <a:avLst/>
          </a:prstGeom>
        </p:spPr>
      </p:pic>
      <p:pic>
        <p:nvPicPr>
          <p:cNvPr id="50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2538424" y="4286705"/>
            <a:ext cx="3611997" cy="5625435"/>
          </a:xfrm>
          <a:prstGeom prst="rect">
            <a:avLst/>
          </a:prstGeom>
        </p:spPr>
      </p:pic>
      <p:pic>
        <p:nvPicPr>
          <p:cNvPr id="52" name="Pictur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4216711" y="3553761"/>
            <a:ext cx="877739" cy="2366934"/>
          </a:xfrm>
          <a:prstGeom prst="rect">
            <a:avLst/>
          </a:prstGeom>
        </p:spPr>
      </p:pic>
      <p:pic>
        <p:nvPicPr>
          <p:cNvPr id="53" name="Picture 1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11939923" y="3842982"/>
            <a:ext cx="911528" cy="2075583"/>
          </a:xfrm>
          <a:prstGeom prst="rect">
            <a:avLst/>
          </a:prstGeom>
        </p:spPr>
      </p:pic>
      <p:pic>
        <p:nvPicPr>
          <p:cNvPr id="54" name="Picture 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15932351" y="6324716"/>
            <a:ext cx="2245130" cy="3587424"/>
          </a:xfrm>
          <a:prstGeom prst="rect">
            <a:avLst/>
          </a:prstGeom>
        </p:spPr>
      </p:pic>
      <p:pic>
        <p:nvPicPr>
          <p:cNvPr id="56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3820386" y="6016212"/>
            <a:ext cx="3707985" cy="4174092"/>
          </a:xfrm>
          <a:prstGeom prst="rect">
            <a:avLst/>
          </a:prstGeom>
        </p:spPr>
      </p:pic>
      <p:sp>
        <p:nvSpPr>
          <p:cNvPr id="58" name="Title 1"/>
          <p:cNvSpPr txBox="1"/>
          <p:nvPr/>
        </p:nvSpPr>
        <p:spPr>
          <a:xfrm>
            <a:off x="5444389" y="947330"/>
            <a:ext cx="2011757" cy="1988345"/>
          </a:xfrm>
          <a:prstGeom prst="rect">
            <a:avLst/>
          </a:prstGeom>
        </p:spPr>
        <p:txBody>
          <a:bodyPr vert="horz" lIns="137160" tIns="68580" rIns="137160" bIns="6858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371600"/>
            <a:r>
              <a:rPr lang="en-US" sz="9900" b="1" dirty="0">
                <a:solidFill>
                  <a:prstClr val="black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Ô</a:t>
            </a:r>
            <a:endParaRPr lang="en-US" sz="9900" b="1" dirty="0">
              <a:solidFill>
                <a:prstClr val="black"/>
              </a:solidFill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  <p:sp>
        <p:nvSpPr>
          <p:cNvPr id="59" name="Title 1"/>
          <p:cNvSpPr txBox="1"/>
          <p:nvPr/>
        </p:nvSpPr>
        <p:spPr>
          <a:xfrm>
            <a:off x="8121399" y="947330"/>
            <a:ext cx="4390593" cy="1988345"/>
          </a:xfrm>
          <a:prstGeom prst="rect">
            <a:avLst/>
          </a:prstGeom>
        </p:spPr>
        <p:txBody>
          <a:bodyPr vert="horz" lIns="137160" tIns="68580" rIns="137160" bIns="6858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371600"/>
            <a:r>
              <a:rPr lang="en-US" sz="9900" b="1" dirty="0">
                <a:solidFill>
                  <a:prstClr val="black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CỬA</a:t>
            </a:r>
            <a:endParaRPr lang="en-US" sz="9900" b="1" dirty="0">
              <a:solidFill>
                <a:prstClr val="black"/>
              </a:solidFill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  <p:sp>
        <p:nvSpPr>
          <p:cNvPr id="60" name="Title 1"/>
          <p:cNvSpPr txBox="1"/>
          <p:nvPr/>
        </p:nvSpPr>
        <p:spPr>
          <a:xfrm>
            <a:off x="5444389" y="3240238"/>
            <a:ext cx="2011757" cy="1988345"/>
          </a:xfrm>
          <a:prstGeom prst="rect">
            <a:avLst/>
          </a:prstGeom>
        </p:spPr>
        <p:txBody>
          <a:bodyPr vert="horz" lIns="137160" tIns="68580" rIns="137160" bIns="6858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371600"/>
            <a:r>
              <a:rPr lang="en-US" sz="9900" b="1" dirty="0">
                <a:solidFill>
                  <a:prstClr val="black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BÍ</a:t>
            </a:r>
            <a:endParaRPr lang="en-US" sz="9900" b="1" dirty="0">
              <a:solidFill>
                <a:prstClr val="black"/>
              </a:solidFill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  <p:sp>
        <p:nvSpPr>
          <p:cNvPr id="61" name="Title 1"/>
          <p:cNvSpPr txBox="1"/>
          <p:nvPr/>
        </p:nvSpPr>
        <p:spPr>
          <a:xfrm>
            <a:off x="8121399" y="3240238"/>
            <a:ext cx="4390593" cy="1988345"/>
          </a:xfrm>
          <a:prstGeom prst="rect">
            <a:avLst/>
          </a:prstGeom>
        </p:spPr>
        <p:txBody>
          <a:bodyPr vert="horz" lIns="137160" tIns="68580" rIns="137160" bIns="6858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371600"/>
            <a:r>
              <a:rPr lang="en-US" sz="9900" b="1" dirty="0">
                <a:solidFill>
                  <a:prstClr val="black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MẬT</a:t>
            </a:r>
            <a:endParaRPr lang="en-US" sz="9900" b="1" dirty="0">
              <a:solidFill>
                <a:prstClr val="black"/>
              </a:solidFill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  <p:pic>
        <p:nvPicPr>
          <p:cNvPr id="90" name="Picture 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2132204" y="0"/>
            <a:ext cx="1523762" cy="3086100"/>
          </a:xfrm>
          <a:prstGeom prst="rect">
            <a:avLst/>
          </a:prstGeom>
        </p:spPr>
      </p:pic>
      <p:pic>
        <p:nvPicPr>
          <p:cNvPr id="91" name="Picture 13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>
          <a:xfrm>
            <a:off x="15804070" y="2230583"/>
            <a:ext cx="1654295" cy="2912918"/>
          </a:xfrm>
          <a:prstGeom prst="rect">
            <a:avLst/>
          </a:prstGeom>
        </p:spPr>
      </p:pic>
      <p:pic>
        <p:nvPicPr>
          <p:cNvPr id="92" name="Picture 14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>
          <a:xfrm>
            <a:off x="13934105" y="933161"/>
            <a:ext cx="1298688" cy="2213673"/>
          </a:xfrm>
          <a:prstGeom prst="rect">
            <a:avLst/>
          </a:prstGeom>
        </p:spPr>
      </p:pic>
      <p:pic>
        <p:nvPicPr>
          <p:cNvPr id="93" name="Picture 17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>
          <a:xfrm>
            <a:off x="487722" y="1818488"/>
            <a:ext cx="1521345" cy="3228318"/>
          </a:xfrm>
          <a:prstGeom prst="rect">
            <a:avLst/>
          </a:prstGeom>
        </p:spPr>
      </p:pic>
      <p:pic>
        <p:nvPicPr>
          <p:cNvPr id="57" name="Picture 10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 t="52178" r="11108" b="9444"/>
          <a:stretch>
            <a:fillRect/>
          </a:stretch>
        </p:blipFill>
        <p:spPr>
          <a:xfrm>
            <a:off x="8572088" y="6422972"/>
            <a:ext cx="2904237" cy="3187791"/>
          </a:xfrm>
          <a:prstGeom prst="rect">
            <a:avLst/>
          </a:prstGeom>
        </p:spPr>
      </p:pic>
      <p:pic>
        <p:nvPicPr>
          <p:cNvPr id="101" name="Picture 19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>
          <a:xfrm>
            <a:off x="688536" y="5731961"/>
            <a:ext cx="2421045" cy="4054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4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repeatCount="4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2" presetClass="emph" presetSubtype="0" repeatCount="4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32" presetClass="emph" presetSubtype="0" repeatCount="4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/>
      <p:bldP spid="60" grpId="0"/>
      <p:bldP spid="6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âu hỏi"/>
          <p:cNvSpPr/>
          <p:nvPr/>
        </p:nvSpPr>
        <p:spPr>
          <a:xfrm>
            <a:off x="1821872" y="1168872"/>
            <a:ext cx="14644256" cy="299258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vi-VN" sz="4800" b="1" dirty="0">
                <a:solidFill>
                  <a:schemeClr val="tx1"/>
                </a:solidFill>
              </a:rPr>
              <a:t>Câu 1</a:t>
            </a:r>
            <a:r>
              <a:rPr lang="vi-VN" sz="4800" dirty="0">
                <a:solidFill>
                  <a:schemeClr val="tx1"/>
                </a:solidFill>
              </a:rPr>
              <a:t>: </a:t>
            </a:r>
            <a:r>
              <a:rPr lang="vi-VN" sz="4800" dirty="0" err="1">
                <a:solidFill>
                  <a:schemeClr val="tx1"/>
                </a:solidFill>
              </a:rPr>
              <a:t>Chọn</a:t>
            </a:r>
            <a:r>
              <a:rPr lang="vi-VN" sz="4800" dirty="0">
                <a:solidFill>
                  <a:schemeClr val="tx1"/>
                </a:solidFill>
              </a:rPr>
              <a:t> </a:t>
            </a:r>
            <a:r>
              <a:rPr lang="vi-VN" sz="4800" dirty="0" err="1">
                <a:solidFill>
                  <a:schemeClr val="tx1"/>
                </a:solidFill>
              </a:rPr>
              <a:t>đáp</a:t>
            </a:r>
            <a:r>
              <a:rPr lang="vi-VN" sz="4800" dirty="0">
                <a:solidFill>
                  <a:schemeClr val="tx1"/>
                </a:solidFill>
              </a:rPr>
              <a:t> </a:t>
            </a:r>
            <a:r>
              <a:rPr lang="vi-VN" sz="4800" dirty="0" err="1">
                <a:solidFill>
                  <a:schemeClr val="tx1"/>
                </a:solidFill>
              </a:rPr>
              <a:t>án</a:t>
            </a:r>
            <a:r>
              <a:rPr lang="vi-VN" sz="4800" dirty="0">
                <a:solidFill>
                  <a:schemeClr val="tx1"/>
                </a:solidFill>
              </a:rPr>
              <a:t> </a:t>
            </a:r>
            <a:r>
              <a:rPr lang="vi-VN" sz="4800" dirty="0" err="1">
                <a:solidFill>
                  <a:schemeClr val="tx1"/>
                </a:solidFill>
              </a:rPr>
              <a:t>đúng</a:t>
            </a:r>
            <a:r>
              <a:rPr lang="vi-VN" sz="4800" dirty="0">
                <a:solidFill>
                  <a:schemeClr val="tx1"/>
                </a:solidFill>
              </a:rPr>
              <a:t> </a:t>
            </a:r>
            <a:r>
              <a:rPr lang="vi-VN" sz="4800" dirty="0" err="1">
                <a:solidFill>
                  <a:schemeClr val="tx1"/>
                </a:solidFill>
              </a:rPr>
              <a:t>nhất</a:t>
            </a:r>
            <a:r>
              <a:rPr lang="vi-VN" sz="4800" dirty="0">
                <a:solidFill>
                  <a:schemeClr val="tx1"/>
                </a:solidFill>
              </a:rPr>
              <a:t>. </a:t>
            </a:r>
            <a:endParaRPr lang="en-US" sz="48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vi-VN" sz="4800" dirty="0" err="1">
                <a:solidFill>
                  <a:schemeClr val="tx1"/>
                </a:solidFill>
              </a:rPr>
              <a:t>Chuyển</a:t>
            </a:r>
            <a:r>
              <a:rPr lang="vi-VN" sz="4800" dirty="0">
                <a:solidFill>
                  <a:schemeClr val="tx1"/>
                </a:solidFill>
              </a:rPr>
              <a:t> </a:t>
            </a:r>
            <a:r>
              <a:rPr lang="vi-VN" sz="4800" dirty="0" err="1">
                <a:solidFill>
                  <a:schemeClr val="tx1"/>
                </a:solidFill>
              </a:rPr>
              <a:t>động</a:t>
            </a:r>
            <a:r>
              <a:rPr lang="vi-VN" sz="4800" dirty="0">
                <a:solidFill>
                  <a:schemeClr val="tx1"/>
                </a:solidFill>
              </a:rPr>
              <a:t> </a:t>
            </a:r>
            <a:r>
              <a:rPr lang="vi-VN" sz="4800" dirty="0" err="1">
                <a:solidFill>
                  <a:schemeClr val="tx1"/>
                </a:solidFill>
              </a:rPr>
              <a:t>biến</a:t>
            </a:r>
            <a:r>
              <a:rPr lang="vi-VN" sz="4800" dirty="0">
                <a:solidFill>
                  <a:schemeClr val="tx1"/>
                </a:solidFill>
              </a:rPr>
              <a:t> </a:t>
            </a:r>
            <a:r>
              <a:rPr lang="vi-VN" sz="4800" dirty="0" err="1">
                <a:solidFill>
                  <a:schemeClr val="tx1"/>
                </a:solidFill>
              </a:rPr>
              <a:t>đổi</a:t>
            </a:r>
            <a:r>
              <a:rPr lang="vi-VN" sz="4800" dirty="0">
                <a:solidFill>
                  <a:schemeClr val="tx1"/>
                </a:solidFill>
              </a:rPr>
              <a:t> </a:t>
            </a:r>
            <a:r>
              <a:rPr lang="vi-VN" sz="4800" dirty="0" err="1">
                <a:solidFill>
                  <a:schemeClr val="tx1"/>
                </a:solidFill>
              </a:rPr>
              <a:t>là</a:t>
            </a:r>
            <a:r>
              <a:rPr lang="vi-VN" sz="4800" dirty="0">
                <a:solidFill>
                  <a:schemeClr val="tx1"/>
                </a:solidFill>
              </a:rPr>
              <a:t>: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18" name="Đáp án đúng"/>
          <p:cNvSpPr/>
          <p:nvPr/>
        </p:nvSpPr>
        <p:spPr>
          <a:xfrm>
            <a:off x="1821872" y="4618654"/>
            <a:ext cx="6802583" cy="199505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vi-VN" sz="4000" dirty="0">
                <a:solidFill>
                  <a:schemeClr val="tx1"/>
                </a:solidFill>
              </a:rPr>
              <a:t>A. </a:t>
            </a:r>
            <a:r>
              <a:rPr lang="vi-VN" sz="4000" dirty="0" err="1">
                <a:solidFill>
                  <a:schemeClr val="tx1"/>
                </a:solidFill>
              </a:rPr>
              <a:t>Chuyển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động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có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vận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tốc</a:t>
            </a:r>
            <a:r>
              <a:rPr lang="vi-VN" sz="4000" dirty="0">
                <a:solidFill>
                  <a:schemeClr val="tx1"/>
                </a:solidFill>
              </a:rPr>
              <a:t> thay </a:t>
            </a:r>
            <a:r>
              <a:rPr lang="vi-VN" sz="4000" dirty="0" err="1">
                <a:solidFill>
                  <a:schemeClr val="tx1"/>
                </a:solidFill>
              </a:rPr>
              <a:t>đổi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9" name="Đáp án sai 1"/>
          <p:cNvSpPr/>
          <p:nvPr/>
        </p:nvSpPr>
        <p:spPr>
          <a:xfrm>
            <a:off x="1821872" y="7070905"/>
            <a:ext cx="6802583" cy="199505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vi-VN" sz="4000" dirty="0">
                <a:solidFill>
                  <a:schemeClr val="tx1"/>
                </a:solidFill>
              </a:rPr>
              <a:t>B. </a:t>
            </a:r>
            <a:r>
              <a:rPr lang="vi-VN" sz="4000" dirty="0" err="1">
                <a:solidFill>
                  <a:schemeClr val="tx1"/>
                </a:solidFill>
              </a:rPr>
              <a:t>Là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những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chuyển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động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có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vận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tốc</a:t>
            </a:r>
            <a:r>
              <a:rPr lang="vi-VN" sz="4000" dirty="0">
                <a:solidFill>
                  <a:schemeClr val="tx1"/>
                </a:solidFill>
              </a:rPr>
              <a:t> tăng </a:t>
            </a:r>
            <a:r>
              <a:rPr lang="vi-VN" sz="4000" dirty="0" err="1">
                <a:solidFill>
                  <a:schemeClr val="tx1"/>
                </a:solidFill>
              </a:rPr>
              <a:t>dần</a:t>
            </a:r>
            <a:endParaRPr lang="vi-VN" sz="4000" noProof="1">
              <a:solidFill>
                <a:schemeClr val="tx1"/>
              </a:solidFill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  <p:sp>
        <p:nvSpPr>
          <p:cNvPr id="20" name="Đáp án sai 2"/>
          <p:cNvSpPr/>
          <p:nvPr/>
        </p:nvSpPr>
        <p:spPr>
          <a:xfrm>
            <a:off x="9663545" y="4618654"/>
            <a:ext cx="6802583" cy="199505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vi-VN" sz="4000" dirty="0">
                <a:solidFill>
                  <a:schemeClr val="tx1"/>
                </a:solidFill>
              </a:rPr>
              <a:t>C. </a:t>
            </a:r>
            <a:r>
              <a:rPr lang="vi-VN" sz="4000" dirty="0" err="1">
                <a:solidFill>
                  <a:schemeClr val="tx1"/>
                </a:solidFill>
              </a:rPr>
              <a:t>Là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những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chuyển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động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có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vận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tốc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giảm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dần</a:t>
            </a:r>
            <a:endParaRPr lang="vi-VN" sz="4000" noProof="1">
              <a:solidFill>
                <a:schemeClr val="tx1"/>
              </a:solidFill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  <p:sp>
        <p:nvSpPr>
          <p:cNvPr id="21" name="Đáp án sai 3"/>
          <p:cNvSpPr/>
          <p:nvPr/>
        </p:nvSpPr>
        <p:spPr>
          <a:xfrm>
            <a:off x="9663544" y="7070905"/>
            <a:ext cx="6802583" cy="199505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vi-VN" sz="4000" dirty="0">
                <a:solidFill>
                  <a:schemeClr val="tx1"/>
                </a:solidFill>
              </a:rPr>
              <a:t>D. </a:t>
            </a:r>
            <a:r>
              <a:rPr lang="vi-VN" sz="4000" dirty="0" err="1">
                <a:solidFill>
                  <a:schemeClr val="tx1"/>
                </a:solidFill>
              </a:rPr>
              <a:t>Là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những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chuyển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động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đứng</a:t>
            </a:r>
            <a:r>
              <a:rPr lang="vi-VN" sz="4000" dirty="0">
                <a:solidFill>
                  <a:schemeClr val="tx1"/>
                </a:solidFill>
              </a:rPr>
              <a:t> yên</a:t>
            </a:r>
            <a:endParaRPr lang="vi-VN" sz="4000" noProof="1">
              <a:solidFill>
                <a:schemeClr val="tx1"/>
              </a:solidFill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  <p:pic>
        <p:nvPicPr>
          <p:cNvPr id="22" name="Correct sound effect and wrong sound effect (mp3cut.net)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9663544" y="-955900"/>
            <a:ext cx="731045" cy="731045"/>
          </a:xfrm>
          <a:prstGeom prst="rect">
            <a:avLst/>
          </a:prstGeom>
        </p:spPr>
      </p:pic>
      <p:pic>
        <p:nvPicPr>
          <p:cNvPr id="23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7224647" y="5059308"/>
            <a:ext cx="1279569" cy="1113741"/>
          </a:xfrm>
          <a:prstGeom prst="rect">
            <a:avLst/>
          </a:prstGeom>
        </p:spPr>
      </p:pic>
      <p:pic>
        <p:nvPicPr>
          <p:cNvPr id="24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15190943" y="5025629"/>
            <a:ext cx="1275183" cy="1136072"/>
          </a:xfrm>
          <a:prstGeom prst="rect">
            <a:avLst/>
          </a:prstGeom>
        </p:spPr>
      </p:pic>
      <p:pic>
        <p:nvPicPr>
          <p:cNvPr id="25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15190943" y="7500394"/>
            <a:ext cx="1275183" cy="1136072"/>
          </a:xfrm>
          <a:prstGeom prst="rect">
            <a:avLst/>
          </a:prstGeom>
        </p:spPr>
      </p:pic>
      <p:pic>
        <p:nvPicPr>
          <p:cNvPr id="26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7229033" y="7500394"/>
            <a:ext cx="1275183" cy="1136072"/>
          </a:xfrm>
          <a:prstGeom prst="rect">
            <a:avLst/>
          </a:prstGeom>
        </p:spPr>
      </p:pic>
      <p:pic>
        <p:nvPicPr>
          <p:cNvPr id="27" name="Correct sound effect and wrong sound effect (mp3cut.net) (1)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653838" y="-955900"/>
            <a:ext cx="731045" cy="731045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-204072" y="9113001"/>
            <a:ext cx="18696144" cy="1173999"/>
          </a:xfrm>
          <a:prstGeom prst="rect">
            <a:avLst/>
          </a:prstGeom>
          <a:solidFill>
            <a:srgbClr val="FFD68B">
              <a:alpha val="52157"/>
            </a:srgbClr>
          </a:solidFill>
        </p:spPr>
        <p:txBody>
          <a:bodyPr/>
          <a:lstStyle/>
          <a:p>
            <a:pPr defTabSz="1371600"/>
            <a:endParaRPr lang="en-US" sz="27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Picture 1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100207" y="6906397"/>
            <a:ext cx="1803425" cy="30203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2" dur="835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6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99694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6" dur="862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6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99694"/>
                                      </p:to>
                                    </p:animClr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0" dur="862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6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99694"/>
                                      </p:to>
                                    </p:animClr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4" dur="862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6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9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audio>
              <p:cMediaNode vol="80000">
                <p:cTn id="8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  <p:audio>
              <p:cMediaNode vol="80000">
                <p:cTn id="8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  <p:bldLst>
      <p:bldP spid="17" grpId="0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âu hỏi"/>
          <p:cNvSpPr/>
          <p:nvPr/>
        </p:nvSpPr>
        <p:spPr>
          <a:xfrm>
            <a:off x="1821872" y="1165515"/>
            <a:ext cx="14644256" cy="299258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4000" b="1" dirty="0">
                <a:solidFill>
                  <a:schemeClr val="tx1"/>
                </a:solidFill>
              </a:rPr>
              <a:t>Câu 2:</a:t>
            </a:r>
            <a:r>
              <a:rPr lang="vi-VN" sz="4000" dirty="0">
                <a:solidFill>
                  <a:schemeClr val="tx1"/>
                </a:solidFill>
              </a:rPr>
              <a:t> Gia </a:t>
            </a:r>
            <a:r>
              <a:rPr lang="vi-VN" sz="4000" dirty="0" err="1">
                <a:solidFill>
                  <a:schemeClr val="tx1"/>
                </a:solidFill>
              </a:rPr>
              <a:t>tốc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là</a:t>
            </a:r>
            <a:r>
              <a:rPr lang="vi-VN" sz="4000" dirty="0">
                <a:solidFill>
                  <a:schemeClr val="tx1"/>
                </a:solidFill>
              </a:rPr>
              <a:t>: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8" name="Đáp án đúng"/>
          <p:cNvSpPr/>
          <p:nvPr/>
        </p:nvSpPr>
        <p:spPr>
          <a:xfrm>
            <a:off x="9663544" y="4615297"/>
            <a:ext cx="6802583" cy="199505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vi-VN" sz="3200" dirty="0">
                <a:solidFill>
                  <a:schemeClr val="tx1"/>
                </a:solidFill>
              </a:rPr>
              <a:t>C. </a:t>
            </a:r>
            <a:r>
              <a:rPr lang="vi-VN" sz="3200" dirty="0" err="1">
                <a:solidFill>
                  <a:schemeClr val="tx1"/>
                </a:solidFill>
              </a:rPr>
              <a:t>Là</a:t>
            </a:r>
            <a:r>
              <a:rPr lang="vi-VN" sz="3200" dirty="0">
                <a:solidFill>
                  <a:schemeClr val="tx1"/>
                </a:solidFill>
              </a:rPr>
              <a:t> </a:t>
            </a:r>
            <a:r>
              <a:rPr lang="vi-VN" sz="3200" dirty="0" err="1">
                <a:solidFill>
                  <a:schemeClr val="tx1"/>
                </a:solidFill>
              </a:rPr>
              <a:t>đại</a:t>
            </a:r>
            <a:r>
              <a:rPr lang="vi-VN" sz="3200" dirty="0">
                <a:solidFill>
                  <a:schemeClr val="tx1"/>
                </a:solidFill>
              </a:rPr>
              <a:t> </a:t>
            </a:r>
            <a:r>
              <a:rPr lang="vi-VN" sz="3200" dirty="0" err="1">
                <a:solidFill>
                  <a:schemeClr val="tx1"/>
                </a:solidFill>
              </a:rPr>
              <a:t>lượng</a:t>
            </a:r>
            <a:r>
              <a:rPr lang="vi-VN" sz="3200" dirty="0">
                <a:solidFill>
                  <a:schemeClr val="tx1"/>
                </a:solidFill>
              </a:rPr>
              <a:t> cho </a:t>
            </a:r>
            <a:r>
              <a:rPr lang="vi-VN" sz="3200" dirty="0" err="1">
                <a:solidFill>
                  <a:schemeClr val="tx1"/>
                </a:solidFill>
              </a:rPr>
              <a:t>biết</a:t>
            </a:r>
            <a:r>
              <a:rPr lang="vi-VN" sz="3200" dirty="0">
                <a:solidFill>
                  <a:schemeClr val="tx1"/>
                </a:solidFill>
              </a:rPr>
              <a:t> </a:t>
            </a:r>
            <a:r>
              <a:rPr lang="vi-VN" sz="3200" dirty="0" err="1">
                <a:solidFill>
                  <a:schemeClr val="tx1"/>
                </a:solidFill>
              </a:rPr>
              <a:t>sự</a:t>
            </a:r>
            <a:r>
              <a:rPr lang="vi-VN" sz="3200" dirty="0">
                <a:solidFill>
                  <a:schemeClr val="tx1"/>
                </a:solidFill>
              </a:rPr>
              <a:t> thay </a:t>
            </a:r>
            <a:r>
              <a:rPr lang="vi-VN" sz="3200" dirty="0" err="1">
                <a:solidFill>
                  <a:schemeClr val="tx1"/>
                </a:solidFill>
              </a:rPr>
              <a:t>đổi</a:t>
            </a:r>
            <a:r>
              <a:rPr lang="vi-VN" sz="3200" dirty="0">
                <a:solidFill>
                  <a:schemeClr val="tx1"/>
                </a:solidFill>
              </a:rPr>
              <a:t> nhanh hay </a:t>
            </a:r>
            <a:r>
              <a:rPr lang="vi-VN" sz="3200" dirty="0" err="1">
                <a:solidFill>
                  <a:schemeClr val="tx1"/>
                </a:solidFill>
              </a:rPr>
              <a:t>chậm</a:t>
            </a:r>
            <a:r>
              <a:rPr lang="vi-VN" sz="3200" dirty="0">
                <a:solidFill>
                  <a:schemeClr val="tx1"/>
                </a:solidFill>
              </a:rPr>
              <a:t> </a:t>
            </a:r>
            <a:r>
              <a:rPr lang="vi-VN" sz="3200" dirty="0" err="1">
                <a:solidFill>
                  <a:schemeClr val="tx1"/>
                </a:solidFill>
              </a:rPr>
              <a:t>của</a:t>
            </a:r>
            <a:r>
              <a:rPr lang="vi-VN" sz="3200" dirty="0">
                <a:solidFill>
                  <a:schemeClr val="tx1"/>
                </a:solidFill>
              </a:rPr>
              <a:t> </a:t>
            </a:r>
            <a:r>
              <a:rPr lang="vi-VN" sz="3200" dirty="0" err="1">
                <a:solidFill>
                  <a:schemeClr val="tx1"/>
                </a:solidFill>
              </a:rPr>
              <a:t>vận</a:t>
            </a:r>
            <a:r>
              <a:rPr lang="vi-VN" sz="3200" dirty="0">
                <a:solidFill>
                  <a:schemeClr val="tx1"/>
                </a:solidFill>
              </a:rPr>
              <a:t> </a:t>
            </a:r>
            <a:r>
              <a:rPr lang="vi-VN" sz="3200" dirty="0" err="1">
                <a:solidFill>
                  <a:schemeClr val="tx1"/>
                </a:solidFill>
              </a:rPr>
              <a:t>tốc</a:t>
            </a:r>
            <a:r>
              <a:rPr lang="vi-VN" sz="3200" dirty="0">
                <a:solidFill>
                  <a:schemeClr val="tx1"/>
                </a:solidFill>
              </a:rPr>
              <a:t>. 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19" name="Đáp án sai 1"/>
          <p:cNvSpPr/>
          <p:nvPr/>
        </p:nvSpPr>
        <p:spPr>
          <a:xfrm>
            <a:off x="1821872" y="4615297"/>
            <a:ext cx="6802583" cy="199505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vi-VN" sz="3200" dirty="0">
                <a:solidFill>
                  <a:schemeClr val="tx1"/>
                </a:solidFill>
              </a:rPr>
              <a:t>A. </a:t>
            </a:r>
            <a:r>
              <a:rPr lang="vi-VN" sz="3200" dirty="0" err="1">
                <a:solidFill>
                  <a:schemeClr val="tx1"/>
                </a:solidFill>
              </a:rPr>
              <a:t>Khái</a:t>
            </a:r>
            <a:r>
              <a:rPr lang="vi-VN" sz="3200" dirty="0">
                <a:solidFill>
                  <a:schemeClr val="tx1"/>
                </a:solidFill>
              </a:rPr>
              <a:t> </a:t>
            </a:r>
            <a:r>
              <a:rPr lang="vi-VN" sz="3200" dirty="0" err="1">
                <a:solidFill>
                  <a:schemeClr val="tx1"/>
                </a:solidFill>
              </a:rPr>
              <a:t>niệm</a:t>
            </a:r>
            <a:r>
              <a:rPr lang="vi-VN" sz="3200" dirty="0">
                <a:solidFill>
                  <a:schemeClr val="tx1"/>
                </a:solidFill>
              </a:rPr>
              <a:t> </a:t>
            </a:r>
            <a:r>
              <a:rPr lang="vi-VN" sz="3200" dirty="0" err="1">
                <a:solidFill>
                  <a:schemeClr val="tx1"/>
                </a:solidFill>
              </a:rPr>
              <a:t>chỉ</a:t>
            </a:r>
            <a:r>
              <a:rPr lang="vi-VN" sz="3200" dirty="0">
                <a:solidFill>
                  <a:schemeClr val="tx1"/>
                </a:solidFill>
              </a:rPr>
              <a:t> </a:t>
            </a:r>
            <a:r>
              <a:rPr lang="vi-VN" sz="3200" dirty="0" err="1">
                <a:solidFill>
                  <a:schemeClr val="tx1"/>
                </a:solidFill>
              </a:rPr>
              <a:t>sự</a:t>
            </a:r>
            <a:r>
              <a:rPr lang="vi-VN" sz="3200" dirty="0">
                <a:solidFill>
                  <a:schemeClr val="tx1"/>
                </a:solidFill>
              </a:rPr>
              <a:t> gia tăng </a:t>
            </a:r>
            <a:r>
              <a:rPr lang="vi-VN" sz="3200" dirty="0" err="1">
                <a:solidFill>
                  <a:schemeClr val="tx1"/>
                </a:solidFill>
              </a:rPr>
              <a:t>tốc</a:t>
            </a:r>
            <a:r>
              <a:rPr lang="vi-VN" sz="3200" dirty="0">
                <a:solidFill>
                  <a:schemeClr val="tx1"/>
                </a:solidFill>
              </a:rPr>
              <a:t> </a:t>
            </a:r>
            <a:r>
              <a:rPr lang="vi-VN" sz="3200" dirty="0" err="1">
                <a:solidFill>
                  <a:schemeClr val="tx1"/>
                </a:solidFill>
              </a:rPr>
              <a:t>độ</a:t>
            </a:r>
            <a:r>
              <a:rPr lang="vi-VN" sz="3200" dirty="0">
                <a:solidFill>
                  <a:schemeClr val="tx1"/>
                </a:solidFill>
              </a:rPr>
              <a:t>.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0" name="Đáp án sai 2"/>
          <p:cNvSpPr/>
          <p:nvPr/>
        </p:nvSpPr>
        <p:spPr>
          <a:xfrm>
            <a:off x="1821872" y="7076198"/>
            <a:ext cx="6802583" cy="199505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vi-VN" sz="3200" dirty="0">
                <a:solidFill>
                  <a:schemeClr val="tx1"/>
                </a:solidFill>
              </a:rPr>
              <a:t>B. </a:t>
            </a:r>
            <a:r>
              <a:rPr lang="vi-VN" sz="3200" dirty="0" err="1">
                <a:solidFill>
                  <a:schemeClr val="tx1"/>
                </a:solidFill>
              </a:rPr>
              <a:t>Khái</a:t>
            </a:r>
            <a:r>
              <a:rPr lang="vi-VN" sz="3200" dirty="0">
                <a:solidFill>
                  <a:schemeClr val="tx1"/>
                </a:solidFill>
              </a:rPr>
              <a:t> </a:t>
            </a:r>
            <a:r>
              <a:rPr lang="vi-VN" sz="3200" dirty="0" err="1">
                <a:solidFill>
                  <a:schemeClr val="tx1"/>
                </a:solidFill>
              </a:rPr>
              <a:t>niệm</a:t>
            </a:r>
            <a:r>
              <a:rPr lang="vi-VN" sz="3200" dirty="0">
                <a:solidFill>
                  <a:schemeClr val="tx1"/>
                </a:solidFill>
              </a:rPr>
              <a:t> </a:t>
            </a:r>
            <a:r>
              <a:rPr lang="vi-VN" sz="3200" dirty="0" err="1">
                <a:solidFill>
                  <a:schemeClr val="tx1"/>
                </a:solidFill>
              </a:rPr>
              <a:t>chỉ</a:t>
            </a:r>
            <a:r>
              <a:rPr lang="vi-VN" sz="3200" dirty="0">
                <a:solidFill>
                  <a:schemeClr val="tx1"/>
                </a:solidFill>
              </a:rPr>
              <a:t> </a:t>
            </a:r>
            <a:r>
              <a:rPr lang="vi-VN" sz="3200" dirty="0" err="1">
                <a:solidFill>
                  <a:schemeClr val="tx1"/>
                </a:solidFill>
              </a:rPr>
              <a:t>sự</a:t>
            </a:r>
            <a:r>
              <a:rPr lang="vi-VN" sz="3200" dirty="0">
                <a:solidFill>
                  <a:schemeClr val="tx1"/>
                </a:solidFill>
              </a:rPr>
              <a:t> thay </a:t>
            </a:r>
            <a:r>
              <a:rPr lang="vi-VN" sz="3200" dirty="0" err="1">
                <a:solidFill>
                  <a:schemeClr val="tx1"/>
                </a:solidFill>
              </a:rPr>
              <a:t>đổi</a:t>
            </a:r>
            <a:r>
              <a:rPr lang="vi-VN" sz="3200" dirty="0">
                <a:solidFill>
                  <a:schemeClr val="tx1"/>
                </a:solidFill>
              </a:rPr>
              <a:t> </a:t>
            </a:r>
            <a:r>
              <a:rPr lang="vi-VN" sz="3200" dirty="0" err="1">
                <a:solidFill>
                  <a:schemeClr val="tx1"/>
                </a:solidFill>
              </a:rPr>
              <a:t>tốc</a:t>
            </a:r>
            <a:r>
              <a:rPr lang="vi-VN" sz="3200" dirty="0">
                <a:solidFill>
                  <a:schemeClr val="tx1"/>
                </a:solidFill>
              </a:rPr>
              <a:t> </a:t>
            </a:r>
            <a:r>
              <a:rPr lang="vi-VN" sz="3200" dirty="0" err="1">
                <a:solidFill>
                  <a:schemeClr val="tx1"/>
                </a:solidFill>
              </a:rPr>
              <a:t>độ</a:t>
            </a:r>
            <a:r>
              <a:rPr lang="vi-VN" sz="3200" dirty="0">
                <a:solidFill>
                  <a:schemeClr val="tx1"/>
                </a:solidFill>
              </a:rPr>
              <a:t>.</a:t>
            </a:r>
            <a:endParaRPr lang="en-US" sz="3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Đáp án sai 3"/>
              <p:cNvSpPr/>
              <p:nvPr/>
            </p:nvSpPr>
            <p:spPr>
              <a:xfrm>
                <a:off x="9663544" y="7067548"/>
                <a:ext cx="6802583" cy="199505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vi-VN" sz="3200" dirty="0">
                    <a:solidFill>
                      <a:schemeClr val="tx1"/>
                    </a:solidFill>
                  </a:rPr>
                  <a:t>D. </a:t>
                </a:r>
                <a:r>
                  <a:rPr lang="vi-VN" sz="3200" dirty="0" err="1">
                    <a:solidFill>
                      <a:schemeClr val="tx1"/>
                    </a:solidFill>
                  </a:rPr>
                  <a:t>Là</a:t>
                </a:r>
                <a:r>
                  <a:rPr lang="vi-VN" sz="3200" dirty="0">
                    <a:solidFill>
                      <a:schemeClr val="tx1"/>
                    </a:solidFill>
                  </a:rPr>
                  <a:t> tên </a:t>
                </a:r>
                <a:r>
                  <a:rPr lang="vi-VN" sz="3200" dirty="0" err="1">
                    <a:solidFill>
                      <a:schemeClr val="tx1"/>
                    </a:solidFill>
                  </a:rPr>
                  <a:t>gọi</a:t>
                </a:r>
                <a:r>
                  <a:rPr lang="vi-VN" sz="3200" dirty="0">
                    <a:solidFill>
                      <a:schemeClr val="tx1"/>
                    </a:solidFill>
                  </a:rPr>
                  <a:t> </a:t>
                </a:r>
                <a:r>
                  <a:rPr lang="vi-VN" sz="3200" dirty="0" err="1">
                    <a:solidFill>
                      <a:schemeClr val="tx1"/>
                    </a:solidFill>
                  </a:rPr>
                  <a:t>khác</a:t>
                </a:r>
                <a:r>
                  <a:rPr lang="vi-VN" sz="3200" dirty="0">
                    <a:solidFill>
                      <a:schemeClr val="tx1"/>
                    </a:solidFill>
                  </a:rPr>
                  <a:t> </a:t>
                </a:r>
                <a:r>
                  <a:rPr lang="vi-VN" sz="3200" dirty="0" err="1">
                    <a:solidFill>
                      <a:schemeClr val="tx1"/>
                    </a:solidFill>
                  </a:rPr>
                  <a:t>của</a:t>
                </a:r>
                <a:r>
                  <a:rPr lang="vi-VN" sz="3200" dirty="0">
                    <a:solidFill>
                      <a:schemeClr val="tx1"/>
                    </a:solidFill>
                  </a:rPr>
                  <a:t> </a:t>
                </a:r>
                <a:r>
                  <a:rPr lang="vi-VN" sz="3200" dirty="0" err="1">
                    <a:solidFill>
                      <a:schemeClr val="tx1"/>
                    </a:solidFill>
                  </a:rPr>
                  <a:t>đại</a:t>
                </a:r>
                <a:r>
                  <a:rPr lang="vi-VN" sz="3200" dirty="0">
                    <a:solidFill>
                      <a:schemeClr val="tx1"/>
                    </a:solidFill>
                  </a:rPr>
                  <a:t> </a:t>
                </a:r>
                <a:r>
                  <a:rPr lang="vi-VN" sz="3200" dirty="0" err="1">
                    <a:solidFill>
                      <a:schemeClr val="tx1"/>
                    </a:solidFill>
                  </a:rPr>
                  <a:t>lượng</a:t>
                </a:r>
                <a:r>
                  <a:rPr lang="vi-VN" sz="3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vi-VN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1" name="Đáp án sai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3544" y="7067548"/>
                <a:ext cx="6802583" cy="1995053"/>
              </a:xfrm>
              <a:prstGeom prst="roundRect">
                <a:avLst/>
              </a:prstGeom>
              <a:blipFill rotWithShape="1">
                <a:blip r:embed="rId1"/>
                <a:stretch>
                  <a:fillRect l="-2" t="-32" r="8" b="26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5076643" y="5055951"/>
            <a:ext cx="1279569" cy="1113741"/>
          </a:xfrm>
          <a:prstGeom prst="rect">
            <a:avLst/>
          </a:prstGeom>
        </p:spPr>
      </p:pic>
      <p:pic>
        <p:nvPicPr>
          <p:cNvPr id="23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7229036" y="7497037"/>
            <a:ext cx="1275183" cy="1136072"/>
          </a:xfrm>
          <a:prstGeom prst="rect">
            <a:avLst/>
          </a:prstGeom>
        </p:spPr>
      </p:pic>
      <p:pic>
        <p:nvPicPr>
          <p:cNvPr id="24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5190943" y="7497037"/>
            <a:ext cx="1275183" cy="1136072"/>
          </a:xfrm>
          <a:prstGeom prst="rect">
            <a:avLst/>
          </a:prstGeom>
        </p:spPr>
      </p:pic>
      <p:pic>
        <p:nvPicPr>
          <p:cNvPr id="25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7229036" y="5022272"/>
            <a:ext cx="1275183" cy="1136072"/>
          </a:xfrm>
          <a:prstGeom prst="rect">
            <a:avLst/>
          </a:prstGeom>
        </p:spPr>
      </p:pic>
      <p:pic>
        <p:nvPicPr>
          <p:cNvPr id="26" name="Correct sound effect and wrong sound effect (mp3cut.net)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9663544" y="-955900"/>
            <a:ext cx="731045" cy="731045"/>
          </a:xfrm>
          <a:prstGeom prst="rect">
            <a:avLst/>
          </a:prstGeom>
        </p:spPr>
      </p:pic>
      <p:pic>
        <p:nvPicPr>
          <p:cNvPr id="27" name="Correct sound effect and wrong sound effect (mp3cut.net) (1)">
            <a:hlinkClick r:id="" action="ppaction://media"/>
          </p:cNvPr>
          <p:cNvPicPr>
            <a:picLocks noChangeAspect="1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653838" y="-955900"/>
            <a:ext cx="731045" cy="731045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-204072" y="9113001"/>
            <a:ext cx="18696144" cy="1173999"/>
          </a:xfrm>
          <a:prstGeom prst="rect">
            <a:avLst/>
          </a:prstGeom>
          <a:solidFill>
            <a:srgbClr val="FFD68B">
              <a:alpha val="52157"/>
            </a:srgbClr>
          </a:solidFill>
        </p:spPr>
        <p:txBody>
          <a:bodyPr/>
          <a:lstStyle/>
          <a:p>
            <a:pPr defTabSz="1371600"/>
            <a:endParaRPr lang="en-US" sz="27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Picture 1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100207" y="6906397"/>
            <a:ext cx="1803425" cy="30203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2" dur="835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6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99694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6" dur="862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6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99694"/>
                                      </p:to>
                                    </p:animClr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0" dur="862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6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99694"/>
                                      </p:to>
                                    </p:animClr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4" dur="862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6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9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audio>
              <p:cMediaNode vol="80000">
                <p:cTn id="8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  <p:audio>
              <p:cMediaNode vol="80000">
                <p:cTn id="8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  <p:bldLst>
      <p:bldP spid="17" grpId="0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âu hỏi"/>
          <p:cNvSpPr/>
          <p:nvPr/>
        </p:nvSpPr>
        <p:spPr>
          <a:xfrm>
            <a:off x="1821872" y="1179369"/>
            <a:ext cx="14644256" cy="299258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4000" b="1" dirty="0">
                <a:solidFill>
                  <a:schemeClr val="tx1"/>
                </a:solidFill>
              </a:rPr>
              <a:t>Câu 3: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Chọn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đáp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án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đúng</a:t>
            </a:r>
            <a:r>
              <a:rPr lang="vi-VN" sz="4000" dirty="0">
                <a:solidFill>
                  <a:schemeClr val="tx1"/>
                </a:solidFill>
              </a:rPr>
              <a:t>.</a:t>
            </a:r>
            <a:endParaRPr lang="en-US" sz="4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Đáp án đúng"/>
              <p:cNvSpPr/>
              <p:nvPr/>
            </p:nvSpPr>
            <p:spPr>
              <a:xfrm>
                <a:off x="1821875" y="7081402"/>
                <a:ext cx="6802583" cy="199505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r>
                  <a:rPr lang="vi-VN" sz="3600" dirty="0">
                    <a:solidFill>
                      <a:schemeClr val="tx1"/>
                    </a:solidFill>
                  </a:rPr>
                  <a:t>B. Khi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vi-VN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vi-VN" sz="3600" dirty="0">
                    <a:solidFill>
                      <a:schemeClr val="tx1"/>
                    </a:solidFill>
                  </a:rPr>
                  <a:t> </a:t>
                </a:r>
                <a:r>
                  <a:rPr lang="vi-VN" sz="3600" dirty="0" err="1">
                    <a:solidFill>
                      <a:schemeClr val="tx1"/>
                    </a:solidFill>
                  </a:rPr>
                  <a:t>cùng</a:t>
                </a:r>
                <a:r>
                  <a:rPr lang="vi-VN" sz="3600" dirty="0">
                    <a:solidFill>
                      <a:schemeClr val="tx1"/>
                    </a:solidFill>
                  </a:rPr>
                  <a:t> </a:t>
                </a:r>
                <a:r>
                  <a:rPr lang="vi-VN" sz="3600" dirty="0" err="1">
                    <a:solidFill>
                      <a:schemeClr val="tx1"/>
                    </a:solidFill>
                  </a:rPr>
                  <a:t>chiều</a:t>
                </a:r>
                <a:r>
                  <a:rPr lang="vi-VN" sz="3600" dirty="0">
                    <a:solidFill>
                      <a:schemeClr val="tx1"/>
                    </a:solidFill>
                  </a:rPr>
                  <a:t> </a:t>
                </a:r>
                <a:r>
                  <a:rPr lang="vi-VN" sz="3600" dirty="0" err="1">
                    <a:solidFill>
                      <a:schemeClr val="tx1"/>
                    </a:solidFill>
                  </a:rPr>
                  <a:t>với</a:t>
                </a:r>
                <a:r>
                  <a:rPr lang="vi-VN" sz="36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vi-VN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vi-VN" sz="3600" dirty="0">
                    <a:solidFill>
                      <a:schemeClr val="tx1"/>
                    </a:solidFill>
                  </a:rPr>
                  <a:t> </a:t>
                </a:r>
                <a:r>
                  <a:rPr lang="vi-VN" sz="3600" dirty="0" err="1">
                    <a:solidFill>
                      <a:schemeClr val="tx1"/>
                    </a:solidFill>
                  </a:rPr>
                  <a:t>thì</a:t>
                </a:r>
                <a:r>
                  <a:rPr lang="vi-VN" sz="3600" dirty="0">
                    <a:solidFill>
                      <a:schemeClr val="tx1"/>
                    </a:solidFill>
                  </a:rPr>
                  <a:t> </a:t>
                </a:r>
                <a:r>
                  <a:rPr lang="vi-VN" sz="3600" dirty="0" err="1">
                    <a:solidFill>
                      <a:schemeClr val="tx1"/>
                    </a:solidFill>
                  </a:rPr>
                  <a:t>chuyển</a:t>
                </a:r>
                <a:r>
                  <a:rPr lang="vi-VN" sz="3600" dirty="0">
                    <a:solidFill>
                      <a:schemeClr val="tx1"/>
                    </a:solidFill>
                  </a:rPr>
                  <a:t> </a:t>
                </a:r>
                <a:r>
                  <a:rPr lang="vi-VN" sz="3600" dirty="0" err="1">
                    <a:solidFill>
                      <a:schemeClr val="tx1"/>
                    </a:solidFill>
                  </a:rPr>
                  <a:t>động</a:t>
                </a:r>
                <a:r>
                  <a:rPr lang="vi-VN" sz="3600" dirty="0">
                    <a:solidFill>
                      <a:schemeClr val="tx1"/>
                    </a:solidFill>
                  </a:rPr>
                  <a:t> </a:t>
                </a:r>
                <a:r>
                  <a:rPr lang="vi-VN" sz="3600" dirty="0" err="1">
                    <a:solidFill>
                      <a:schemeClr val="tx1"/>
                    </a:solidFill>
                  </a:rPr>
                  <a:t>là</a:t>
                </a:r>
                <a:r>
                  <a:rPr lang="vi-VN" sz="3600" dirty="0">
                    <a:solidFill>
                      <a:schemeClr val="tx1"/>
                    </a:solidFill>
                  </a:rPr>
                  <a:t> nhanh </a:t>
                </a:r>
                <a:r>
                  <a:rPr lang="vi-VN" sz="3600" dirty="0" err="1">
                    <a:solidFill>
                      <a:schemeClr val="tx1"/>
                    </a:solidFill>
                  </a:rPr>
                  <a:t>dần</a:t>
                </a:r>
                <a:r>
                  <a:rPr lang="vi-VN" sz="3600" dirty="0">
                    <a:solidFill>
                      <a:schemeClr val="tx1"/>
                    </a:solidFill>
                  </a:rPr>
                  <a:t>. </a:t>
                </a:r>
                <a:endParaRPr 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8" name="Đáp án đúng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1875" y="7081402"/>
                <a:ext cx="6802583" cy="1995053"/>
              </a:xfrm>
              <a:prstGeom prst="roundRect">
                <a:avLst/>
              </a:prstGeom>
              <a:blipFill rotWithShape="1">
                <a:blip r:embed="rId1"/>
                <a:stretch>
                  <a:fillRect l="-1" t="-26" r="8" b="20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Đáp án sai 1"/>
              <p:cNvSpPr/>
              <p:nvPr/>
            </p:nvSpPr>
            <p:spPr>
              <a:xfrm>
                <a:off x="1821872" y="4629151"/>
                <a:ext cx="6802583" cy="199505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r>
                  <a:rPr lang="vi-VN" sz="3600" dirty="0">
                    <a:solidFill>
                      <a:schemeClr val="tx1"/>
                    </a:solidFill>
                  </a:rPr>
                  <a:t>A. Khi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vi-VN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vi-VN" sz="3600" dirty="0">
                    <a:solidFill>
                      <a:schemeClr val="tx1"/>
                    </a:solidFill>
                  </a:rPr>
                  <a:t> </a:t>
                </a:r>
                <a:r>
                  <a:rPr lang="vi-VN" sz="3600" dirty="0" err="1">
                    <a:solidFill>
                      <a:schemeClr val="tx1"/>
                    </a:solidFill>
                  </a:rPr>
                  <a:t>cùng</a:t>
                </a:r>
                <a:r>
                  <a:rPr lang="vi-VN" sz="3600" dirty="0">
                    <a:solidFill>
                      <a:schemeClr val="tx1"/>
                    </a:solidFill>
                  </a:rPr>
                  <a:t> </a:t>
                </a:r>
                <a:r>
                  <a:rPr lang="vi-VN" sz="3600" dirty="0" err="1">
                    <a:solidFill>
                      <a:schemeClr val="tx1"/>
                    </a:solidFill>
                  </a:rPr>
                  <a:t>chiều</a:t>
                </a:r>
                <a:r>
                  <a:rPr lang="vi-VN" sz="3600" dirty="0">
                    <a:solidFill>
                      <a:schemeClr val="tx1"/>
                    </a:solidFill>
                  </a:rPr>
                  <a:t> </a:t>
                </a:r>
                <a:r>
                  <a:rPr lang="vi-VN" sz="3600" dirty="0" err="1">
                    <a:solidFill>
                      <a:schemeClr val="tx1"/>
                    </a:solidFill>
                  </a:rPr>
                  <a:t>với</a:t>
                </a:r>
                <a:r>
                  <a:rPr lang="vi-VN" sz="36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vi-VN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vi-VN" sz="3600" dirty="0">
                    <a:solidFill>
                      <a:schemeClr val="tx1"/>
                    </a:solidFill>
                  </a:rPr>
                  <a:t> </a:t>
                </a:r>
                <a:r>
                  <a:rPr lang="vi-VN" sz="3600" dirty="0" err="1">
                    <a:solidFill>
                      <a:schemeClr val="tx1"/>
                    </a:solidFill>
                  </a:rPr>
                  <a:t>thì</a:t>
                </a:r>
                <a:r>
                  <a:rPr lang="vi-VN" sz="3600" dirty="0">
                    <a:solidFill>
                      <a:schemeClr val="tx1"/>
                    </a:solidFill>
                  </a:rPr>
                  <a:t> </a:t>
                </a:r>
                <a:r>
                  <a:rPr lang="vi-VN" sz="3600" dirty="0" err="1">
                    <a:solidFill>
                      <a:schemeClr val="tx1"/>
                    </a:solidFill>
                  </a:rPr>
                  <a:t>chuyển</a:t>
                </a:r>
                <a:r>
                  <a:rPr lang="vi-VN" sz="3600" dirty="0">
                    <a:solidFill>
                      <a:schemeClr val="tx1"/>
                    </a:solidFill>
                  </a:rPr>
                  <a:t> </a:t>
                </a:r>
                <a:r>
                  <a:rPr lang="vi-VN" sz="3600" dirty="0" err="1">
                    <a:solidFill>
                      <a:schemeClr val="tx1"/>
                    </a:solidFill>
                  </a:rPr>
                  <a:t>động</a:t>
                </a:r>
                <a:r>
                  <a:rPr lang="vi-VN" sz="3600" dirty="0">
                    <a:solidFill>
                      <a:schemeClr val="tx1"/>
                    </a:solidFill>
                  </a:rPr>
                  <a:t> </a:t>
                </a:r>
                <a:r>
                  <a:rPr lang="vi-VN" sz="3600" dirty="0" err="1">
                    <a:solidFill>
                      <a:schemeClr val="tx1"/>
                    </a:solidFill>
                  </a:rPr>
                  <a:t>là</a:t>
                </a:r>
                <a:r>
                  <a:rPr lang="vi-VN" sz="3600" dirty="0">
                    <a:solidFill>
                      <a:schemeClr val="tx1"/>
                    </a:solidFill>
                  </a:rPr>
                  <a:t> </a:t>
                </a:r>
                <a:r>
                  <a:rPr lang="vi-VN" sz="3600" dirty="0" err="1">
                    <a:solidFill>
                      <a:schemeClr val="tx1"/>
                    </a:solidFill>
                  </a:rPr>
                  <a:t>chậm</a:t>
                </a:r>
                <a:r>
                  <a:rPr lang="vi-VN" sz="3600" dirty="0">
                    <a:solidFill>
                      <a:schemeClr val="tx1"/>
                    </a:solidFill>
                  </a:rPr>
                  <a:t> </a:t>
                </a:r>
                <a:r>
                  <a:rPr lang="vi-VN" sz="3600" dirty="0" err="1">
                    <a:solidFill>
                      <a:schemeClr val="tx1"/>
                    </a:solidFill>
                  </a:rPr>
                  <a:t>dần</a:t>
                </a:r>
                <a:r>
                  <a:rPr lang="vi-VN" sz="3600" dirty="0">
                    <a:solidFill>
                      <a:schemeClr val="tx1"/>
                    </a:solidFill>
                  </a:rPr>
                  <a:t>.</a:t>
                </a:r>
                <a:endParaRPr lang="vi-VN" sz="3600" noProof="1">
                  <a:solidFill>
                    <a:schemeClr val="tx1"/>
                  </a:solidFill>
                  <a:latin typeface="Arial" panose="020B0704020202020204" pitchFamily="34" charset="0"/>
                  <a:cs typeface="Arial" panose="020B0704020202020204" pitchFamily="34" charset="0"/>
                </a:endParaRPr>
              </a:p>
            </p:txBody>
          </p:sp>
        </mc:Choice>
        <mc:Fallback>
          <p:sp>
            <p:nvSpPr>
              <p:cNvPr id="19" name="Đáp án sai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1872" y="4629151"/>
                <a:ext cx="6802583" cy="1995053"/>
              </a:xfrm>
              <a:prstGeom prst="roundRect">
                <a:avLst/>
              </a:prstGeom>
              <a:blipFill rotWithShape="1">
                <a:blip r:embed="rId2"/>
                <a:stretch>
                  <a:fillRect l="-1" r="8" b="26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Đáp án sai 2"/>
              <p:cNvSpPr/>
              <p:nvPr/>
            </p:nvSpPr>
            <p:spPr>
              <a:xfrm>
                <a:off x="9663545" y="4629151"/>
                <a:ext cx="6802583" cy="199505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r>
                  <a:rPr lang="vi-VN" sz="3600" dirty="0">
                    <a:solidFill>
                      <a:schemeClr val="tx1"/>
                    </a:solidFill>
                  </a:rPr>
                  <a:t>C. Khi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vi-VN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vi-VN" sz="3600" dirty="0">
                    <a:solidFill>
                      <a:schemeClr val="tx1"/>
                    </a:solidFill>
                  </a:rPr>
                  <a:t> </a:t>
                </a:r>
                <a:r>
                  <a:rPr lang="vi-VN" sz="3600" dirty="0" err="1">
                    <a:solidFill>
                      <a:schemeClr val="tx1"/>
                    </a:solidFill>
                  </a:rPr>
                  <a:t>ngược</a:t>
                </a:r>
                <a:r>
                  <a:rPr lang="vi-VN" sz="3600" dirty="0">
                    <a:solidFill>
                      <a:schemeClr val="tx1"/>
                    </a:solidFill>
                  </a:rPr>
                  <a:t> </a:t>
                </a:r>
                <a:r>
                  <a:rPr lang="vi-VN" sz="3600" dirty="0" err="1">
                    <a:solidFill>
                      <a:schemeClr val="tx1"/>
                    </a:solidFill>
                  </a:rPr>
                  <a:t>chiều</a:t>
                </a:r>
                <a:r>
                  <a:rPr lang="vi-VN" sz="3600" dirty="0">
                    <a:solidFill>
                      <a:schemeClr val="tx1"/>
                    </a:solidFill>
                  </a:rPr>
                  <a:t> </a:t>
                </a:r>
                <a:r>
                  <a:rPr lang="vi-VN" sz="3600" dirty="0" err="1">
                    <a:solidFill>
                      <a:schemeClr val="tx1"/>
                    </a:solidFill>
                  </a:rPr>
                  <a:t>với</a:t>
                </a:r>
                <a:r>
                  <a:rPr lang="vi-VN" sz="36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vi-VN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vi-VN" sz="3600" dirty="0">
                    <a:solidFill>
                      <a:schemeClr val="tx1"/>
                    </a:solidFill>
                  </a:rPr>
                  <a:t> </a:t>
                </a:r>
                <a:r>
                  <a:rPr lang="vi-VN" sz="3600" dirty="0" err="1">
                    <a:solidFill>
                      <a:schemeClr val="tx1"/>
                    </a:solidFill>
                  </a:rPr>
                  <a:t>thì</a:t>
                </a:r>
                <a:r>
                  <a:rPr lang="vi-VN" sz="3600" dirty="0">
                    <a:solidFill>
                      <a:schemeClr val="tx1"/>
                    </a:solidFill>
                  </a:rPr>
                  <a:t> </a:t>
                </a:r>
                <a:r>
                  <a:rPr lang="vi-VN" sz="3600" dirty="0" err="1">
                    <a:solidFill>
                      <a:schemeClr val="tx1"/>
                    </a:solidFill>
                  </a:rPr>
                  <a:t>chuyển</a:t>
                </a:r>
                <a:r>
                  <a:rPr lang="vi-VN" sz="3600" dirty="0">
                    <a:solidFill>
                      <a:schemeClr val="tx1"/>
                    </a:solidFill>
                  </a:rPr>
                  <a:t> </a:t>
                </a:r>
                <a:r>
                  <a:rPr lang="vi-VN" sz="3600" dirty="0" err="1">
                    <a:solidFill>
                      <a:schemeClr val="tx1"/>
                    </a:solidFill>
                  </a:rPr>
                  <a:t>động</a:t>
                </a:r>
                <a:r>
                  <a:rPr lang="vi-VN" sz="3600" dirty="0">
                    <a:solidFill>
                      <a:schemeClr val="tx1"/>
                    </a:solidFill>
                  </a:rPr>
                  <a:t> </a:t>
                </a:r>
                <a:r>
                  <a:rPr lang="vi-VN" sz="3600" dirty="0" err="1">
                    <a:solidFill>
                      <a:schemeClr val="tx1"/>
                    </a:solidFill>
                  </a:rPr>
                  <a:t>là</a:t>
                </a:r>
                <a:r>
                  <a:rPr lang="vi-VN" sz="3600" dirty="0">
                    <a:solidFill>
                      <a:schemeClr val="tx1"/>
                    </a:solidFill>
                  </a:rPr>
                  <a:t> nhanh </a:t>
                </a:r>
                <a:r>
                  <a:rPr lang="vi-VN" sz="3600" dirty="0" err="1">
                    <a:solidFill>
                      <a:schemeClr val="tx1"/>
                    </a:solidFill>
                  </a:rPr>
                  <a:t>dần</a:t>
                </a:r>
                <a:r>
                  <a:rPr lang="vi-VN" sz="3600" dirty="0">
                    <a:solidFill>
                      <a:schemeClr val="tx1"/>
                    </a:solidFill>
                  </a:rPr>
                  <a:t>.</a:t>
                </a:r>
                <a:endParaRPr 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0" name="Đáp án sai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3545" y="4629151"/>
                <a:ext cx="6802583" cy="1995053"/>
              </a:xfrm>
              <a:prstGeom prst="roundRect">
                <a:avLst/>
              </a:prstGeom>
              <a:blipFill rotWithShape="1">
                <a:blip r:embed="rId3"/>
                <a:stretch>
                  <a:fillRect l="-2" r="8" b="26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Đáp án sai 3"/>
              <p:cNvSpPr/>
              <p:nvPr/>
            </p:nvSpPr>
            <p:spPr>
              <a:xfrm>
                <a:off x="9663544" y="7081402"/>
                <a:ext cx="6802583" cy="199505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r>
                  <a:rPr lang="vi-VN" sz="3600" dirty="0">
                    <a:solidFill>
                      <a:schemeClr val="tx1"/>
                    </a:solidFill>
                  </a:rPr>
                  <a:t>D. Khi </a:t>
                </a:r>
                <a14:m>
                  <m:oMath xmlns:m="http://schemas.openxmlformats.org/officeDocument/2006/math">
                    <m:r>
                      <a:rPr lang="vi-VN" sz="3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vi-VN" sz="3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vi-VN" sz="3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vi-VN" sz="3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&gt; </m:t>
                    </m:r>
                    <m:r>
                      <a:rPr lang="vi-VN" sz="3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vi-VN" sz="3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vi-VN" sz="3600" dirty="0" err="1">
                    <a:solidFill>
                      <a:schemeClr val="tx1"/>
                    </a:solidFill>
                  </a:rPr>
                  <a:t>thì</a:t>
                </a:r>
                <a:r>
                  <a:rPr lang="vi-VN" sz="3600" dirty="0">
                    <a:solidFill>
                      <a:schemeClr val="tx1"/>
                    </a:solidFill>
                  </a:rPr>
                  <a:t> </a:t>
                </a:r>
                <a:r>
                  <a:rPr lang="vi-VN" sz="3600" dirty="0" err="1">
                    <a:solidFill>
                      <a:schemeClr val="tx1"/>
                    </a:solidFill>
                  </a:rPr>
                  <a:t>chuyển</a:t>
                </a:r>
                <a:r>
                  <a:rPr lang="vi-VN" sz="3600" dirty="0">
                    <a:solidFill>
                      <a:schemeClr val="tx1"/>
                    </a:solidFill>
                  </a:rPr>
                  <a:t> </a:t>
                </a:r>
                <a:r>
                  <a:rPr lang="vi-VN" sz="3600" dirty="0" err="1">
                    <a:solidFill>
                      <a:schemeClr val="tx1"/>
                    </a:solidFill>
                  </a:rPr>
                  <a:t>động</a:t>
                </a:r>
                <a:r>
                  <a:rPr lang="vi-VN" sz="3600" dirty="0">
                    <a:solidFill>
                      <a:schemeClr val="tx1"/>
                    </a:solidFill>
                  </a:rPr>
                  <a:t> </a:t>
                </a:r>
                <a:r>
                  <a:rPr lang="vi-VN" sz="3600" dirty="0" err="1">
                    <a:solidFill>
                      <a:schemeClr val="tx1"/>
                    </a:solidFill>
                  </a:rPr>
                  <a:t>là</a:t>
                </a:r>
                <a:r>
                  <a:rPr lang="vi-VN" sz="3600" dirty="0">
                    <a:solidFill>
                      <a:schemeClr val="tx1"/>
                    </a:solidFill>
                  </a:rPr>
                  <a:t> </a:t>
                </a:r>
                <a:r>
                  <a:rPr lang="vi-VN" sz="3600" dirty="0" err="1">
                    <a:solidFill>
                      <a:schemeClr val="tx1"/>
                    </a:solidFill>
                  </a:rPr>
                  <a:t>chậm</a:t>
                </a:r>
                <a:r>
                  <a:rPr lang="vi-VN" sz="3600" dirty="0">
                    <a:solidFill>
                      <a:schemeClr val="tx1"/>
                    </a:solidFill>
                  </a:rPr>
                  <a:t> </a:t>
                </a:r>
                <a:r>
                  <a:rPr lang="vi-VN" sz="3600" dirty="0" err="1">
                    <a:solidFill>
                      <a:schemeClr val="tx1"/>
                    </a:solidFill>
                  </a:rPr>
                  <a:t>dần</a:t>
                </a:r>
                <a:r>
                  <a:rPr lang="vi-VN" sz="3600" dirty="0">
                    <a:solidFill>
                      <a:schemeClr val="tx1"/>
                    </a:solidFill>
                  </a:rPr>
                  <a:t>.</a:t>
                </a:r>
                <a:endParaRPr 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1" name="Đáp án sai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3544" y="7081402"/>
                <a:ext cx="6802583" cy="1995053"/>
              </a:xfrm>
              <a:prstGeom prst="roundRect">
                <a:avLst/>
              </a:prstGeom>
              <a:blipFill rotWithShape="1">
                <a:blip r:embed="rId4"/>
                <a:stretch>
                  <a:fillRect l="-2" t="-26" r="8" b="20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7224650" y="7522056"/>
            <a:ext cx="1279569" cy="1113741"/>
          </a:xfrm>
          <a:prstGeom prst="rect">
            <a:avLst/>
          </a:prstGeom>
        </p:spPr>
      </p:pic>
      <p:pic>
        <p:nvPicPr>
          <p:cNvPr id="23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15190943" y="5036126"/>
            <a:ext cx="1275183" cy="1136072"/>
          </a:xfrm>
          <a:prstGeom prst="rect">
            <a:avLst/>
          </a:prstGeom>
        </p:spPr>
      </p:pic>
      <p:pic>
        <p:nvPicPr>
          <p:cNvPr id="24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15190943" y="7510891"/>
            <a:ext cx="1275183" cy="1136072"/>
          </a:xfrm>
          <a:prstGeom prst="rect">
            <a:avLst/>
          </a:prstGeom>
        </p:spPr>
      </p:pic>
      <p:pic>
        <p:nvPicPr>
          <p:cNvPr id="25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7229036" y="5036126"/>
            <a:ext cx="1275183" cy="1136072"/>
          </a:xfrm>
          <a:prstGeom prst="rect">
            <a:avLst/>
          </a:prstGeom>
        </p:spPr>
      </p:pic>
      <p:pic>
        <p:nvPicPr>
          <p:cNvPr id="26" name="Correct sound effect and wrong sound effect (mp3cut.net)">
            <a:hlinkClick r:id="" action="ppaction://media"/>
          </p:cNvPr>
          <p:cNvPicPr>
            <a:picLocks noChangeAspect="1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9663544" y="-955900"/>
            <a:ext cx="731045" cy="731045"/>
          </a:xfrm>
          <a:prstGeom prst="rect">
            <a:avLst/>
          </a:prstGeom>
        </p:spPr>
      </p:pic>
      <p:pic>
        <p:nvPicPr>
          <p:cNvPr id="27" name="Correct sound effect and wrong sound effect (mp3cut.net) (1)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1653838" y="-955900"/>
            <a:ext cx="731045" cy="731045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-204072" y="9113001"/>
            <a:ext cx="18696144" cy="1173999"/>
          </a:xfrm>
          <a:prstGeom prst="rect">
            <a:avLst/>
          </a:prstGeom>
          <a:solidFill>
            <a:srgbClr val="FFD68B">
              <a:alpha val="52157"/>
            </a:srgbClr>
          </a:solidFill>
        </p:spPr>
        <p:txBody>
          <a:bodyPr/>
          <a:lstStyle/>
          <a:p>
            <a:pPr defTabSz="1371600"/>
            <a:endParaRPr lang="en-US" sz="27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Picture 19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100207" y="6906397"/>
            <a:ext cx="1803425" cy="30203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2" dur="835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6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99694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6" dur="862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6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99694"/>
                                      </p:to>
                                    </p:animClr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0" dur="862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6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99694"/>
                                      </p:to>
                                    </p:animClr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4" dur="862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6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9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audio>
              <p:cMediaNode vol="80000">
                <p:cTn id="8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  <p:audio>
              <p:cMediaNode vol="80000">
                <p:cTn id="8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  <p:bldLst>
      <p:bldP spid="17" grpId="0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âu hỏi"/>
          <p:cNvSpPr/>
          <p:nvPr/>
        </p:nvSpPr>
        <p:spPr>
          <a:xfrm>
            <a:off x="1821872" y="1165515"/>
            <a:ext cx="14644256" cy="299258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4800" b="1" dirty="0">
                <a:solidFill>
                  <a:schemeClr val="tx1"/>
                </a:solidFill>
              </a:rPr>
              <a:t>Câu 4:</a:t>
            </a:r>
            <a:r>
              <a:rPr lang="vi-VN" sz="4800" dirty="0">
                <a:solidFill>
                  <a:schemeClr val="tx1"/>
                </a:solidFill>
              </a:rPr>
              <a:t> Đơn </a:t>
            </a:r>
            <a:r>
              <a:rPr lang="vi-VN" sz="4800" dirty="0" err="1">
                <a:solidFill>
                  <a:schemeClr val="tx1"/>
                </a:solidFill>
              </a:rPr>
              <a:t>vị</a:t>
            </a:r>
            <a:r>
              <a:rPr lang="vi-VN" sz="4800" dirty="0">
                <a:solidFill>
                  <a:schemeClr val="tx1"/>
                </a:solidFill>
              </a:rPr>
              <a:t> đo </a:t>
            </a:r>
            <a:r>
              <a:rPr lang="vi-VN" sz="4800" dirty="0" err="1">
                <a:solidFill>
                  <a:schemeClr val="tx1"/>
                </a:solidFill>
              </a:rPr>
              <a:t>của</a:t>
            </a:r>
            <a:r>
              <a:rPr lang="vi-VN" sz="4800" dirty="0">
                <a:solidFill>
                  <a:schemeClr val="tx1"/>
                </a:solidFill>
              </a:rPr>
              <a:t> gia </a:t>
            </a:r>
            <a:r>
              <a:rPr lang="vi-VN" sz="4800" dirty="0" err="1">
                <a:solidFill>
                  <a:schemeClr val="tx1"/>
                </a:solidFill>
              </a:rPr>
              <a:t>tốc</a:t>
            </a:r>
            <a:r>
              <a:rPr lang="vi-VN" sz="4800" dirty="0">
                <a:solidFill>
                  <a:schemeClr val="tx1"/>
                </a:solidFill>
              </a:rPr>
              <a:t> </a:t>
            </a:r>
            <a:r>
              <a:rPr lang="vi-VN" sz="4800" dirty="0" err="1">
                <a:solidFill>
                  <a:schemeClr val="tx1"/>
                </a:solidFill>
              </a:rPr>
              <a:t>là</a:t>
            </a:r>
            <a:r>
              <a:rPr lang="vi-VN" sz="4800" dirty="0">
                <a:solidFill>
                  <a:schemeClr val="tx1"/>
                </a:solidFill>
              </a:rPr>
              <a:t>:</a:t>
            </a:r>
            <a:endParaRPr lang="en-US" sz="4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Đáp án đúng"/>
              <p:cNvSpPr/>
              <p:nvPr/>
            </p:nvSpPr>
            <p:spPr>
              <a:xfrm>
                <a:off x="9663544" y="7076198"/>
                <a:ext cx="6802583" cy="199505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800" noProof="1">
                    <a:solidFill>
                      <a:schemeClr val="tx1"/>
                    </a:solidFill>
                    <a:latin typeface="Arial" panose="020B0704020202020204" pitchFamily="34" charset="0"/>
                    <a:cs typeface="Arial" panose="020B0704020202020204" pitchFamily="34" charset="0"/>
                  </a:rPr>
                  <a:t>D. </a:t>
                </a:r>
                <a14:m>
                  <m:oMath xmlns:m="http://schemas.openxmlformats.org/officeDocument/2006/math">
                    <m:r>
                      <a:rPr lang="en-US" sz="4800" b="0" i="1" noProof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704020202020204" pitchFamily="34" charset="0"/>
                      </a:rPr>
                      <m:t>𝑚</m:t>
                    </m:r>
                    <m:r>
                      <a:rPr lang="en-US" sz="4800" b="0" i="1" noProof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704020202020204" pitchFamily="34" charset="0"/>
                      </a:rPr>
                      <m:t>/</m:t>
                    </m:r>
                    <m:sSup>
                      <m:sSupPr>
                        <m:ctrlPr>
                          <a:rPr lang="en-US" sz="4800" b="0" i="1" noProof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704020202020204" pitchFamily="34" charset="0"/>
                          </a:rPr>
                        </m:ctrlPr>
                      </m:sSupPr>
                      <m:e>
                        <m:r>
                          <a:rPr lang="en-US" sz="4800" b="0" i="1" noProof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704020202020204" pitchFamily="34" charset="0"/>
                          </a:rPr>
                          <m:t>𝑠</m:t>
                        </m:r>
                      </m:e>
                      <m:sup>
                        <m:r>
                          <a:rPr lang="en-US" sz="4800" b="0" i="1" noProof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7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vi-VN" sz="4800" noProof="1">
                  <a:solidFill>
                    <a:schemeClr val="tx1"/>
                  </a:solidFill>
                  <a:latin typeface="Arial" panose="020B0704020202020204" pitchFamily="34" charset="0"/>
                  <a:cs typeface="Arial" panose="020B0704020202020204" pitchFamily="34" charset="0"/>
                </a:endParaRPr>
              </a:p>
            </p:txBody>
          </p:sp>
        </mc:Choice>
        <mc:Fallback>
          <p:sp>
            <p:nvSpPr>
              <p:cNvPr id="29" name="Đáp án đúng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3544" y="7076198"/>
                <a:ext cx="6802583" cy="1995053"/>
              </a:xfrm>
              <a:prstGeom prst="roundRect">
                <a:avLst/>
              </a:prstGeom>
              <a:blipFill rotWithShape="1">
                <a:blip r:embed="rId1"/>
                <a:stretch>
                  <a:fillRect l="-2" t="-20" r="8" b="14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Đáp án sai 1"/>
              <p:cNvSpPr/>
              <p:nvPr/>
            </p:nvSpPr>
            <p:spPr>
              <a:xfrm>
                <a:off x="1821872" y="4615297"/>
                <a:ext cx="6802583" cy="199505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800" noProof="1">
                    <a:solidFill>
                      <a:schemeClr val="tx1"/>
                    </a:solidFill>
                    <a:latin typeface="Arial" panose="020B0704020202020204" pitchFamily="34" charset="0"/>
                    <a:cs typeface="Arial" panose="020B0704020202020204" pitchFamily="34" charset="0"/>
                  </a:rPr>
                  <a:t>A. </a:t>
                </a:r>
                <a14:m>
                  <m:oMath xmlns:m="http://schemas.openxmlformats.org/officeDocument/2006/math">
                    <m:r>
                      <a:rPr lang="en-US" sz="4800" i="1" noProof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704020202020204" pitchFamily="34" charset="0"/>
                      </a:rPr>
                      <m:t>𝑚</m:t>
                    </m:r>
                    <m:r>
                      <a:rPr lang="en-US" sz="4800" i="1" noProof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704020202020204" pitchFamily="34" charset="0"/>
                      </a:rPr>
                      <m:t>/</m:t>
                    </m:r>
                    <m:r>
                      <a:rPr lang="en-US" sz="4800" i="1" noProof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704020202020204" pitchFamily="34" charset="0"/>
                      </a:rPr>
                      <m:t>𝑠</m:t>
                    </m:r>
                  </m:oMath>
                </a14:m>
                <a:endParaRPr lang="vi-VN" sz="4800" noProof="1">
                  <a:solidFill>
                    <a:schemeClr val="tx1"/>
                  </a:solidFill>
                  <a:latin typeface="Arial" panose="020B0704020202020204" pitchFamily="34" charset="0"/>
                  <a:cs typeface="Arial" panose="020B0704020202020204" pitchFamily="34" charset="0"/>
                </a:endParaRPr>
              </a:p>
            </p:txBody>
          </p:sp>
        </mc:Choice>
        <mc:Fallback>
          <p:sp>
            <p:nvSpPr>
              <p:cNvPr id="30" name="Đáp án sai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1872" y="4615297"/>
                <a:ext cx="6802583" cy="1995053"/>
              </a:xfrm>
              <a:prstGeom prst="roundRect">
                <a:avLst/>
              </a:prstGeom>
              <a:blipFill rotWithShape="1">
                <a:blip r:embed="rId2"/>
                <a:stretch>
                  <a:fillRect l="-1" t="-6" r="8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Đáp án sai 2"/>
              <p:cNvSpPr/>
              <p:nvPr/>
            </p:nvSpPr>
            <p:spPr>
              <a:xfrm>
                <a:off x="1821872" y="7076198"/>
                <a:ext cx="6802583" cy="199505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800" noProof="1">
                    <a:solidFill>
                      <a:schemeClr val="tx1"/>
                    </a:solidFill>
                    <a:latin typeface="Arial" panose="020B0704020202020204" pitchFamily="34" charset="0"/>
                    <a:cs typeface="Arial" panose="020B0704020202020204" pitchFamily="34" charset="0"/>
                  </a:rPr>
                  <a:t>B.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800" i="1" noProof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704020202020204" pitchFamily="34" charset="0"/>
                          </a:rPr>
                        </m:ctrlPr>
                      </m:sSupPr>
                      <m:e>
                        <m:r>
                          <a:rPr lang="en-US" sz="4800" b="0" i="1" noProof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704020202020204" pitchFamily="34" charset="0"/>
                          </a:rPr>
                          <m:t>𝑠</m:t>
                        </m:r>
                      </m:e>
                      <m:sup>
                        <m:r>
                          <a:rPr lang="en-US" sz="4800" b="0" i="1" noProof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704020202020204" pitchFamily="34" charset="0"/>
                          </a:rPr>
                          <m:t>2</m:t>
                        </m:r>
                      </m:sup>
                    </m:sSup>
                    <m:r>
                      <a:rPr lang="en-US" sz="4800" b="0" i="1" noProof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704020202020204" pitchFamily="34" charset="0"/>
                      </a:rPr>
                      <m:t>/</m:t>
                    </m:r>
                    <m:r>
                      <a:rPr lang="en-US" sz="4800" b="0" i="1" noProof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704020202020204" pitchFamily="34" charset="0"/>
                      </a:rPr>
                      <m:t>𝑚</m:t>
                    </m:r>
                  </m:oMath>
                </a14:m>
                <a:endParaRPr lang="vi-VN" sz="4800" noProof="1">
                  <a:solidFill>
                    <a:schemeClr val="tx1"/>
                  </a:solidFill>
                  <a:latin typeface="Arial" panose="020B0704020202020204" pitchFamily="34" charset="0"/>
                  <a:cs typeface="Arial" panose="020B0704020202020204" pitchFamily="34" charset="0"/>
                </a:endParaRPr>
              </a:p>
            </p:txBody>
          </p:sp>
        </mc:Choice>
        <mc:Fallback>
          <p:sp>
            <p:nvSpPr>
              <p:cNvPr id="31" name="Đáp án sai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1872" y="7076198"/>
                <a:ext cx="6802583" cy="1995053"/>
              </a:xfrm>
              <a:prstGeom prst="roundRect">
                <a:avLst/>
              </a:prstGeom>
              <a:blipFill rotWithShape="1">
                <a:blip r:embed="rId3"/>
                <a:stretch>
                  <a:fillRect l="-1" t="-20" r="8" b="14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Đáp án sai 3"/>
              <p:cNvSpPr/>
              <p:nvPr/>
            </p:nvSpPr>
            <p:spPr>
              <a:xfrm>
                <a:off x="9663544" y="4615295"/>
                <a:ext cx="6802583" cy="199505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800" noProof="1">
                    <a:solidFill>
                      <a:schemeClr val="tx1"/>
                    </a:solidFill>
                    <a:latin typeface="Arial" panose="020B0704020202020204" pitchFamily="34" charset="0"/>
                    <a:cs typeface="Arial" panose="020B0704020202020204" pitchFamily="34" charset="0"/>
                  </a:rPr>
                  <a:t>C. </a:t>
                </a:r>
                <a14:m>
                  <m:oMath xmlns:m="http://schemas.openxmlformats.org/officeDocument/2006/math">
                    <m:r>
                      <a:rPr lang="en-US" sz="4800" i="1" noProof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704020202020204" pitchFamily="34" charset="0"/>
                      </a:rPr>
                      <m:t>𝑠</m:t>
                    </m:r>
                    <m:r>
                      <a:rPr lang="en-US" sz="4800" i="1" noProof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704020202020204" pitchFamily="34" charset="0"/>
                      </a:rPr>
                      <m:t>/</m:t>
                    </m:r>
                    <m:r>
                      <a:rPr lang="en-US" sz="4800" i="1" noProof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704020202020204" pitchFamily="34" charset="0"/>
                      </a:rPr>
                      <m:t>𝑚</m:t>
                    </m:r>
                  </m:oMath>
                </a14:m>
                <a:endParaRPr lang="vi-VN" sz="4800" noProof="1">
                  <a:solidFill>
                    <a:schemeClr val="tx1"/>
                  </a:solidFill>
                  <a:latin typeface="Arial" panose="020B0704020202020204" pitchFamily="34" charset="0"/>
                  <a:cs typeface="Arial" panose="020B0704020202020204" pitchFamily="34" charset="0"/>
                </a:endParaRPr>
              </a:p>
            </p:txBody>
          </p:sp>
        </mc:Choice>
        <mc:Fallback>
          <p:sp>
            <p:nvSpPr>
              <p:cNvPr id="32" name="Đáp án sai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3544" y="4615295"/>
                <a:ext cx="6802583" cy="1995053"/>
              </a:xfrm>
              <a:prstGeom prst="roundRect">
                <a:avLst/>
              </a:prstGeom>
              <a:blipFill rotWithShape="1">
                <a:blip r:embed="rId4"/>
                <a:stretch>
                  <a:fillRect l="-2" t="-6" r="8" b="32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Correct sound effect and wrong sound effect (mp3cut.net)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9663544" y="-955900"/>
            <a:ext cx="731045" cy="731045"/>
          </a:xfrm>
          <a:prstGeom prst="rect">
            <a:avLst/>
          </a:prstGeom>
        </p:spPr>
      </p:pic>
      <p:pic>
        <p:nvPicPr>
          <p:cNvPr id="34" name="Picture 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15190943" y="7519367"/>
            <a:ext cx="1279569" cy="1113741"/>
          </a:xfrm>
          <a:prstGeom prst="rect">
            <a:avLst/>
          </a:prstGeom>
        </p:spPr>
      </p:pic>
      <p:pic>
        <p:nvPicPr>
          <p:cNvPr id="35" name="Picture 1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7229036" y="7497037"/>
            <a:ext cx="1275183" cy="1136072"/>
          </a:xfrm>
          <a:prstGeom prst="rect">
            <a:avLst/>
          </a:prstGeom>
        </p:spPr>
      </p:pic>
      <p:pic>
        <p:nvPicPr>
          <p:cNvPr id="36" name="Picture 1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15190943" y="5022271"/>
            <a:ext cx="1275183" cy="1136072"/>
          </a:xfrm>
          <a:prstGeom prst="rect">
            <a:avLst/>
          </a:prstGeom>
        </p:spPr>
      </p:pic>
      <p:pic>
        <p:nvPicPr>
          <p:cNvPr id="37" name="Picture 1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7229036" y="5022272"/>
            <a:ext cx="1275183" cy="1136072"/>
          </a:xfrm>
          <a:prstGeom prst="rect">
            <a:avLst/>
          </a:prstGeom>
        </p:spPr>
      </p:pic>
      <p:pic>
        <p:nvPicPr>
          <p:cNvPr id="38" name="Correct sound effect and wrong sound effect (mp3cut.net) (1)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653838" y="-955900"/>
            <a:ext cx="731045" cy="731045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-204072" y="9113001"/>
            <a:ext cx="18696144" cy="1173999"/>
          </a:xfrm>
          <a:prstGeom prst="rect">
            <a:avLst/>
          </a:prstGeom>
          <a:solidFill>
            <a:srgbClr val="FFD68B">
              <a:alpha val="52157"/>
            </a:srgbClr>
          </a:solidFill>
        </p:spPr>
        <p:txBody>
          <a:bodyPr/>
          <a:lstStyle/>
          <a:p>
            <a:pPr defTabSz="1371600"/>
            <a:endParaRPr lang="en-US" sz="27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Picture 19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100207" y="6906397"/>
            <a:ext cx="1803425" cy="30203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2" dur="835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6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99694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6" dur="862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6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99694"/>
                                      </p:to>
                                    </p:animClr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0" dur="862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6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99694"/>
                                      </p:to>
                                    </p:animClr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4" dur="862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6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9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audio>
              <p:cMediaNode vol="80000">
                <p:cTn id="8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  <p:audio>
              <p:cMediaNode vol="80000">
                <p:cTn id="8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</p:childTnLst>
        </p:cTn>
      </p:par>
    </p:tnLst>
    <p:bldLst>
      <p:bldP spid="28" grpId="0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âu hỏi"/>
          <p:cNvSpPr/>
          <p:nvPr/>
        </p:nvSpPr>
        <p:spPr>
          <a:xfrm>
            <a:off x="1821872" y="1165515"/>
            <a:ext cx="14644256" cy="299258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vi-VN" sz="4600" b="1" dirty="0">
                <a:solidFill>
                  <a:schemeClr val="tx1"/>
                </a:solidFill>
              </a:rPr>
              <a:t>Câu 5:</a:t>
            </a:r>
            <a:r>
              <a:rPr lang="vi-VN" sz="4600" dirty="0">
                <a:solidFill>
                  <a:schemeClr val="tx1"/>
                </a:solidFill>
              </a:rPr>
              <a:t> </a:t>
            </a:r>
            <a:r>
              <a:rPr lang="vi-VN" sz="4600" dirty="0" err="1">
                <a:solidFill>
                  <a:schemeClr val="tx1"/>
                </a:solidFill>
              </a:rPr>
              <a:t>Chuyển</a:t>
            </a:r>
            <a:r>
              <a:rPr lang="vi-VN" sz="4600" dirty="0">
                <a:solidFill>
                  <a:schemeClr val="tx1"/>
                </a:solidFill>
              </a:rPr>
              <a:t> </a:t>
            </a:r>
            <a:r>
              <a:rPr lang="vi-VN" sz="4600" dirty="0" err="1">
                <a:solidFill>
                  <a:schemeClr val="tx1"/>
                </a:solidFill>
              </a:rPr>
              <a:t>động</a:t>
            </a:r>
            <a:r>
              <a:rPr lang="vi-VN" sz="4600" dirty="0">
                <a:solidFill>
                  <a:schemeClr val="tx1"/>
                </a:solidFill>
              </a:rPr>
              <a:t> </a:t>
            </a:r>
            <a:r>
              <a:rPr lang="vi-VN" sz="4600" dirty="0" err="1">
                <a:solidFill>
                  <a:schemeClr val="tx1"/>
                </a:solidFill>
              </a:rPr>
              <a:t>của</a:t>
            </a:r>
            <a:r>
              <a:rPr lang="vi-VN" sz="4600" dirty="0">
                <a:solidFill>
                  <a:schemeClr val="tx1"/>
                </a:solidFill>
              </a:rPr>
              <a:t> </a:t>
            </a:r>
            <a:r>
              <a:rPr lang="vi-VN" sz="4600" dirty="0" err="1">
                <a:solidFill>
                  <a:schemeClr val="tx1"/>
                </a:solidFill>
              </a:rPr>
              <a:t>quả</a:t>
            </a:r>
            <a:r>
              <a:rPr lang="vi-VN" sz="4600" dirty="0">
                <a:solidFill>
                  <a:schemeClr val="tx1"/>
                </a:solidFill>
              </a:rPr>
              <a:t> </a:t>
            </a:r>
            <a:r>
              <a:rPr lang="vi-VN" sz="4600" dirty="0" err="1">
                <a:solidFill>
                  <a:schemeClr val="tx1"/>
                </a:solidFill>
              </a:rPr>
              <a:t>bóng</a:t>
            </a:r>
            <a:r>
              <a:rPr lang="vi-VN" sz="4600" dirty="0">
                <a:solidFill>
                  <a:schemeClr val="tx1"/>
                </a:solidFill>
              </a:rPr>
              <a:t> lăn </a:t>
            </a:r>
            <a:r>
              <a:rPr lang="vi-VN" sz="4600" dirty="0" err="1">
                <a:solidFill>
                  <a:schemeClr val="tx1"/>
                </a:solidFill>
              </a:rPr>
              <a:t>xuống</a:t>
            </a:r>
            <a:r>
              <a:rPr lang="vi-VN" sz="4600" dirty="0">
                <a:solidFill>
                  <a:schemeClr val="tx1"/>
                </a:solidFill>
              </a:rPr>
              <a:t> </a:t>
            </a:r>
            <a:r>
              <a:rPr lang="vi-VN" sz="4600" dirty="0" err="1">
                <a:solidFill>
                  <a:schemeClr val="tx1"/>
                </a:solidFill>
              </a:rPr>
              <a:t>dốc</a:t>
            </a:r>
            <a:r>
              <a:rPr lang="vi-VN" sz="4600" dirty="0">
                <a:solidFill>
                  <a:schemeClr val="tx1"/>
                </a:solidFill>
              </a:rPr>
              <a:t> </a:t>
            </a:r>
            <a:r>
              <a:rPr lang="vi-VN" sz="4600" dirty="0" err="1">
                <a:solidFill>
                  <a:schemeClr val="tx1"/>
                </a:solidFill>
              </a:rPr>
              <a:t>là</a:t>
            </a:r>
            <a:r>
              <a:rPr lang="vi-VN" sz="4600" dirty="0">
                <a:solidFill>
                  <a:schemeClr val="tx1"/>
                </a:solidFill>
              </a:rPr>
              <a:t>:</a:t>
            </a:r>
            <a:endParaRPr lang="en-US" sz="4600" dirty="0">
              <a:solidFill>
                <a:schemeClr val="tx1"/>
              </a:solidFill>
            </a:endParaRPr>
          </a:p>
        </p:txBody>
      </p:sp>
      <p:sp>
        <p:nvSpPr>
          <p:cNvPr id="18" name="Đáp án đúng"/>
          <p:cNvSpPr/>
          <p:nvPr/>
        </p:nvSpPr>
        <p:spPr>
          <a:xfrm>
            <a:off x="9663544" y="4615297"/>
            <a:ext cx="6802583" cy="199505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4000" dirty="0">
                <a:solidFill>
                  <a:schemeClr val="tx1"/>
                </a:solidFill>
              </a:rPr>
              <a:t>C. </a:t>
            </a:r>
            <a:r>
              <a:rPr lang="vi-VN" sz="4000" dirty="0" err="1">
                <a:solidFill>
                  <a:schemeClr val="tx1"/>
                </a:solidFill>
              </a:rPr>
              <a:t>Chuyển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động</a:t>
            </a:r>
            <a:r>
              <a:rPr lang="vi-VN" sz="4000" dirty="0">
                <a:solidFill>
                  <a:schemeClr val="tx1"/>
                </a:solidFill>
              </a:rPr>
              <a:t> nhanh </a:t>
            </a:r>
            <a:r>
              <a:rPr lang="vi-VN" sz="4000" dirty="0" err="1">
                <a:solidFill>
                  <a:schemeClr val="tx1"/>
                </a:solidFill>
              </a:rPr>
              <a:t>dần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9" name="Đáp án sai 1"/>
          <p:cNvSpPr/>
          <p:nvPr/>
        </p:nvSpPr>
        <p:spPr>
          <a:xfrm>
            <a:off x="1821872" y="4615297"/>
            <a:ext cx="6802583" cy="199505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4000" dirty="0">
                <a:solidFill>
                  <a:schemeClr val="tx1"/>
                </a:solidFill>
              </a:rPr>
              <a:t>A. </a:t>
            </a:r>
            <a:r>
              <a:rPr lang="vi-VN" sz="4000" dirty="0" err="1">
                <a:solidFill>
                  <a:schemeClr val="tx1"/>
                </a:solidFill>
              </a:rPr>
              <a:t>Chuyển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động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chậm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dần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0" name="Đáp án sai 2"/>
          <p:cNvSpPr/>
          <p:nvPr/>
        </p:nvSpPr>
        <p:spPr>
          <a:xfrm>
            <a:off x="1821872" y="7076198"/>
            <a:ext cx="6802583" cy="199505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vi-VN" sz="4000" dirty="0">
                <a:solidFill>
                  <a:schemeClr val="tx1"/>
                </a:solidFill>
              </a:rPr>
              <a:t>B. </a:t>
            </a:r>
            <a:r>
              <a:rPr lang="vi-VN" sz="4000" dirty="0" err="1">
                <a:solidFill>
                  <a:schemeClr val="tx1"/>
                </a:solidFill>
              </a:rPr>
              <a:t>Chuyển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động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chậm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dần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đều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1" name="Đáp án sai 3"/>
          <p:cNvSpPr/>
          <p:nvPr/>
        </p:nvSpPr>
        <p:spPr>
          <a:xfrm>
            <a:off x="9663544" y="7067548"/>
            <a:ext cx="6802583" cy="199505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4000" dirty="0">
                <a:solidFill>
                  <a:schemeClr val="tx1"/>
                </a:solidFill>
              </a:rPr>
              <a:t>D. </a:t>
            </a:r>
            <a:r>
              <a:rPr lang="vi-VN" sz="4000" dirty="0" err="1">
                <a:solidFill>
                  <a:schemeClr val="tx1"/>
                </a:solidFill>
              </a:rPr>
              <a:t>Chuyển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động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thẳng</a:t>
            </a:r>
            <a:r>
              <a:rPr lang="vi-VN" sz="4000" dirty="0">
                <a:solidFill>
                  <a:schemeClr val="tx1"/>
                </a:solidFill>
              </a:rPr>
              <a:t> </a:t>
            </a:r>
            <a:r>
              <a:rPr lang="vi-VN" sz="4000" dirty="0" err="1">
                <a:solidFill>
                  <a:schemeClr val="tx1"/>
                </a:solidFill>
              </a:rPr>
              <a:t>đều</a:t>
            </a:r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22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15076643" y="5055951"/>
            <a:ext cx="1279569" cy="1113741"/>
          </a:xfrm>
          <a:prstGeom prst="rect">
            <a:avLst/>
          </a:prstGeom>
        </p:spPr>
      </p:pic>
      <p:pic>
        <p:nvPicPr>
          <p:cNvPr id="23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7229036" y="7497037"/>
            <a:ext cx="1275183" cy="1136072"/>
          </a:xfrm>
          <a:prstGeom prst="rect">
            <a:avLst/>
          </a:prstGeom>
        </p:spPr>
      </p:pic>
      <p:pic>
        <p:nvPicPr>
          <p:cNvPr id="24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5190943" y="7497037"/>
            <a:ext cx="1275183" cy="1136072"/>
          </a:xfrm>
          <a:prstGeom prst="rect">
            <a:avLst/>
          </a:prstGeom>
        </p:spPr>
      </p:pic>
      <p:pic>
        <p:nvPicPr>
          <p:cNvPr id="25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7229036" y="5022272"/>
            <a:ext cx="1275183" cy="1136072"/>
          </a:xfrm>
          <a:prstGeom prst="rect">
            <a:avLst/>
          </a:prstGeom>
        </p:spPr>
      </p:pic>
      <p:pic>
        <p:nvPicPr>
          <p:cNvPr id="26" name="Correct sound effect and wrong sound effect (mp3cut.net)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9663544" y="-955900"/>
            <a:ext cx="731045" cy="731045"/>
          </a:xfrm>
          <a:prstGeom prst="rect">
            <a:avLst/>
          </a:prstGeom>
        </p:spPr>
      </p:pic>
      <p:pic>
        <p:nvPicPr>
          <p:cNvPr id="27" name="Correct sound effect and wrong sound effect (mp3cut.net) (1)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653838" y="-955900"/>
            <a:ext cx="731045" cy="731045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-204072" y="9113001"/>
            <a:ext cx="18696144" cy="1173999"/>
          </a:xfrm>
          <a:prstGeom prst="rect">
            <a:avLst/>
          </a:prstGeom>
          <a:solidFill>
            <a:srgbClr val="FFD68B">
              <a:alpha val="52157"/>
            </a:srgbClr>
          </a:solidFill>
        </p:spPr>
        <p:txBody>
          <a:bodyPr/>
          <a:lstStyle/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1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100207" y="6906397"/>
            <a:ext cx="1803425" cy="30203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2" dur="835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6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99694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6" dur="862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6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99694"/>
                                      </p:to>
                                    </p:animClr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0" dur="862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6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99694"/>
                                      </p:to>
                                    </p:animClr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4" dur="862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6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9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audio>
              <p:cMediaNode vol="80000">
                <p:cTn id="8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  <p:audio>
              <p:cMediaNode vol="80000">
                <p:cTn id="8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  <p:bldLst>
      <p:bldP spid="17" grpId="0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5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4452" y="721620"/>
            <a:ext cx="16721928" cy="8751636"/>
            <a:chOff x="0" y="0"/>
            <a:chExt cx="5656553" cy="2960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56553" cy="2960430"/>
            </a:xfrm>
            <a:custGeom>
              <a:avLst/>
              <a:gdLst/>
              <a:ahLst/>
              <a:cxnLst/>
              <a:rect l="l" t="t" r="r" b="b"/>
              <a:pathLst>
                <a:path w="5656553" h="2960430">
                  <a:moveTo>
                    <a:pt x="0" y="0"/>
                  </a:moveTo>
                  <a:lnTo>
                    <a:pt x="5656553" y="0"/>
                  </a:lnTo>
                  <a:lnTo>
                    <a:pt x="5656553" y="2960430"/>
                  </a:lnTo>
                  <a:lnTo>
                    <a:pt x="0" y="2960430"/>
                  </a:lnTo>
                  <a:close/>
                </a:path>
              </a:pathLst>
            </a:custGeom>
            <a:solidFill>
              <a:srgbClr val="F6EABE"/>
            </a:solidFill>
          </p:spPr>
        </p:sp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-739788">
            <a:off x="13250665" y="7185974"/>
            <a:ext cx="4813401" cy="2617287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457200" y="2724329"/>
            <a:ext cx="3441469" cy="4114800"/>
          </a:xfrm>
          <a:prstGeom prst="rect">
            <a:avLst/>
          </a:prstGeom>
        </p:spPr>
      </p:pic>
      <p:sp>
        <p:nvSpPr>
          <p:cNvPr id="4" name="Hộp Văn bản 3"/>
          <p:cNvSpPr txBox="1"/>
          <p:nvPr/>
        </p:nvSpPr>
        <p:spPr>
          <a:xfrm>
            <a:off x="6572250" y="1562100"/>
            <a:ext cx="5143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latin typeface="Arial (Thân)"/>
              </a:rPr>
              <a:t>VẬN DỤNG</a:t>
            </a:r>
            <a:endParaRPr lang="en-US" sz="7200" b="1" dirty="0">
              <a:latin typeface="Arial (Thân)"/>
            </a:endParaRPr>
          </a:p>
        </p:txBody>
      </p:sp>
      <p:sp>
        <p:nvSpPr>
          <p:cNvPr id="7" name="Hộp Văn bản 6"/>
          <p:cNvSpPr txBox="1"/>
          <p:nvPr/>
        </p:nvSpPr>
        <p:spPr>
          <a:xfrm>
            <a:off x="4419600" y="4278236"/>
            <a:ext cx="10229850" cy="183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40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Em </a:t>
            </a:r>
            <a:r>
              <a:rPr lang="vi-VN" sz="4000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hãy</a:t>
            </a:r>
            <a:r>
              <a:rPr lang="vi-VN" sz="40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vi-VN" sz="4000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lấy</a:t>
            </a:r>
            <a:r>
              <a:rPr lang="vi-VN" sz="40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vi-VN" sz="4000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ví</a:t>
            </a:r>
            <a:r>
              <a:rPr lang="vi-VN" sz="40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vi-VN" sz="4000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dụ</a:t>
            </a:r>
            <a:r>
              <a:rPr lang="vi-VN" sz="40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vi-VN" sz="4000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về</a:t>
            </a:r>
            <a:r>
              <a:rPr lang="vi-VN" sz="40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vi-VN" sz="4000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chuyển</a:t>
            </a:r>
            <a:r>
              <a:rPr lang="vi-VN" sz="40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vi-VN" sz="4000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động</a:t>
            </a:r>
            <a:r>
              <a:rPr lang="vi-VN" sz="40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vi-VN" sz="4000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có</a:t>
            </a:r>
            <a:r>
              <a:rPr lang="vi-VN" sz="40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gia </a:t>
            </a:r>
            <a:r>
              <a:rPr lang="vi-VN" sz="4000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tốc</a:t>
            </a:r>
            <a:r>
              <a:rPr lang="vi-VN" sz="40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vi-VN" sz="4000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mà</a:t>
            </a:r>
            <a:r>
              <a:rPr lang="vi-VN" sz="40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em </a:t>
            </a:r>
            <a:r>
              <a:rPr lang="vi-VN" sz="4000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thấy</a:t>
            </a:r>
            <a:r>
              <a:rPr lang="vi-VN" sz="40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trong </a:t>
            </a:r>
            <a:r>
              <a:rPr lang="vi-VN" sz="4000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cuộc</a:t>
            </a:r>
            <a:r>
              <a:rPr lang="vi-VN" sz="40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vi-VN" sz="4000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sống</a:t>
            </a:r>
            <a:r>
              <a:rPr lang="vi-VN" sz="40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.</a:t>
            </a:r>
            <a:endParaRPr lang="en-US" sz="4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5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4452" y="721620"/>
            <a:ext cx="16721928" cy="8751636"/>
            <a:chOff x="0" y="0"/>
            <a:chExt cx="5656553" cy="2960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56553" cy="2960430"/>
            </a:xfrm>
            <a:custGeom>
              <a:avLst/>
              <a:gdLst/>
              <a:ahLst/>
              <a:cxnLst/>
              <a:rect l="l" t="t" r="r" b="b"/>
              <a:pathLst>
                <a:path w="5656553" h="2960430">
                  <a:moveTo>
                    <a:pt x="0" y="0"/>
                  </a:moveTo>
                  <a:lnTo>
                    <a:pt x="5656553" y="0"/>
                  </a:lnTo>
                  <a:lnTo>
                    <a:pt x="5656553" y="2960430"/>
                  </a:lnTo>
                  <a:lnTo>
                    <a:pt x="0" y="2960430"/>
                  </a:lnTo>
                  <a:close/>
                </a:path>
              </a:pathLst>
            </a:custGeom>
            <a:solidFill>
              <a:srgbClr val="F6EABE"/>
            </a:solidFill>
          </p:spPr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-667728" y="-464252"/>
            <a:ext cx="4450458" cy="4500526"/>
          </a:xfrm>
          <a:prstGeom prst="rect">
            <a:avLst/>
          </a:prstGeom>
        </p:spPr>
      </p:pic>
      <p:sp>
        <p:nvSpPr>
          <p:cNvPr id="4" name="Hộp Văn bản 3"/>
          <p:cNvSpPr txBox="1"/>
          <p:nvPr/>
        </p:nvSpPr>
        <p:spPr>
          <a:xfrm>
            <a:off x="4495800" y="1714500"/>
            <a:ext cx="975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latin typeface="Arial (Thân)"/>
              </a:rPr>
              <a:t>HƯỚNG DẪN VỀ NHÀ</a:t>
            </a:r>
            <a:endParaRPr lang="en-US" sz="7200" b="1" dirty="0">
              <a:latin typeface="Arial (Thân)"/>
            </a:endParaRPr>
          </a:p>
        </p:txBody>
      </p:sp>
      <p:sp>
        <p:nvSpPr>
          <p:cNvPr id="7" name="Hộp Văn bản 6"/>
          <p:cNvSpPr txBox="1"/>
          <p:nvPr/>
        </p:nvSpPr>
        <p:spPr>
          <a:xfrm>
            <a:off x="2438400" y="6576278"/>
            <a:ext cx="3475435" cy="1478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sz="3200" dirty="0" err="1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Xem</a:t>
            </a:r>
            <a:r>
              <a:rPr lang="en-US" sz="3200" dirty="0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 </a:t>
            </a:r>
            <a:r>
              <a:rPr lang="en-US" sz="3200" dirty="0" err="1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lại</a:t>
            </a:r>
            <a:r>
              <a:rPr lang="en-US" sz="3200" dirty="0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 </a:t>
            </a:r>
            <a:r>
              <a:rPr lang="en-US" sz="3200" dirty="0" err="1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kiến</a:t>
            </a:r>
            <a:r>
              <a:rPr lang="en-US" sz="3200" dirty="0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 </a:t>
            </a:r>
            <a:r>
              <a:rPr lang="en-US" sz="3200" dirty="0" err="1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thức</a:t>
            </a:r>
            <a:r>
              <a:rPr lang="en-US" sz="3200" dirty="0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 </a:t>
            </a:r>
            <a:r>
              <a:rPr lang="en-US" sz="3200" dirty="0" err="1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đã</a:t>
            </a:r>
            <a:r>
              <a:rPr lang="en-US" sz="3200" dirty="0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 </a:t>
            </a:r>
            <a:r>
              <a:rPr lang="en-US" sz="3200" dirty="0" err="1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học</a:t>
            </a:r>
            <a:r>
              <a:rPr lang="en-US" sz="3200" dirty="0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 ở </a:t>
            </a:r>
            <a:r>
              <a:rPr lang="en-US" sz="3200" dirty="0" err="1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bài</a:t>
            </a:r>
            <a:r>
              <a:rPr lang="en-US" sz="3200" dirty="0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 8</a:t>
            </a:r>
            <a:endParaRPr lang="en-US" sz="3200" dirty="0">
              <a:effectLst/>
              <a:latin typeface="Arial (Thân)"/>
              <a:ea typeface="Noto Sans Symbols"/>
              <a:cs typeface="Noto Sans Symbols"/>
            </a:endParaRPr>
          </a:p>
        </p:txBody>
      </p:sp>
      <p:sp>
        <p:nvSpPr>
          <p:cNvPr id="10" name="Hộp Văn bản 9"/>
          <p:cNvSpPr txBox="1"/>
          <p:nvPr/>
        </p:nvSpPr>
        <p:spPr>
          <a:xfrm>
            <a:off x="6781800" y="6576278"/>
            <a:ext cx="4161235" cy="1478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 err="1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Hoàn</a:t>
            </a:r>
            <a:r>
              <a:rPr lang="en-US" sz="3200" dirty="0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 </a:t>
            </a:r>
            <a:r>
              <a:rPr lang="en-US" sz="3200" dirty="0" err="1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thành</a:t>
            </a:r>
            <a:r>
              <a:rPr lang="en-US" sz="3200" dirty="0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 </a:t>
            </a:r>
            <a:r>
              <a:rPr lang="en-US" sz="3200" dirty="0" err="1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nhiệm</a:t>
            </a:r>
            <a:r>
              <a:rPr lang="en-US" sz="3200" dirty="0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 </a:t>
            </a:r>
            <a:r>
              <a:rPr lang="en-US" sz="3200" dirty="0" err="1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vụ</a:t>
            </a:r>
            <a:r>
              <a:rPr lang="en-US" sz="3200" dirty="0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 ở </a:t>
            </a:r>
            <a:r>
              <a:rPr lang="en-US" sz="3200" dirty="0" err="1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hoạt</a:t>
            </a:r>
            <a:r>
              <a:rPr lang="en-US" sz="3200" dirty="0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 </a:t>
            </a:r>
            <a:r>
              <a:rPr lang="en-US" sz="3200" dirty="0" err="1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động</a:t>
            </a:r>
            <a:r>
              <a:rPr lang="en-US" sz="3200" dirty="0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 </a:t>
            </a:r>
            <a:r>
              <a:rPr lang="en-US" sz="3200" dirty="0" err="1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vận</a:t>
            </a:r>
            <a:r>
              <a:rPr lang="en-US" sz="3200" dirty="0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 </a:t>
            </a:r>
            <a:r>
              <a:rPr lang="en-US" sz="3200" dirty="0" err="1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dụng</a:t>
            </a:r>
            <a:endParaRPr lang="en-US" sz="3200" dirty="0">
              <a:effectLst/>
              <a:latin typeface="Arial (Thân)"/>
              <a:ea typeface="Noto Sans Symbols"/>
              <a:cs typeface="Noto Sans Symbols"/>
            </a:endParaRPr>
          </a:p>
        </p:txBody>
      </p:sp>
      <p:sp>
        <p:nvSpPr>
          <p:cNvPr id="14" name="Hộp Văn bản 13"/>
          <p:cNvSpPr txBox="1"/>
          <p:nvPr/>
        </p:nvSpPr>
        <p:spPr>
          <a:xfrm>
            <a:off x="11844337" y="6576278"/>
            <a:ext cx="4161235" cy="2217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3200" dirty="0" err="1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Xem</a:t>
            </a:r>
            <a:r>
              <a:rPr lang="en-US" sz="3200" dirty="0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 </a:t>
            </a:r>
            <a:r>
              <a:rPr lang="en-US" sz="3200" dirty="0" err="1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trước</a:t>
            </a:r>
            <a:r>
              <a:rPr lang="en-US" sz="3200" dirty="0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 </a:t>
            </a:r>
            <a:r>
              <a:rPr lang="en-US" sz="3200" dirty="0" err="1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nội</a:t>
            </a:r>
            <a:r>
              <a:rPr lang="en-US" sz="3200" dirty="0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 dung </a:t>
            </a:r>
            <a:r>
              <a:rPr lang="en-US" sz="3200" b="1" dirty="0" err="1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Bài</a:t>
            </a:r>
            <a:r>
              <a:rPr lang="en-US" sz="3200" b="1" dirty="0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 9</a:t>
            </a:r>
            <a:r>
              <a:rPr lang="vi-VN" sz="3200" b="1" dirty="0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: </a:t>
            </a:r>
            <a:r>
              <a:rPr lang="vi-VN" sz="3200" b="1" dirty="0" err="1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Chuyển</a:t>
            </a:r>
            <a:r>
              <a:rPr lang="vi-VN" sz="3200" b="1" dirty="0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 </a:t>
            </a:r>
            <a:r>
              <a:rPr lang="vi-VN" sz="3200" b="1" dirty="0" err="1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động</a:t>
            </a:r>
            <a:r>
              <a:rPr lang="vi-VN" sz="3200" b="1" dirty="0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 </a:t>
            </a:r>
            <a:r>
              <a:rPr lang="vi-VN" sz="3200" b="1" dirty="0" err="1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thẳng</a:t>
            </a:r>
            <a:r>
              <a:rPr lang="vi-VN" sz="3200" b="1" dirty="0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 </a:t>
            </a:r>
            <a:r>
              <a:rPr lang="vi-VN" sz="3200" b="1" dirty="0" err="1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biến</a:t>
            </a:r>
            <a:r>
              <a:rPr lang="vi-VN" sz="3200" b="1" dirty="0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 </a:t>
            </a:r>
            <a:r>
              <a:rPr lang="vi-VN" sz="3200" b="1" dirty="0" err="1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đổi</a:t>
            </a:r>
            <a:r>
              <a:rPr lang="vi-VN" sz="3200" b="1" dirty="0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 </a:t>
            </a:r>
            <a:r>
              <a:rPr lang="vi-VN" sz="3200" b="1" dirty="0" err="1">
                <a:solidFill>
                  <a:srgbClr val="000000"/>
                </a:solidFill>
                <a:effectLst/>
                <a:latin typeface="Arial (Thân)"/>
                <a:ea typeface="Times New Roman" panose="02020603050405020304" pitchFamily="18" charset="0"/>
                <a:cs typeface="Noto Sans Symbols"/>
              </a:rPr>
              <a:t>đều</a:t>
            </a:r>
            <a:endParaRPr lang="en-US" sz="3200" dirty="0">
              <a:effectLst/>
              <a:latin typeface="Arial (Thân)"/>
              <a:ea typeface="Noto Sans Symbols"/>
              <a:cs typeface="Noto Sans Symbols"/>
            </a:endParaRPr>
          </a:p>
        </p:txBody>
      </p:sp>
      <p:pic>
        <p:nvPicPr>
          <p:cNvPr id="1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2801600" y="4264612"/>
            <a:ext cx="2160358" cy="2311666"/>
          </a:xfrm>
          <a:prstGeom prst="rect">
            <a:avLst/>
          </a:prstGeom>
        </p:spPr>
      </p:pic>
      <p:pic>
        <p:nvPicPr>
          <p:cNvPr id="16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8224609" y="4268409"/>
            <a:ext cx="1838781" cy="2346472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3179284" y="4150632"/>
            <a:ext cx="1989321" cy="2464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38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32" tmFilter="0, 0; 0.125,0.2665; 0.25,0.4; 0.375,0.465; 0.5,0.5;  0.625,0.535; 0.75,0.6; 0.875,0.7335; 1,1">
                                          <p:stCondLst>
                                            <p:cond delay="23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16" tmFilter="0, 0; 0.125,0.2665; 0.25,0.4; 0.375,0.465; 0.5,0.5;  0.625,0.535; 0.75,0.6; 0.875,0.7335; 1,1">
                                          <p:stCondLst>
                                            <p:cond delay="463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7" tmFilter="0, 0; 0.125,0.2665; 0.25,0.4; 0.375,0.465; 0.5,0.5;  0.625,0.535; 0.75,0.6; 0.875,0.7335; 1,1">
                                          <p:stCondLst>
                                            <p:cond delay="58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9">
                                          <p:stCondLst>
                                            <p:cond delay="227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58" decel="50000">
                                          <p:stCondLst>
                                            <p:cond delay="237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9">
                                          <p:stCondLst>
                                            <p:cond delay="45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58" decel="50000">
                                          <p:stCondLst>
                                            <p:cond delay="4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9">
                                          <p:stCondLst>
                                            <p:cond delay="5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58" decel="50000">
                                          <p:stCondLst>
                                            <p:cond delay="58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9">
                                          <p:stCondLst>
                                            <p:cond delay="633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58" decel="50000">
                                          <p:stCondLst>
                                            <p:cond delay="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4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4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/>
      <p:bldP spid="1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5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4452" y="721620"/>
            <a:ext cx="16721928" cy="8751636"/>
            <a:chOff x="0" y="0"/>
            <a:chExt cx="5656553" cy="2960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56553" cy="2960430"/>
            </a:xfrm>
            <a:custGeom>
              <a:avLst/>
              <a:gdLst/>
              <a:ahLst/>
              <a:cxnLst/>
              <a:rect l="l" t="t" r="r" b="b"/>
              <a:pathLst>
                <a:path w="5656553" h="2960430">
                  <a:moveTo>
                    <a:pt x="0" y="0"/>
                  </a:moveTo>
                  <a:lnTo>
                    <a:pt x="5656553" y="0"/>
                  </a:lnTo>
                  <a:lnTo>
                    <a:pt x="5656553" y="2960430"/>
                  </a:lnTo>
                  <a:lnTo>
                    <a:pt x="0" y="2960430"/>
                  </a:lnTo>
                  <a:close/>
                </a:path>
              </a:pathLst>
            </a:custGeom>
            <a:solidFill>
              <a:srgbClr val="F6EABE"/>
            </a:solidFill>
          </p:spPr>
        </p:sp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9144000" y="0"/>
            <a:ext cx="10572483" cy="336997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-1428483" y="0"/>
            <a:ext cx="10572483" cy="3369979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0" y="4857855"/>
            <a:ext cx="4063677" cy="4400445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15208199" y="1684989"/>
            <a:ext cx="3555950" cy="7111899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14135100" y="6560652"/>
            <a:ext cx="4590949" cy="4190284"/>
          </a:xfrm>
          <a:prstGeom prst="rect">
            <a:avLst/>
          </a:prstGeom>
        </p:spPr>
      </p:pic>
      <p:sp>
        <p:nvSpPr>
          <p:cNvPr id="8" name="Hộp Văn bản 7"/>
          <p:cNvSpPr txBox="1"/>
          <p:nvPr/>
        </p:nvSpPr>
        <p:spPr>
          <a:xfrm>
            <a:off x="3753883" y="3491934"/>
            <a:ext cx="10903065" cy="3211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(Thân)"/>
              </a:rPr>
              <a:t>CẢM ƠN CÁC EM ĐÃ LẮNG NGHE BÀI GIẢNG</a:t>
            </a:r>
            <a:endParaRPr lang="en-US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(Thân)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7276</Words>
  <Application>WPS Writer</Application>
  <PresentationFormat>Tùy chỉnh</PresentationFormat>
  <Paragraphs>280</Paragraphs>
  <Slides>31</Slides>
  <Notes>0</Notes>
  <HiddenSlides>0</HiddenSlides>
  <MMClips>11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8" baseType="lpstr">
      <vt:lpstr>Arial</vt:lpstr>
      <vt:lpstr>SimSun</vt:lpstr>
      <vt:lpstr>Wingdings</vt:lpstr>
      <vt:lpstr>Calibri</vt:lpstr>
      <vt:lpstr>Times New Roman</vt:lpstr>
      <vt:lpstr>Cambria Math</vt:lpstr>
      <vt:lpstr>Microsoft YaHei</vt:lpstr>
      <vt:lpstr>汉仪旗黑</vt:lpstr>
      <vt:lpstr>Arial Unicode MS</vt:lpstr>
      <vt:lpstr>Calibri</vt:lpstr>
      <vt:lpstr>Symbol</vt:lpstr>
      <vt:lpstr>Kingsoft Sign</vt:lpstr>
      <vt:lpstr>Arial (Thân)</vt:lpstr>
      <vt:lpstr>Noto Sans Symbols</vt:lpstr>
      <vt:lpstr>DejaVu Math TeX Gyre</vt:lpstr>
      <vt:lpstr>Thonburi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VnTeach.Com</dc:creator>
  <cp:keywords>VnTeach.Com</cp:keywords>
  <cp:lastModifiedBy>vietchung</cp:lastModifiedBy>
  <cp:revision>1</cp:revision>
  <dcterms:created xsi:type="dcterms:W3CDTF">2025-09-16T01:25:17Z</dcterms:created>
  <dcterms:modified xsi:type="dcterms:W3CDTF">2025-09-16T01:25:17Z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9666F4A2A1C0DB0E7BBCC86823ACDC7F_42</vt:lpwstr>
  </property>
  <property fmtid="{D5CDD505-2E9C-101B-9397-08002B2CF9AE}" pid="3" name="KSOProductBuildVer">
    <vt:lpwstr>1033-12.1.22553.22553</vt:lpwstr>
  </property>
</Properties>
</file>