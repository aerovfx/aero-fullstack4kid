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675" r:id="rId4"/>
    <p:sldId id="880" r:id="rId5"/>
    <p:sldId id="894" r:id="rId7"/>
    <p:sldId id="885" r:id="rId8"/>
    <p:sldId id="895" r:id="rId9"/>
    <p:sldId id="622" r:id="rId10"/>
    <p:sldId id="782" r:id="rId11"/>
    <p:sldId id="893" r:id="rId12"/>
    <p:sldId id="891" r:id="rId13"/>
    <p:sldId id="875" r:id="rId14"/>
    <p:sldId id="896" r:id="rId15"/>
    <p:sldId id="897" r:id="rId16"/>
    <p:sldId id="89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E261E"/>
    <a:srgbClr val="009AE5"/>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3161" autoAdjust="0"/>
  </p:normalViewPr>
  <p:slideViewPr>
    <p:cSldViewPr snapToGrid="0">
      <p:cViewPr varScale="1">
        <p:scale>
          <a:sx n="69" d="100"/>
          <a:sy n="69" d="100"/>
        </p:scale>
        <p:origin x="738" y="72"/>
      </p:cViewPr>
      <p:guideLst/>
    </p:cSldViewPr>
  </p:slideViewPr>
  <p:outlineViewPr>
    <p:cViewPr>
      <p:scale>
        <a:sx n="33" d="100"/>
        <a:sy n="33" d="100"/>
      </p:scale>
      <p:origin x="0" y="-490"/>
    </p:cViewPr>
  </p:outlineViewPr>
  <p:notesTextViewPr>
    <p:cViewPr>
      <p:scale>
        <a:sx n="3" d="2"/>
        <a:sy n="3" d="2"/>
      </p:scale>
      <p:origin x="0" y="0"/>
    </p:cViewPr>
  </p:notesTextViewPr>
  <p:sorterViewPr>
    <p:cViewPr>
      <p:scale>
        <a:sx n="100" d="100"/>
        <a:sy n="100" d="100"/>
      </p:scale>
      <p:origin x="0" y="-44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15.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30.wmf"/><Relationship Id="rId8" Type="http://schemas.openxmlformats.org/officeDocument/2006/relationships/image" Target="../media/image29.wmf"/><Relationship Id="rId7" Type="http://schemas.openxmlformats.org/officeDocument/2006/relationships/image" Target="../media/image28.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6" Type="http://schemas.openxmlformats.org/officeDocument/2006/relationships/image" Target="../media/image37.wmf"/><Relationship Id="rId15" Type="http://schemas.openxmlformats.org/officeDocument/2006/relationships/image" Target="../media/image36.wmf"/><Relationship Id="rId14" Type="http://schemas.openxmlformats.org/officeDocument/2006/relationships/image" Target="../media/image35.wmf"/><Relationship Id="rId13" Type="http://schemas.openxmlformats.org/officeDocument/2006/relationships/image" Target="../media/image34.wmf"/><Relationship Id="rId12" Type="http://schemas.openxmlformats.org/officeDocument/2006/relationships/image" Target="../media/image33.wmf"/><Relationship Id="rId11" Type="http://schemas.openxmlformats.org/officeDocument/2006/relationships/image" Target="../media/image32.wmf"/><Relationship Id="rId10" Type="http://schemas.openxmlformats.org/officeDocument/2006/relationships/image" Target="../media/image31.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30.wmf"/><Relationship Id="rId8" Type="http://schemas.openxmlformats.org/officeDocument/2006/relationships/image" Target="../media/image29.wmf"/><Relationship Id="rId7" Type="http://schemas.openxmlformats.org/officeDocument/2006/relationships/image" Target="../media/image28.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6" Type="http://schemas.openxmlformats.org/officeDocument/2006/relationships/image" Target="../media/image39.wmf"/><Relationship Id="rId15" Type="http://schemas.openxmlformats.org/officeDocument/2006/relationships/image" Target="../media/image38.wmf"/><Relationship Id="rId14" Type="http://schemas.openxmlformats.org/officeDocument/2006/relationships/image" Target="../media/image35.wmf"/><Relationship Id="rId13" Type="http://schemas.openxmlformats.org/officeDocument/2006/relationships/image" Target="../media/image34.wmf"/><Relationship Id="rId12" Type="http://schemas.openxmlformats.org/officeDocument/2006/relationships/image" Target="../media/image33.wmf"/><Relationship Id="rId11" Type="http://schemas.openxmlformats.org/officeDocument/2006/relationships/image" Target="../media/image32.wmf"/><Relationship Id="rId10" Type="http://schemas.openxmlformats.org/officeDocument/2006/relationships/image" Target="../media/image31.wmf"/><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95D4B9-0F66-430E-BE66-B9ABD378C14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437F0-3CB8-4907-9E53-8CCCF8E80CC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0EB2F9E-C9E0-4EA3-A9E2-0DF5F691060E}"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704020202020204" pitchFamily="34" charset="0"/>
          <a:ea typeface="SimSun" pitchFamily="2" charset="-122"/>
        </a:defRPr>
      </a:lvl2pPr>
      <a:lvl3pPr algn="l" rtl="0" fontAlgn="base">
        <a:spcBef>
          <a:spcPct val="0"/>
        </a:spcBef>
        <a:spcAft>
          <a:spcPct val="0"/>
        </a:spcAft>
        <a:defRPr sz="3600">
          <a:solidFill>
            <a:schemeClr val="tx1"/>
          </a:solidFill>
          <a:latin typeface="Arial" panose="020B0704020202020204" pitchFamily="34" charset="0"/>
          <a:ea typeface="SimSun" pitchFamily="2" charset="-122"/>
        </a:defRPr>
      </a:lvl3pPr>
      <a:lvl4pPr algn="l" rtl="0" fontAlgn="base">
        <a:spcBef>
          <a:spcPct val="0"/>
        </a:spcBef>
        <a:spcAft>
          <a:spcPct val="0"/>
        </a:spcAft>
        <a:defRPr sz="3600">
          <a:solidFill>
            <a:schemeClr val="tx1"/>
          </a:solidFill>
          <a:latin typeface="Arial" panose="020B0704020202020204" pitchFamily="34" charset="0"/>
          <a:ea typeface="SimSun" pitchFamily="2" charset="-122"/>
        </a:defRPr>
      </a:lvl4pPr>
      <a:lvl5pPr algn="l" rtl="0" fontAlgn="base">
        <a:spcBef>
          <a:spcPct val="0"/>
        </a:spcBef>
        <a:spcAft>
          <a:spcPct val="0"/>
        </a:spcAft>
        <a:defRPr sz="3600">
          <a:solidFill>
            <a:schemeClr val="tx1"/>
          </a:solidFill>
          <a:latin typeface="Arial" panose="020B0704020202020204" pitchFamily="34" charset="0"/>
          <a:ea typeface="SimSun" pitchFamily="2" charset="-122"/>
        </a:defRPr>
      </a:lvl5pPr>
      <a:lvl6pPr marL="457200" algn="l" rtl="0" fontAlgn="base">
        <a:spcBef>
          <a:spcPct val="0"/>
        </a:spcBef>
        <a:spcAft>
          <a:spcPct val="0"/>
        </a:spcAft>
        <a:defRPr sz="3600">
          <a:solidFill>
            <a:schemeClr val="tx1"/>
          </a:solidFill>
          <a:latin typeface="Arial" panose="020B0704020202020204" pitchFamily="34" charset="0"/>
          <a:ea typeface="SimSun" pitchFamily="2" charset="-122"/>
        </a:defRPr>
      </a:lvl6pPr>
      <a:lvl7pPr marL="914400" algn="l" rtl="0" fontAlgn="base">
        <a:spcBef>
          <a:spcPct val="0"/>
        </a:spcBef>
        <a:spcAft>
          <a:spcPct val="0"/>
        </a:spcAft>
        <a:defRPr sz="3600">
          <a:solidFill>
            <a:schemeClr val="tx1"/>
          </a:solidFill>
          <a:latin typeface="Arial" panose="020B0704020202020204" pitchFamily="34" charset="0"/>
          <a:ea typeface="SimSun" pitchFamily="2" charset="-122"/>
        </a:defRPr>
      </a:lvl7pPr>
      <a:lvl8pPr marL="1371600" algn="l" rtl="0" fontAlgn="base">
        <a:spcBef>
          <a:spcPct val="0"/>
        </a:spcBef>
        <a:spcAft>
          <a:spcPct val="0"/>
        </a:spcAft>
        <a:defRPr sz="3600">
          <a:solidFill>
            <a:schemeClr val="tx1"/>
          </a:solidFill>
          <a:latin typeface="Arial" panose="020B0704020202020204" pitchFamily="34" charset="0"/>
          <a:ea typeface="SimSun" pitchFamily="2" charset="-122"/>
        </a:defRPr>
      </a:lvl8pPr>
      <a:lvl9pPr marL="1828800" algn="l" rtl="0" fontAlgn="base">
        <a:spcBef>
          <a:spcPct val="0"/>
        </a:spcBef>
        <a:spcAft>
          <a:spcPct val="0"/>
        </a:spcAft>
        <a:defRPr sz="3600">
          <a:solidFill>
            <a:schemeClr val="tx1"/>
          </a:solidFill>
          <a:latin typeface="Arial" panose="020B070402020202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9" Type="http://schemas.openxmlformats.org/officeDocument/2006/relationships/image" Target="../media/image6.wmf"/><Relationship Id="rId8" Type="http://schemas.openxmlformats.org/officeDocument/2006/relationships/oleObject" Target="../embeddings/oleObject5.bin"/><Relationship Id="rId7" Type="http://schemas.openxmlformats.org/officeDocument/2006/relationships/image" Target="../media/image5.wmf"/><Relationship Id="rId6" Type="http://schemas.openxmlformats.org/officeDocument/2006/relationships/oleObject" Target="../embeddings/oleObject4.bin"/><Relationship Id="rId5" Type="http://schemas.openxmlformats.org/officeDocument/2006/relationships/image" Target="../media/image4.wmf"/><Relationship Id="rId4" Type="http://schemas.openxmlformats.org/officeDocument/2006/relationships/oleObject" Target="../embeddings/oleObject3.bin"/><Relationship Id="rId3" Type="http://schemas.openxmlformats.org/officeDocument/2006/relationships/image" Target="../media/image3.wmf"/><Relationship Id="rId2" Type="http://schemas.openxmlformats.org/officeDocument/2006/relationships/oleObject" Target="../embeddings/oleObject2.bin"/><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8.wmf"/><Relationship Id="rId3" Type="http://schemas.openxmlformats.org/officeDocument/2006/relationships/oleObject" Target="../embeddings/oleObject7.bin"/><Relationship Id="rId2" Type="http://schemas.openxmlformats.org/officeDocument/2006/relationships/image" Target="../media/image7.wmf"/><Relationship Id="rId1"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oleObject" Target="../embeddings/oleObject12.bin"/><Relationship Id="rId7" Type="http://schemas.openxmlformats.org/officeDocument/2006/relationships/image" Target="../media/image12.wmf"/><Relationship Id="rId6" Type="http://schemas.openxmlformats.org/officeDocument/2006/relationships/oleObject" Target="../embeddings/oleObject11.bin"/><Relationship Id="rId5" Type="http://schemas.openxmlformats.org/officeDocument/2006/relationships/image" Target="../media/image11.wmf"/><Relationship Id="rId4" Type="http://schemas.openxmlformats.org/officeDocument/2006/relationships/oleObject" Target="../embeddings/oleObject10.bin"/><Relationship Id="rId3" Type="http://schemas.openxmlformats.org/officeDocument/2006/relationships/image" Target="../media/image10.wmf"/><Relationship Id="rId2" Type="http://schemas.openxmlformats.org/officeDocument/2006/relationships/oleObject" Target="../embeddings/oleObject9.bin"/><Relationship Id="rId15" Type="http://schemas.openxmlformats.org/officeDocument/2006/relationships/vmlDrawing" Target="../drawings/vmlDrawing4.vml"/><Relationship Id="rId14" Type="http://schemas.openxmlformats.org/officeDocument/2006/relationships/slideLayout" Target="../slideLayouts/slideLayout2.xml"/><Relationship Id="rId13" Type="http://schemas.openxmlformats.org/officeDocument/2006/relationships/image" Target="../media/image15.wmf"/><Relationship Id="rId12" Type="http://schemas.openxmlformats.org/officeDocument/2006/relationships/oleObject" Target="../embeddings/oleObject14.bin"/><Relationship Id="rId11" Type="http://schemas.openxmlformats.org/officeDocument/2006/relationships/image" Target="../media/image14.wmf"/><Relationship Id="rId10" Type="http://schemas.openxmlformats.org/officeDocument/2006/relationships/oleObject" Target="../embeddings/oleObject13.bin"/><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oleObject" Target="../embeddings/oleObject18.bin"/><Relationship Id="rId7" Type="http://schemas.openxmlformats.org/officeDocument/2006/relationships/image" Target="../media/image12.wmf"/><Relationship Id="rId6" Type="http://schemas.openxmlformats.org/officeDocument/2006/relationships/oleObject" Target="../embeddings/oleObject17.bin"/><Relationship Id="rId5" Type="http://schemas.openxmlformats.org/officeDocument/2006/relationships/image" Target="../media/image19.wmf"/><Relationship Id="rId4" Type="http://schemas.openxmlformats.org/officeDocument/2006/relationships/oleObject" Target="../embeddings/oleObject16.bin"/><Relationship Id="rId3" Type="http://schemas.openxmlformats.org/officeDocument/2006/relationships/image" Target="../media/image18.wmf"/><Relationship Id="rId2" Type="http://schemas.openxmlformats.org/officeDocument/2006/relationships/oleObject" Target="../embeddings/oleObject15.bin"/><Relationship Id="rId14" Type="http://schemas.openxmlformats.org/officeDocument/2006/relationships/notesSlide" Target="../notesSlides/notesSlide5.xml"/><Relationship Id="rId13" Type="http://schemas.openxmlformats.org/officeDocument/2006/relationships/vmlDrawing" Target="../drawings/vmlDrawing5.vml"/><Relationship Id="rId12" Type="http://schemas.openxmlformats.org/officeDocument/2006/relationships/slideLayout" Target="../slideLayouts/slideLayout2.xml"/><Relationship Id="rId11" Type="http://schemas.openxmlformats.org/officeDocument/2006/relationships/image" Target="../media/image15.wmf"/><Relationship Id="rId10" Type="http://schemas.openxmlformats.org/officeDocument/2006/relationships/oleObject" Target="../embeddings/oleObject19.bin"/><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9" Type="http://schemas.openxmlformats.org/officeDocument/2006/relationships/image" Target="../media/image24.wmf"/><Relationship Id="rId8" Type="http://schemas.openxmlformats.org/officeDocument/2006/relationships/oleObject" Target="../embeddings/oleObject22.bin"/><Relationship Id="rId7" Type="http://schemas.openxmlformats.org/officeDocument/2006/relationships/image" Target="../media/image23.wmf"/><Relationship Id="rId6" Type="http://schemas.openxmlformats.org/officeDocument/2006/relationships/oleObject" Target="../embeddings/oleObject21.bin"/><Relationship Id="rId5" Type="http://schemas.openxmlformats.org/officeDocument/2006/relationships/image" Target="../media/image22.wmf"/><Relationship Id="rId4" Type="http://schemas.openxmlformats.org/officeDocument/2006/relationships/oleObject" Target="../embeddings/oleObject20.bin"/><Relationship Id="rId39" Type="http://schemas.openxmlformats.org/officeDocument/2006/relationships/notesSlide" Target="../notesSlides/notesSlide6.xml"/><Relationship Id="rId38" Type="http://schemas.openxmlformats.org/officeDocument/2006/relationships/vmlDrawing" Target="../drawings/vmlDrawing6.vml"/><Relationship Id="rId37" Type="http://schemas.openxmlformats.org/officeDocument/2006/relationships/slideLayout" Target="../slideLayouts/slideLayout2.xml"/><Relationship Id="rId36" Type="http://schemas.openxmlformats.org/officeDocument/2006/relationships/image" Target="../media/image37.wmf"/><Relationship Id="rId35" Type="http://schemas.openxmlformats.org/officeDocument/2006/relationships/oleObject" Target="../embeddings/oleObject36.bin"/><Relationship Id="rId34" Type="http://schemas.openxmlformats.org/officeDocument/2006/relationships/image" Target="../media/image36.wmf"/><Relationship Id="rId33" Type="http://schemas.openxmlformats.org/officeDocument/2006/relationships/oleObject" Target="../embeddings/oleObject35.bin"/><Relationship Id="rId32" Type="http://schemas.openxmlformats.org/officeDocument/2006/relationships/image" Target="../media/image35.wmf"/><Relationship Id="rId31" Type="http://schemas.openxmlformats.org/officeDocument/2006/relationships/oleObject" Target="../embeddings/oleObject34.bin"/><Relationship Id="rId30" Type="http://schemas.openxmlformats.org/officeDocument/2006/relationships/image" Target="../media/image34.wmf"/><Relationship Id="rId3" Type="http://schemas.openxmlformats.org/officeDocument/2006/relationships/image" Target="../media/image21.svg"/><Relationship Id="rId29" Type="http://schemas.openxmlformats.org/officeDocument/2006/relationships/oleObject" Target="../embeddings/oleObject33.bin"/><Relationship Id="rId28" Type="http://schemas.openxmlformats.org/officeDocument/2006/relationships/image" Target="../media/image33.wmf"/><Relationship Id="rId27" Type="http://schemas.openxmlformats.org/officeDocument/2006/relationships/oleObject" Target="../embeddings/oleObject32.bin"/><Relationship Id="rId26" Type="http://schemas.openxmlformats.org/officeDocument/2006/relationships/image" Target="../media/image32.wmf"/><Relationship Id="rId25" Type="http://schemas.openxmlformats.org/officeDocument/2006/relationships/oleObject" Target="../embeddings/oleObject31.bin"/><Relationship Id="rId24" Type="http://schemas.openxmlformats.org/officeDocument/2006/relationships/image" Target="../media/image31.wmf"/><Relationship Id="rId23" Type="http://schemas.openxmlformats.org/officeDocument/2006/relationships/oleObject" Target="../embeddings/oleObject30.bin"/><Relationship Id="rId22" Type="http://schemas.openxmlformats.org/officeDocument/2006/relationships/image" Target="../media/image30.wmf"/><Relationship Id="rId21" Type="http://schemas.openxmlformats.org/officeDocument/2006/relationships/oleObject" Target="../embeddings/oleObject29.bin"/><Relationship Id="rId20" Type="http://schemas.openxmlformats.org/officeDocument/2006/relationships/image" Target="../media/image29.wmf"/><Relationship Id="rId2" Type="http://schemas.openxmlformats.org/officeDocument/2006/relationships/image" Target="../media/image20.png"/><Relationship Id="rId19" Type="http://schemas.openxmlformats.org/officeDocument/2006/relationships/oleObject" Target="../embeddings/oleObject28.bin"/><Relationship Id="rId18" Type="http://schemas.openxmlformats.org/officeDocument/2006/relationships/image" Target="../media/image28.wmf"/><Relationship Id="rId17" Type="http://schemas.openxmlformats.org/officeDocument/2006/relationships/oleObject" Target="../embeddings/oleObject27.bin"/><Relationship Id="rId16" Type="http://schemas.openxmlformats.org/officeDocument/2006/relationships/oleObject" Target="../embeddings/oleObject26.bin"/><Relationship Id="rId15" Type="http://schemas.openxmlformats.org/officeDocument/2006/relationships/image" Target="../media/image27.wmf"/><Relationship Id="rId14" Type="http://schemas.openxmlformats.org/officeDocument/2006/relationships/oleObject" Target="../embeddings/oleObject25.bin"/><Relationship Id="rId13" Type="http://schemas.openxmlformats.org/officeDocument/2006/relationships/image" Target="../media/image26.wmf"/><Relationship Id="rId12" Type="http://schemas.openxmlformats.org/officeDocument/2006/relationships/oleObject" Target="../embeddings/oleObject24.bin"/><Relationship Id="rId11" Type="http://schemas.openxmlformats.org/officeDocument/2006/relationships/image" Target="../media/image25.wmf"/><Relationship Id="rId10" Type="http://schemas.openxmlformats.org/officeDocument/2006/relationships/oleObject" Target="../embeddings/oleObject23.bin"/><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9" Type="http://schemas.openxmlformats.org/officeDocument/2006/relationships/image" Target="../media/image24.wmf"/><Relationship Id="rId8" Type="http://schemas.openxmlformats.org/officeDocument/2006/relationships/oleObject" Target="../embeddings/oleObject39.bin"/><Relationship Id="rId7" Type="http://schemas.openxmlformats.org/officeDocument/2006/relationships/image" Target="../media/image23.wmf"/><Relationship Id="rId6" Type="http://schemas.openxmlformats.org/officeDocument/2006/relationships/oleObject" Target="../embeddings/oleObject38.bin"/><Relationship Id="rId5" Type="http://schemas.openxmlformats.org/officeDocument/2006/relationships/image" Target="../media/image22.wmf"/><Relationship Id="rId4" Type="http://schemas.openxmlformats.org/officeDocument/2006/relationships/oleObject" Target="../embeddings/oleObject37.bin"/><Relationship Id="rId39" Type="http://schemas.openxmlformats.org/officeDocument/2006/relationships/notesSlide" Target="../notesSlides/notesSlide7.xml"/><Relationship Id="rId38" Type="http://schemas.openxmlformats.org/officeDocument/2006/relationships/vmlDrawing" Target="../drawings/vmlDrawing7.vml"/><Relationship Id="rId37" Type="http://schemas.openxmlformats.org/officeDocument/2006/relationships/slideLayout" Target="../slideLayouts/slideLayout2.xml"/><Relationship Id="rId36" Type="http://schemas.openxmlformats.org/officeDocument/2006/relationships/image" Target="../media/image39.wmf"/><Relationship Id="rId35" Type="http://schemas.openxmlformats.org/officeDocument/2006/relationships/oleObject" Target="../embeddings/oleObject53.bin"/><Relationship Id="rId34" Type="http://schemas.openxmlformats.org/officeDocument/2006/relationships/image" Target="../media/image38.wmf"/><Relationship Id="rId33" Type="http://schemas.openxmlformats.org/officeDocument/2006/relationships/oleObject" Target="../embeddings/oleObject52.bin"/><Relationship Id="rId32" Type="http://schemas.openxmlformats.org/officeDocument/2006/relationships/image" Target="../media/image35.wmf"/><Relationship Id="rId31" Type="http://schemas.openxmlformats.org/officeDocument/2006/relationships/oleObject" Target="../embeddings/oleObject51.bin"/><Relationship Id="rId30" Type="http://schemas.openxmlformats.org/officeDocument/2006/relationships/image" Target="../media/image34.wmf"/><Relationship Id="rId3" Type="http://schemas.openxmlformats.org/officeDocument/2006/relationships/image" Target="../media/image21.svg"/><Relationship Id="rId29" Type="http://schemas.openxmlformats.org/officeDocument/2006/relationships/oleObject" Target="../embeddings/oleObject50.bin"/><Relationship Id="rId28" Type="http://schemas.openxmlformats.org/officeDocument/2006/relationships/image" Target="../media/image33.wmf"/><Relationship Id="rId27" Type="http://schemas.openxmlformats.org/officeDocument/2006/relationships/oleObject" Target="../embeddings/oleObject49.bin"/><Relationship Id="rId26" Type="http://schemas.openxmlformats.org/officeDocument/2006/relationships/image" Target="../media/image32.wmf"/><Relationship Id="rId25" Type="http://schemas.openxmlformats.org/officeDocument/2006/relationships/oleObject" Target="../embeddings/oleObject48.bin"/><Relationship Id="rId24" Type="http://schemas.openxmlformats.org/officeDocument/2006/relationships/image" Target="../media/image31.wmf"/><Relationship Id="rId23" Type="http://schemas.openxmlformats.org/officeDocument/2006/relationships/oleObject" Target="../embeddings/oleObject47.bin"/><Relationship Id="rId22" Type="http://schemas.openxmlformats.org/officeDocument/2006/relationships/image" Target="../media/image30.wmf"/><Relationship Id="rId21" Type="http://schemas.openxmlformats.org/officeDocument/2006/relationships/oleObject" Target="../embeddings/oleObject46.bin"/><Relationship Id="rId20" Type="http://schemas.openxmlformats.org/officeDocument/2006/relationships/image" Target="../media/image29.wmf"/><Relationship Id="rId2" Type="http://schemas.openxmlformats.org/officeDocument/2006/relationships/image" Target="../media/image20.png"/><Relationship Id="rId19" Type="http://schemas.openxmlformats.org/officeDocument/2006/relationships/oleObject" Target="../embeddings/oleObject45.bin"/><Relationship Id="rId18" Type="http://schemas.openxmlformats.org/officeDocument/2006/relationships/image" Target="../media/image28.wmf"/><Relationship Id="rId17" Type="http://schemas.openxmlformats.org/officeDocument/2006/relationships/oleObject" Target="../embeddings/oleObject44.bin"/><Relationship Id="rId16" Type="http://schemas.openxmlformats.org/officeDocument/2006/relationships/oleObject" Target="../embeddings/oleObject43.bin"/><Relationship Id="rId15" Type="http://schemas.openxmlformats.org/officeDocument/2006/relationships/image" Target="../media/image27.wmf"/><Relationship Id="rId14" Type="http://schemas.openxmlformats.org/officeDocument/2006/relationships/oleObject" Target="../embeddings/oleObject42.bin"/><Relationship Id="rId13" Type="http://schemas.openxmlformats.org/officeDocument/2006/relationships/image" Target="../media/image26.wmf"/><Relationship Id="rId12" Type="http://schemas.openxmlformats.org/officeDocument/2006/relationships/oleObject" Target="../embeddings/oleObject41.bin"/><Relationship Id="rId11" Type="http://schemas.openxmlformats.org/officeDocument/2006/relationships/image" Target="../media/image25.wmf"/><Relationship Id="rId10" Type="http://schemas.openxmlformats.org/officeDocument/2006/relationships/oleObject" Target="../embeddings/oleObject40.bin"/><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276;p33"/>
          <p:cNvSpPr txBox="1"/>
          <p:nvPr/>
        </p:nvSpPr>
        <p:spPr>
          <a:xfrm>
            <a:off x="152400" y="1178355"/>
            <a:ext cx="11887200" cy="2922305"/>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191919"/>
              </a:buClr>
              <a:buSzPts val="5200"/>
              <a:buFont typeface="Amatic SC"/>
              <a:buNone/>
              <a:defRPr sz="11065" b="1" i="0" u="none" strike="noStrike" cap="none">
                <a:solidFill>
                  <a:srgbClr val="191919"/>
                </a:solidFill>
                <a:latin typeface="Amatic SC"/>
                <a:ea typeface="Amatic SC"/>
                <a:cs typeface="Amatic SC"/>
                <a:sym typeface="Amatic SC"/>
              </a:defRPr>
            </a:lvl1pPr>
            <a:lvl2pPr marR="0" lvl="1"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2pPr>
            <a:lvl3pPr marR="0" lvl="2"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3pPr>
            <a:lvl4pPr marR="0" lvl="3"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4pPr>
            <a:lvl5pPr marR="0" lvl="4"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5pPr>
            <a:lvl6pPr marR="0" lvl="5"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6pPr>
            <a:lvl7pPr marR="0" lvl="6"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7pPr>
            <a:lvl8pPr marR="0" lvl="7"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8pPr>
            <a:lvl9pPr marR="0" lvl="8"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9pPr>
          </a:lstStyle>
          <a:p>
            <a:pPr marL="0" marR="0" lvl="0" indent="0" algn="ctr" defTabSz="914400" rtl="0" eaLnBrk="1" fontAlgn="auto" latinLnBrk="0" hangingPunct="1">
              <a:lnSpc>
                <a:spcPct val="90000"/>
              </a:lnSpc>
              <a:spcBef>
                <a:spcPts val="0"/>
              </a:spcBef>
              <a:spcAft>
                <a:spcPts val="0"/>
              </a:spcAft>
              <a:buClr>
                <a:srgbClr val="191919"/>
              </a:buClr>
              <a:buSzPts val="5200"/>
              <a:buFont typeface="Amatic SC"/>
              <a:buNone/>
              <a:defRPr/>
            </a:pPr>
            <a:r>
              <a:rPr kumimoji="0" lang="en-US" sz="100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rPr>
              <a:t>Bài 24. Công suất </a:t>
            </a:r>
            <a:endParaRPr kumimoji="0" lang="en-US" sz="100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endParaRPr>
          </a:p>
        </p:txBody>
      </p:sp>
      <p:cxnSp>
        <p:nvCxnSpPr>
          <p:cNvPr id="196" name="Google Shape;338;p33"/>
          <p:cNvCxnSpPr/>
          <p:nvPr/>
        </p:nvCxnSpPr>
        <p:spPr>
          <a:xfrm>
            <a:off x="4509800" y="4194147"/>
            <a:ext cx="3172400" cy="0"/>
          </a:xfrm>
          <a:prstGeom prst="straightConnector1">
            <a:avLst/>
          </a:prstGeom>
          <a:noFill/>
          <a:ln w="19050" cap="flat" cmpd="sng">
            <a:solidFill>
              <a:srgbClr val="FF8956"/>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Khái niệm công suất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1970203"/>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01</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Công suất là đại lượng đặc trưng cho tốc độ sinh công (khả năng thực hiện công nhanh hay chậm) </a:t>
            </a:r>
            <a:endParaRPr sz="3000" b="0">
              <a:solidFill>
                <a:srgbClr val="FFFF00"/>
              </a:solidFill>
              <a:latin typeface="Itim" panose="00000500000000000000" pitchFamily="2" charset="-34"/>
              <a:cs typeface="Itim" panose="00000500000000000000" pitchFamily="2" charset="-34"/>
            </a:endParaRPr>
          </a:p>
        </p:txBody>
      </p:sp>
      <p:graphicFrame>
        <p:nvGraphicFramePr>
          <p:cNvPr id="3" name="Table 3"/>
          <p:cNvGraphicFramePr>
            <a:graphicFrameLocks noGrp="1"/>
          </p:cNvGraphicFramePr>
          <p:nvPr/>
        </p:nvGraphicFramePr>
        <p:xfrm>
          <a:off x="152400" y="1630680"/>
          <a:ext cx="11887200" cy="1798320"/>
        </p:xfrm>
        <a:graphic>
          <a:graphicData uri="http://schemas.openxmlformats.org/drawingml/2006/table">
            <a:tbl>
              <a:tblPr firstRow="1" bandRow="1">
                <a:tableStyleId>{5940675A-B579-460E-94D1-54222C63F5DA}</a:tableStyleId>
              </a:tblPr>
              <a:tblGrid>
                <a:gridCol w="2138517"/>
                <a:gridCol w="2969342"/>
                <a:gridCol w="3807541"/>
                <a:gridCol w="2971800"/>
              </a:tblGrid>
              <a:tr h="370840">
                <a:tc>
                  <a:txBody>
                    <a:bodyPr/>
                    <a:lstStyle/>
                    <a:p>
                      <a:pPr algn="ctr"/>
                      <a:r>
                        <a:rPr lang="en-US" sz="2500">
                          <a:solidFill>
                            <a:srgbClr val="F8F8F8"/>
                          </a:solidFill>
                          <a:latin typeface="Itim" panose="00000500000000000000" pitchFamily="2" charset="-34"/>
                          <a:cs typeface="Itim" panose="00000500000000000000" pitchFamily="2" charset="-34"/>
                        </a:rPr>
                        <a:t>Công nhân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solidFill>
                      <a:srgbClr val="0070C0"/>
                    </a:solidFill>
                  </a:tcPr>
                </a:tc>
                <a:tc>
                  <a:txBody>
                    <a:bodyPr/>
                    <a:lstStyle/>
                    <a:p>
                      <a:pPr algn="ctr"/>
                      <a:r>
                        <a:rPr lang="en-US" sz="2500">
                          <a:solidFill>
                            <a:srgbClr val="F8F8F8"/>
                          </a:solidFill>
                          <a:latin typeface="Itim" panose="00000500000000000000" pitchFamily="2" charset="-34"/>
                          <a:cs typeface="Itim" panose="00000500000000000000" pitchFamily="2" charset="-34"/>
                        </a:rPr>
                        <a:t>Công thực hiện: </a:t>
                      </a:r>
                      <a:endParaRPr lang="en-US" sz="2500">
                        <a:solidFill>
                          <a:srgbClr val="F8F8F8"/>
                        </a:solidFill>
                        <a:latin typeface="Itim" panose="00000500000000000000" pitchFamily="2" charset="-34"/>
                        <a:cs typeface="Itim" panose="00000500000000000000" pitchFamily="2" charset="-34"/>
                      </a:endParaRPr>
                    </a:p>
                    <a:p>
                      <a:pPr algn="ctr"/>
                      <a:r>
                        <a:rPr lang="en-US" sz="2500">
                          <a:solidFill>
                            <a:srgbClr val="F8F8F8"/>
                          </a:solidFill>
                          <a:latin typeface="Itim" panose="00000500000000000000" pitchFamily="2" charset="-34"/>
                          <a:cs typeface="Itim" panose="00000500000000000000" pitchFamily="2" charset="-34"/>
                        </a:rPr>
                        <a:t>A (J)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solidFill>
                      <a:srgbClr val="0070C0"/>
                    </a:solidFill>
                  </a:tcPr>
                </a:tc>
                <a:tc>
                  <a:txBody>
                    <a:bodyPr/>
                    <a:lstStyle/>
                    <a:p>
                      <a:pPr algn="ctr"/>
                      <a:r>
                        <a:rPr lang="en-US" sz="2500">
                          <a:solidFill>
                            <a:srgbClr val="F8F8F8"/>
                          </a:solidFill>
                          <a:latin typeface="Itim" panose="00000500000000000000" pitchFamily="2" charset="-34"/>
                          <a:cs typeface="Itim" panose="00000500000000000000" pitchFamily="2" charset="-34"/>
                        </a:rPr>
                        <a:t>Thời gian thực hiện công: </a:t>
                      </a:r>
                      <a:endParaRPr lang="en-US" sz="2500">
                        <a:solidFill>
                          <a:srgbClr val="F8F8F8"/>
                        </a:solidFill>
                        <a:latin typeface="Itim" panose="00000500000000000000" pitchFamily="2" charset="-34"/>
                        <a:cs typeface="Itim" panose="00000500000000000000" pitchFamily="2" charset="-34"/>
                      </a:endParaRPr>
                    </a:p>
                    <a:p>
                      <a:pPr algn="ctr"/>
                      <a:r>
                        <a:rPr lang="en-US" sz="2500">
                          <a:solidFill>
                            <a:srgbClr val="F8F8F8"/>
                          </a:solidFill>
                          <a:latin typeface="Itim" panose="00000500000000000000" pitchFamily="2" charset="-34"/>
                          <a:cs typeface="Itim" panose="00000500000000000000" pitchFamily="2" charset="-34"/>
                        </a:rPr>
                        <a:t>t (s)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solidFill>
                      <a:srgbClr val="0070C0"/>
                    </a:solidFill>
                  </a:tcPr>
                </a:tc>
                <a:tc>
                  <a:txBody>
                    <a:bodyPr/>
                    <a:lstStyle/>
                    <a:p>
                      <a:pPr algn="ctr"/>
                      <a:r>
                        <a:rPr lang="en-US" sz="2500">
                          <a:solidFill>
                            <a:srgbClr val="F8F8F8"/>
                          </a:solidFill>
                          <a:latin typeface="Itim" panose="00000500000000000000" pitchFamily="2" charset="-34"/>
                          <a:cs typeface="Itim" panose="00000500000000000000" pitchFamily="2" charset="-34"/>
                        </a:rPr>
                        <a:t>Công thực hiện được trong 1 s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solidFill>
                      <a:srgbClr val="0070C0"/>
                    </a:solidFill>
                  </a:tcPr>
                </a:tc>
              </a:tr>
              <a:tr h="370840">
                <a:tc>
                  <a:txBody>
                    <a:bodyPr/>
                    <a:lstStyle/>
                    <a:p>
                      <a:pPr algn="ctr"/>
                      <a:r>
                        <a:rPr lang="en-US" sz="2500">
                          <a:solidFill>
                            <a:srgbClr val="F8F8F8"/>
                          </a:solidFill>
                          <a:latin typeface="Itim" panose="00000500000000000000" pitchFamily="2" charset="-34"/>
                          <a:cs typeface="Itim" panose="00000500000000000000" pitchFamily="2" charset="-34"/>
                        </a:rPr>
                        <a:t>Công nhân 1</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tcPr>
                </a:tc>
                <a:tc>
                  <a:txBody>
                    <a:bodyPr/>
                    <a:lstStyle/>
                    <a:p>
                      <a:pPr algn="ctr"/>
                      <a:r>
                        <a:rPr lang="en-US" sz="2500">
                          <a:solidFill>
                            <a:srgbClr val="F8F8F8"/>
                          </a:solidFill>
                          <a:latin typeface="Itim" panose="00000500000000000000" pitchFamily="2" charset="-34"/>
                          <a:cs typeface="Itim" panose="00000500000000000000" pitchFamily="2" charset="-34"/>
                        </a:rPr>
                        <a:t>A</a:t>
                      </a:r>
                      <a:r>
                        <a:rPr lang="en-US" sz="2500" baseline="-25000">
                          <a:solidFill>
                            <a:srgbClr val="F8F8F8"/>
                          </a:solidFill>
                          <a:latin typeface="Itim" panose="00000500000000000000" pitchFamily="2" charset="-34"/>
                          <a:cs typeface="Itim" panose="00000500000000000000" pitchFamily="2" charset="-34"/>
                        </a:rPr>
                        <a:t>1</a:t>
                      </a:r>
                      <a:r>
                        <a:rPr lang="en-US" sz="2500">
                          <a:solidFill>
                            <a:srgbClr val="F8F8F8"/>
                          </a:solidFill>
                          <a:latin typeface="Itim" panose="00000500000000000000" pitchFamily="2" charset="-34"/>
                          <a:cs typeface="Itim" panose="00000500000000000000" pitchFamily="2" charset="-34"/>
                        </a:rPr>
                        <a:t> = 2000 J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tcPr>
                </a:tc>
                <a:tc>
                  <a:txBody>
                    <a:bodyPr/>
                    <a:lstStyle/>
                    <a:p>
                      <a:pPr algn="ctr"/>
                      <a:r>
                        <a:rPr lang="en-US" sz="2500">
                          <a:solidFill>
                            <a:srgbClr val="F8F8F8"/>
                          </a:solidFill>
                          <a:latin typeface="Itim" panose="00000500000000000000" pitchFamily="2" charset="-34"/>
                          <a:cs typeface="Itim" panose="00000500000000000000" pitchFamily="2" charset="-34"/>
                        </a:rPr>
                        <a:t>t</a:t>
                      </a:r>
                      <a:r>
                        <a:rPr lang="en-US" sz="2500" baseline="-25000">
                          <a:solidFill>
                            <a:srgbClr val="F8F8F8"/>
                          </a:solidFill>
                          <a:latin typeface="Itim" panose="00000500000000000000" pitchFamily="2" charset="-34"/>
                          <a:cs typeface="Itim" panose="00000500000000000000" pitchFamily="2" charset="-34"/>
                        </a:rPr>
                        <a:t>1</a:t>
                      </a:r>
                      <a:r>
                        <a:rPr lang="en-US" sz="2500">
                          <a:solidFill>
                            <a:srgbClr val="F8F8F8"/>
                          </a:solidFill>
                          <a:latin typeface="Itim" panose="00000500000000000000" pitchFamily="2" charset="-34"/>
                          <a:cs typeface="Itim" panose="00000500000000000000" pitchFamily="2" charset="-34"/>
                        </a:rPr>
                        <a:t> = 10 s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tcPr>
                </a:tc>
                <a:tc>
                  <a:txBody>
                    <a:bodyPr/>
                    <a:lstStyle/>
                    <a:p>
                      <a:pPr algn="ctr"/>
                      <a:r>
                        <a:rPr lang="en-US" sz="2500">
                          <a:solidFill>
                            <a:srgbClr val="F8F8F8"/>
                          </a:solidFill>
                          <a:latin typeface="Itim" panose="00000500000000000000" pitchFamily="2" charset="-34"/>
                          <a:cs typeface="Itim" panose="00000500000000000000" pitchFamily="2" charset="-34"/>
                        </a:rPr>
                        <a:t>200 J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tcPr>
                </a:tc>
              </a:tr>
              <a:tr h="370840">
                <a:tc>
                  <a:txBody>
                    <a:bodyPr/>
                    <a:lstStyle/>
                    <a:p>
                      <a:pPr algn="ctr"/>
                      <a:r>
                        <a:rPr lang="en-US" sz="2500">
                          <a:solidFill>
                            <a:srgbClr val="F8F8F8"/>
                          </a:solidFill>
                          <a:latin typeface="Itim" panose="00000500000000000000" pitchFamily="2" charset="-34"/>
                          <a:cs typeface="Itim" panose="00000500000000000000" pitchFamily="2" charset="-34"/>
                        </a:rPr>
                        <a:t>Công nhân 2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tcPr>
                </a:tc>
                <a:tc>
                  <a:txBody>
                    <a:bodyPr/>
                    <a:lstStyle/>
                    <a:p>
                      <a:pPr algn="ctr"/>
                      <a:r>
                        <a:rPr lang="en-US" sz="2500">
                          <a:solidFill>
                            <a:srgbClr val="F8F8F8"/>
                          </a:solidFill>
                          <a:latin typeface="Itim" panose="00000500000000000000" pitchFamily="2" charset="-34"/>
                          <a:cs typeface="Itim" panose="00000500000000000000" pitchFamily="2" charset="-34"/>
                        </a:rPr>
                        <a:t>A</a:t>
                      </a:r>
                      <a:r>
                        <a:rPr lang="en-US" sz="2500" baseline="-25000">
                          <a:solidFill>
                            <a:srgbClr val="F8F8F8"/>
                          </a:solidFill>
                          <a:latin typeface="Itim" panose="00000500000000000000" pitchFamily="2" charset="-34"/>
                          <a:cs typeface="Itim" panose="00000500000000000000" pitchFamily="2" charset="-34"/>
                        </a:rPr>
                        <a:t>2</a:t>
                      </a:r>
                      <a:r>
                        <a:rPr lang="en-US" sz="2500">
                          <a:solidFill>
                            <a:srgbClr val="F8F8F8"/>
                          </a:solidFill>
                          <a:latin typeface="Itim" panose="00000500000000000000" pitchFamily="2" charset="-34"/>
                          <a:cs typeface="Itim" panose="00000500000000000000" pitchFamily="2" charset="-34"/>
                        </a:rPr>
                        <a:t> = 2310 J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tcPr>
                </a:tc>
                <a:tc>
                  <a:txBody>
                    <a:bodyPr/>
                    <a:lstStyle/>
                    <a:p>
                      <a:pPr algn="ctr"/>
                      <a:r>
                        <a:rPr lang="en-US" sz="2500">
                          <a:solidFill>
                            <a:srgbClr val="F8F8F8"/>
                          </a:solidFill>
                          <a:latin typeface="Itim" panose="00000500000000000000" pitchFamily="2" charset="-34"/>
                          <a:cs typeface="Itim" panose="00000500000000000000" pitchFamily="2" charset="-34"/>
                        </a:rPr>
                        <a:t>t</a:t>
                      </a:r>
                      <a:r>
                        <a:rPr lang="en-US" sz="2500" baseline="-25000">
                          <a:solidFill>
                            <a:srgbClr val="F8F8F8"/>
                          </a:solidFill>
                          <a:latin typeface="Itim" panose="00000500000000000000" pitchFamily="2" charset="-34"/>
                          <a:cs typeface="Itim" panose="00000500000000000000" pitchFamily="2" charset="-34"/>
                        </a:rPr>
                        <a:t>2</a:t>
                      </a:r>
                      <a:r>
                        <a:rPr lang="en-US" sz="2500">
                          <a:solidFill>
                            <a:srgbClr val="F8F8F8"/>
                          </a:solidFill>
                          <a:latin typeface="Itim" panose="00000500000000000000" pitchFamily="2" charset="-34"/>
                          <a:cs typeface="Itim" panose="00000500000000000000" pitchFamily="2" charset="-34"/>
                        </a:rPr>
                        <a:t> = 20 s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tcPr>
                </a:tc>
                <a:tc>
                  <a:txBody>
                    <a:bodyPr/>
                    <a:lstStyle/>
                    <a:p>
                      <a:pPr algn="ctr"/>
                      <a:r>
                        <a:rPr lang="en-US" sz="2500">
                          <a:solidFill>
                            <a:srgbClr val="F8F8F8"/>
                          </a:solidFill>
                          <a:latin typeface="Itim" panose="00000500000000000000" pitchFamily="2" charset="-34"/>
                          <a:cs typeface="Itim" panose="00000500000000000000" pitchFamily="2" charset="-34"/>
                        </a:rPr>
                        <a:t>115,5 J </a:t>
                      </a:r>
                      <a:endParaRPr lang="en-US" sz="2500">
                        <a:solidFill>
                          <a:srgbClr val="F8F8F8"/>
                        </a:solidFill>
                        <a:latin typeface="Itim" panose="00000500000000000000" pitchFamily="2" charset="-34"/>
                        <a:cs typeface="Itim" panose="00000500000000000000" pitchFamily="2" charset="-34"/>
                      </a:endParaRPr>
                    </a:p>
                  </a:txBody>
                  <a:tcPr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rgbClr val="F8F8F8"/>
                      </a:solidFill>
                      <a:prstDash val="solid"/>
                      <a:round/>
                      <a:headEnd type="none" w="med" len="med"/>
                      <a:tailEnd type="none" w="med" len="med"/>
                    </a:lnB>
                  </a:tcPr>
                </a:tc>
              </a:tr>
            </a:tbl>
          </a:graphicData>
        </a:graphic>
      </p:graphicFrame>
      <p:sp>
        <p:nvSpPr>
          <p:cNvPr id="20" name="Google Shape;1794;p49"/>
          <p:cNvSpPr txBox="1"/>
          <p:nvPr/>
        </p:nvSpPr>
        <p:spPr>
          <a:xfrm>
            <a:off x="3147259" y="3826840"/>
            <a:ext cx="5897482"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00B0F0"/>
                </a:solidFill>
                <a:latin typeface="Itim" panose="00000500000000000000" pitchFamily="2" charset="-34"/>
                <a:cs typeface="Itim" panose="00000500000000000000" pitchFamily="2" charset="-34"/>
              </a:rPr>
              <a:t>Công nhân 1 thực hiện công nhanh hơn </a:t>
            </a:r>
            <a:endParaRPr lang="en-US" sz="2500" kern="0">
              <a:solidFill>
                <a:srgbClr val="00B0F0"/>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Công thức tính công suất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1970203"/>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02</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Công suất được đo bằng công sinh ra trong một giây </a:t>
            </a:r>
            <a:endParaRPr sz="3000" b="0">
              <a:solidFill>
                <a:srgbClr val="FFFF00"/>
              </a:solidFill>
              <a:latin typeface="Itim" panose="00000500000000000000" pitchFamily="2" charset="-34"/>
              <a:cs typeface="Itim" panose="00000500000000000000" pitchFamily="2" charset="-34"/>
            </a:endParaRPr>
          </a:p>
        </p:txBody>
      </p:sp>
      <p:graphicFrame>
        <p:nvGraphicFramePr>
          <p:cNvPr id="7" name="Object 6"/>
          <p:cNvGraphicFramePr>
            <a:graphicFrameLocks noChangeAspect="1"/>
          </p:cNvGraphicFramePr>
          <p:nvPr/>
        </p:nvGraphicFramePr>
        <p:xfrm>
          <a:off x="5208935" y="945527"/>
          <a:ext cx="1509712" cy="1366837"/>
        </p:xfrm>
        <a:graphic>
          <a:graphicData uri="http://schemas.openxmlformats.org/presentationml/2006/ole">
            <mc:AlternateContent xmlns:mc="http://schemas.openxmlformats.org/markup-compatibility/2006">
              <mc:Choice xmlns:v="urn:schemas-microsoft-com:vml" Requires="v">
                <p:oleObj spid="_x0000_s1026" name="Equation" r:id="rId1" imgW="10363200" imgH="9448800" progId="Equation.DSMT4">
                  <p:embed/>
                </p:oleObj>
              </mc:Choice>
              <mc:Fallback>
                <p:oleObj name="Equation" r:id="rId1" imgW="10363200" imgH="9448800" progId="Equation.DSMT4">
                  <p:embed/>
                  <p:pic>
                    <p:nvPicPr>
                      <p:cNvPr id="0" name="Object 6"/>
                      <p:cNvPicPr/>
                      <p:nvPr/>
                    </p:nvPicPr>
                    <p:blipFill>
                      <a:blip r:embed="rId2"/>
                      <a:stretch>
                        <a:fillRect/>
                      </a:stretch>
                    </p:blipFill>
                    <p:spPr>
                      <a:xfrm>
                        <a:off x="5208935" y="945527"/>
                        <a:ext cx="1509712" cy="1366837"/>
                      </a:xfrm>
                      <a:prstGeom prst="rect">
                        <a:avLst/>
                      </a:prstGeom>
                    </p:spPr>
                  </p:pic>
                </p:oleObj>
              </mc:Fallback>
            </mc:AlternateContent>
          </a:graphicData>
        </a:graphic>
      </p:graphicFrame>
      <p:sp>
        <p:nvSpPr>
          <p:cNvPr id="8" name="Google Shape;1794;p49"/>
          <p:cNvSpPr txBox="1"/>
          <p:nvPr/>
        </p:nvSpPr>
        <p:spPr>
          <a:xfrm>
            <a:off x="2499560" y="2548364"/>
            <a:ext cx="2519748" cy="54864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i="1" kern="0">
                <a:solidFill>
                  <a:srgbClr val="F8F8F8"/>
                </a:solidFill>
                <a:latin typeface="Itim" panose="00000500000000000000" pitchFamily="2" charset="-34"/>
                <a:cs typeface="Itim" panose="00000500000000000000" pitchFamily="2" charset="-34"/>
              </a:rPr>
              <a:t>Ƥ</a:t>
            </a:r>
            <a:r>
              <a:rPr lang="en-US" sz="2500" kern="0">
                <a:solidFill>
                  <a:srgbClr val="F8F8F8"/>
                </a:solidFill>
                <a:latin typeface="Itim" panose="00000500000000000000" pitchFamily="2" charset="-34"/>
                <a:cs typeface="Itim" panose="00000500000000000000" pitchFamily="2" charset="-34"/>
              </a:rPr>
              <a:t>: công suất (W) </a:t>
            </a:r>
            <a:endParaRPr lang="en-US" sz="2500" kern="0">
              <a:solidFill>
                <a:srgbClr val="F8F8F8"/>
              </a:solidFill>
              <a:latin typeface="Itim" panose="00000500000000000000" pitchFamily="2" charset="-34"/>
              <a:cs typeface="Itim" panose="00000500000000000000" pitchFamily="2" charset="-34"/>
            </a:endParaRPr>
          </a:p>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A: công (J) </a:t>
            </a:r>
            <a:endParaRPr lang="en-US" sz="2500" kern="0">
              <a:solidFill>
                <a:srgbClr val="F8F8F8"/>
              </a:solidFill>
              <a:latin typeface="Itim" panose="00000500000000000000" pitchFamily="2" charset="-34"/>
              <a:cs typeface="Itim" panose="00000500000000000000" pitchFamily="2" charset="-34"/>
            </a:endParaRPr>
          </a:p>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t: thời gian (s) </a:t>
            </a:r>
            <a:endParaRPr lang="en-US" sz="2500" kern="0">
              <a:solidFill>
                <a:srgbClr val="F8F8F8"/>
              </a:solidFill>
              <a:latin typeface="Itim" panose="00000500000000000000" pitchFamily="2" charset="-34"/>
              <a:cs typeface="Itim" panose="00000500000000000000" pitchFamily="2" charset="-34"/>
            </a:endParaRPr>
          </a:p>
        </p:txBody>
      </p:sp>
      <p:sp>
        <p:nvSpPr>
          <p:cNvPr id="10" name="Google Shape;1794;p49"/>
          <p:cNvSpPr txBox="1"/>
          <p:nvPr/>
        </p:nvSpPr>
        <p:spPr>
          <a:xfrm>
            <a:off x="6539033" y="2582128"/>
            <a:ext cx="4027714"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1 kW = 1 000 = 10</a:t>
            </a:r>
            <a:r>
              <a:rPr lang="en-US" sz="2500" kern="0" baseline="30000">
                <a:solidFill>
                  <a:srgbClr val="F8F8F8"/>
                </a:solidFill>
                <a:latin typeface="Itim" panose="00000500000000000000" pitchFamily="2" charset="-34"/>
                <a:cs typeface="Itim" panose="00000500000000000000" pitchFamily="2" charset="-34"/>
              </a:rPr>
              <a:t>3</a:t>
            </a:r>
            <a:r>
              <a:rPr lang="en-US" sz="2500" kern="0">
                <a:solidFill>
                  <a:srgbClr val="F8F8F8"/>
                </a:solidFill>
                <a:latin typeface="Itim" panose="00000500000000000000" pitchFamily="2" charset="-34"/>
                <a:cs typeface="Itim" panose="00000500000000000000" pitchFamily="2" charset="-34"/>
              </a:rPr>
              <a:t> W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1 MW = 1 000 000 = 10</a:t>
            </a:r>
            <a:r>
              <a:rPr lang="en-US" sz="2500" kern="0" baseline="30000">
                <a:solidFill>
                  <a:srgbClr val="F8F8F8"/>
                </a:solidFill>
                <a:latin typeface="Itim" panose="00000500000000000000" pitchFamily="2" charset="-34"/>
                <a:cs typeface="Itim" panose="00000500000000000000" pitchFamily="2" charset="-34"/>
              </a:rPr>
              <a:t>6</a:t>
            </a:r>
            <a:r>
              <a:rPr lang="en-US" sz="2500" kern="0">
                <a:solidFill>
                  <a:srgbClr val="F8F8F8"/>
                </a:solidFill>
                <a:latin typeface="Itim" panose="00000500000000000000" pitchFamily="2" charset="-34"/>
                <a:cs typeface="Itim" panose="00000500000000000000" pitchFamily="2" charset="-34"/>
              </a:rPr>
              <a:t> W </a:t>
            </a:r>
            <a:endParaRPr lang="en-US" sz="2500" kern="0">
              <a:solidFill>
                <a:srgbClr val="00B0F0"/>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1. Coi công suất trung bình của trái tim là 3 W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a) Trong một ngày – đêm trung bình trái tim thực hiện một công là bao nhiêu?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b) Nếu một người sống 70 tuổi thì công của trái tim thực hiện là bao nhiêu?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 Một ô tô tải muốn thực hiện được công ở câu b thì phải thực hiện trong thời gian bao lâu? Coi công suất của xe ô tô tải là 3.10</a:t>
            </a:r>
            <a:r>
              <a:rPr lang="en-US" sz="2500" kern="0" baseline="30000">
                <a:solidFill>
                  <a:srgbClr val="F8F8F8"/>
                </a:solidFill>
                <a:latin typeface="Itim" panose="00000500000000000000" pitchFamily="2" charset="-34"/>
                <a:cs typeface="Itim" panose="00000500000000000000" pitchFamily="2" charset="-34"/>
              </a:rPr>
              <a:t>5</a:t>
            </a:r>
            <a:r>
              <a:rPr lang="en-US" sz="2500" kern="0">
                <a:solidFill>
                  <a:srgbClr val="F8F8F8"/>
                </a:solidFill>
                <a:latin typeface="Itim" panose="00000500000000000000" pitchFamily="2" charset="-34"/>
                <a:cs typeface="Itim" panose="00000500000000000000" pitchFamily="2" charset="-34"/>
              </a:rPr>
              <a:t> W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1794;p49"/>
          <p:cNvSpPr txBox="1"/>
          <p:nvPr/>
        </p:nvSpPr>
        <p:spPr>
          <a:xfrm>
            <a:off x="152400" y="2679365"/>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a) Ta có: </a:t>
            </a:r>
            <a:endParaRPr lang="en-US" sz="2500" kern="0">
              <a:solidFill>
                <a:srgbClr val="FFFF00"/>
              </a:solidFill>
              <a:latin typeface="Itim" panose="00000500000000000000" pitchFamily="2" charset="-34"/>
              <a:cs typeface="Itim" panose="00000500000000000000" pitchFamily="2" charset="-34"/>
            </a:endParaRPr>
          </a:p>
          <a:p>
            <a:pPr lvl="0">
              <a:defRPr/>
            </a:pP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b) A’ = A.t (trong đó t là thời gian của 70 năm) </a:t>
            </a:r>
            <a:endParaRPr lang="en-US" sz="2500" kern="0">
              <a:solidFill>
                <a:srgbClr val="FFFF00"/>
              </a:solidFill>
              <a:latin typeface="Itim" panose="00000500000000000000" pitchFamily="2" charset="-34"/>
              <a:cs typeface="Itim" panose="00000500000000000000" pitchFamily="2" charset="-34"/>
            </a:endParaRPr>
          </a:p>
          <a:p>
            <a:pPr lvl="0">
              <a:defRPr/>
            </a:pP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c) Ta có: </a:t>
            </a:r>
            <a:endParaRPr lang="en-US" sz="2500" kern="0">
              <a:solidFill>
                <a:srgbClr val="FFFF00"/>
              </a:solidFill>
              <a:latin typeface="Itim" panose="00000500000000000000" pitchFamily="2" charset="-34"/>
              <a:cs typeface="Itim" panose="00000500000000000000" pitchFamily="2" charset="-34"/>
            </a:endParaRPr>
          </a:p>
        </p:txBody>
      </p:sp>
      <p:sp>
        <p:nvSpPr>
          <p:cNvPr id="11" name="Google Shape;1794;p49"/>
          <p:cNvSpPr txBox="1"/>
          <p:nvPr/>
        </p:nvSpPr>
        <p:spPr>
          <a:xfrm>
            <a:off x="8119715" y="2283523"/>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6096000" y="2679365"/>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Trong một ngày đêm, trái tim thực hiện được công trung bình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Trong 70 năm, trái tim thực hiện được công trung bình là: </a:t>
            </a:r>
            <a:endParaRPr lang="en-US" sz="2500" kern="0">
              <a:solidFill>
                <a:srgbClr val="F8F8F8"/>
              </a:solidFill>
              <a:latin typeface="Itim" panose="00000500000000000000" pitchFamily="2" charset="-34"/>
              <a:cs typeface="Itim" panose="00000500000000000000" pitchFamily="2" charset="-34"/>
            </a:endParaRPr>
          </a:p>
          <a:p>
            <a:pPr lvl="0" algn="ctr">
              <a:defRPr/>
            </a:pPr>
            <a:r>
              <a:rPr lang="en-US" sz="2500" kern="0">
                <a:solidFill>
                  <a:srgbClr val="F8F8F8"/>
                </a:solidFill>
                <a:latin typeface="Itim" panose="00000500000000000000" pitchFamily="2" charset="-34"/>
                <a:cs typeface="Itim" panose="00000500000000000000" pitchFamily="2" charset="-34"/>
              </a:rPr>
              <a:t>A’ = A.70.365 = 259200.70.365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 6 622 560 000 (J)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c) Thời gian thực hiện công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p:txBody>
      </p:sp>
      <p:sp>
        <p:nvSpPr>
          <p:cNvPr id="13" name="Google Shape;1794;p49"/>
          <p:cNvSpPr txBox="1"/>
          <p:nvPr/>
        </p:nvSpPr>
        <p:spPr>
          <a:xfrm>
            <a:off x="2176115" y="2283523"/>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15" name="Object 14"/>
          <p:cNvGraphicFramePr>
            <a:graphicFrameLocks noChangeAspect="1"/>
          </p:cNvGraphicFramePr>
          <p:nvPr/>
        </p:nvGraphicFramePr>
        <p:xfrm>
          <a:off x="6855617" y="3492597"/>
          <a:ext cx="4424363" cy="539750"/>
        </p:xfrm>
        <a:graphic>
          <a:graphicData uri="http://schemas.openxmlformats.org/presentationml/2006/ole">
            <mc:AlternateContent xmlns:mc="http://schemas.openxmlformats.org/markup-compatibility/2006">
              <mc:Choice xmlns:v="urn:schemas-microsoft-com:vml" Requires="v">
                <p:oleObj spid="_x0000_s2050" name="Equation" r:id="rId2" imgW="49682400" imgH="6096000" progId="Equation.DSMT4">
                  <p:embed/>
                </p:oleObj>
              </mc:Choice>
              <mc:Fallback>
                <p:oleObj name="Equation" r:id="rId2" imgW="49682400" imgH="6096000" progId="Equation.DSMT4">
                  <p:embed/>
                  <p:pic>
                    <p:nvPicPr>
                      <p:cNvPr id="0" name="Object 14"/>
                      <p:cNvPicPr/>
                      <p:nvPr/>
                    </p:nvPicPr>
                    <p:blipFill>
                      <a:blip r:embed="rId3"/>
                      <a:stretch>
                        <a:fillRect/>
                      </a:stretch>
                    </p:blipFill>
                    <p:spPr>
                      <a:xfrm>
                        <a:off x="6855617" y="3492597"/>
                        <a:ext cx="4424363" cy="539750"/>
                      </a:xfrm>
                      <a:prstGeom prst="rect">
                        <a:avLst/>
                      </a:prstGeom>
                    </p:spPr>
                  </p:pic>
                </p:oleObj>
              </mc:Fallback>
            </mc:AlternateContent>
          </a:graphicData>
        </a:graphic>
      </p:graphicFrame>
      <p:graphicFrame>
        <p:nvGraphicFramePr>
          <p:cNvPr id="24" name="Object 23"/>
          <p:cNvGraphicFramePr>
            <a:graphicFrameLocks noChangeAspect="1"/>
          </p:cNvGraphicFramePr>
          <p:nvPr/>
        </p:nvGraphicFramePr>
        <p:xfrm>
          <a:off x="6733379" y="5918558"/>
          <a:ext cx="4668838" cy="836612"/>
        </p:xfrm>
        <a:graphic>
          <a:graphicData uri="http://schemas.openxmlformats.org/presentationml/2006/ole">
            <mc:AlternateContent xmlns:mc="http://schemas.openxmlformats.org/markup-compatibility/2006">
              <mc:Choice xmlns:v="urn:schemas-microsoft-com:vml" Requires="v">
                <p:oleObj spid="_x0000_s2051" name="Equation" r:id="rId4" imgW="52425600" imgH="9448800" progId="Equation.DSMT4">
                  <p:embed/>
                </p:oleObj>
              </mc:Choice>
              <mc:Fallback>
                <p:oleObj name="Equation" r:id="rId4" imgW="52425600" imgH="9448800" progId="Equation.DSMT4">
                  <p:embed/>
                  <p:pic>
                    <p:nvPicPr>
                      <p:cNvPr id="0" name="Object 23"/>
                      <p:cNvPicPr/>
                      <p:nvPr/>
                    </p:nvPicPr>
                    <p:blipFill>
                      <a:blip r:embed="rId5"/>
                      <a:stretch>
                        <a:fillRect/>
                      </a:stretch>
                    </p:blipFill>
                    <p:spPr>
                      <a:xfrm>
                        <a:off x="6733379" y="5918558"/>
                        <a:ext cx="4668838" cy="836612"/>
                      </a:xfrm>
                      <a:prstGeom prst="rect">
                        <a:avLst/>
                      </a:prstGeom>
                    </p:spPr>
                  </p:pic>
                </p:oleObj>
              </mc:Fallback>
            </mc:AlternateContent>
          </a:graphicData>
        </a:graphic>
      </p:graphicFrame>
      <p:graphicFrame>
        <p:nvGraphicFramePr>
          <p:cNvPr id="25" name="Object 24"/>
          <p:cNvGraphicFramePr>
            <a:graphicFrameLocks noChangeAspect="1"/>
          </p:cNvGraphicFramePr>
          <p:nvPr/>
        </p:nvGraphicFramePr>
        <p:xfrm>
          <a:off x="1543223" y="2592387"/>
          <a:ext cx="2360613" cy="836613"/>
        </p:xfrm>
        <a:graphic>
          <a:graphicData uri="http://schemas.openxmlformats.org/presentationml/2006/ole">
            <mc:AlternateContent xmlns:mc="http://schemas.openxmlformats.org/markup-compatibility/2006">
              <mc:Choice xmlns:v="urn:schemas-microsoft-com:vml" Requires="v">
                <p:oleObj spid="_x0000_s2052" name="Equation" r:id="rId6" imgW="26517600" imgH="9448800" progId="Equation.DSMT4">
                  <p:embed/>
                </p:oleObj>
              </mc:Choice>
              <mc:Fallback>
                <p:oleObj name="Equation" r:id="rId6" imgW="26517600" imgH="9448800" progId="Equation.DSMT4">
                  <p:embed/>
                  <p:pic>
                    <p:nvPicPr>
                      <p:cNvPr id="0" name="Object 24"/>
                      <p:cNvPicPr/>
                      <p:nvPr/>
                    </p:nvPicPr>
                    <p:blipFill>
                      <a:blip r:embed="rId7"/>
                      <a:stretch>
                        <a:fillRect/>
                      </a:stretch>
                    </p:blipFill>
                    <p:spPr>
                      <a:xfrm>
                        <a:off x="1543223" y="2592387"/>
                        <a:ext cx="2360613" cy="836613"/>
                      </a:xfrm>
                      <a:prstGeom prst="rect">
                        <a:avLst/>
                      </a:prstGeom>
                    </p:spPr>
                  </p:pic>
                </p:oleObj>
              </mc:Fallback>
            </mc:AlternateContent>
          </a:graphicData>
        </a:graphic>
      </p:graphicFrame>
      <p:graphicFrame>
        <p:nvGraphicFramePr>
          <p:cNvPr id="26" name="Object 25"/>
          <p:cNvGraphicFramePr>
            <a:graphicFrameLocks noChangeAspect="1"/>
          </p:cNvGraphicFramePr>
          <p:nvPr/>
        </p:nvGraphicFramePr>
        <p:xfrm>
          <a:off x="1503895" y="4445013"/>
          <a:ext cx="2116137" cy="836612"/>
        </p:xfrm>
        <a:graphic>
          <a:graphicData uri="http://schemas.openxmlformats.org/presentationml/2006/ole">
            <mc:AlternateContent xmlns:mc="http://schemas.openxmlformats.org/markup-compatibility/2006">
              <mc:Choice xmlns:v="urn:schemas-microsoft-com:vml" Requires="v">
                <p:oleObj spid="_x0000_s2053" name="Equation" r:id="rId8" imgW="23774400" imgH="9448800" progId="Equation.DSMT4">
                  <p:embed/>
                </p:oleObj>
              </mc:Choice>
              <mc:Fallback>
                <p:oleObj name="Equation" r:id="rId8" imgW="23774400" imgH="9448800" progId="Equation.DSMT4">
                  <p:embed/>
                  <p:pic>
                    <p:nvPicPr>
                      <p:cNvPr id="0" name="Object 25"/>
                      <p:cNvPicPr/>
                      <p:nvPr/>
                    </p:nvPicPr>
                    <p:blipFill>
                      <a:blip r:embed="rId9"/>
                      <a:stretch>
                        <a:fillRect/>
                      </a:stretch>
                    </p:blipFill>
                    <p:spPr>
                      <a:xfrm>
                        <a:off x="1503895" y="4445013"/>
                        <a:ext cx="2116137" cy="836612"/>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animEffect transition="in" filter="fade">
                                      <p:cBhvr>
                                        <p:cTn id="25" dur="500"/>
                                        <p:tgtEl>
                                          <p:spTgt spid="12">
                                            <p:txEl>
                                              <p:pRg st="0" end="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animEffect transition="in" filter="fade">
                                      <p:cBhvr>
                                        <p:cTn id="33" dur="500"/>
                                        <p:tgtEl>
                                          <p:spTgt spid="10">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xEl>
                                              <p:pRg st="2" end="2"/>
                                            </p:txEl>
                                          </p:spTgt>
                                        </p:tgtEl>
                                        <p:attrNameLst>
                                          <p:attrName>style.visibility</p:attrName>
                                        </p:attrNameLst>
                                      </p:cBhvr>
                                      <p:to>
                                        <p:strVal val="visible"/>
                                      </p:to>
                                    </p:set>
                                    <p:animEffect transition="in" filter="fade">
                                      <p:cBhvr>
                                        <p:cTn id="38" dur="500"/>
                                        <p:tgtEl>
                                          <p:spTgt spid="12">
                                            <p:txEl>
                                              <p:pRg st="2" end="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xEl>
                                              <p:pRg st="3" end="3"/>
                                            </p:txEl>
                                          </p:spTgt>
                                        </p:tgtEl>
                                        <p:attrNameLst>
                                          <p:attrName>style.visibility</p:attrName>
                                        </p:attrNameLst>
                                      </p:cBhvr>
                                      <p:to>
                                        <p:strVal val="visible"/>
                                      </p:to>
                                    </p:set>
                                    <p:animEffect transition="in" filter="fade">
                                      <p:cBhvr>
                                        <p:cTn id="41" dur="500"/>
                                        <p:tgtEl>
                                          <p:spTgt spid="12">
                                            <p:txEl>
                                              <p:pRg st="3" end="3"/>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2">
                                            <p:txEl>
                                              <p:pRg st="4" end="4"/>
                                            </p:txEl>
                                          </p:spTgt>
                                        </p:tgtEl>
                                        <p:attrNameLst>
                                          <p:attrName>style.visibility</p:attrName>
                                        </p:attrNameLst>
                                      </p:cBhvr>
                                      <p:to>
                                        <p:strVal val="visible"/>
                                      </p:to>
                                    </p:set>
                                    <p:animEffect transition="in" filter="fade">
                                      <p:cBhvr>
                                        <p:cTn id="44" dur="500"/>
                                        <p:tgtEl>
                                          <p:spTgt spid="12">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500"/>
                                        <p:tgtEl>
                                          <p:spTgt spid="10">
                                            <p:txEl>
                                              <p:pRg st="4" end="4"/>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
                                            <p:txEl>
                                              <p:pRg st="5" end="5"/>
                                            </p:txEl>
                                          </p:spTgt>
                                        </p:tgtEl>
                                        <p:attrNameLst>
                                          <p:attrName>style.visibility</p:attrName>
                                        </p:attrNameLst>
                                      </p:cBhvr>
                                      <p:to>
                                        <p:strVal val="visible"/>
                                      </p:to>
                                    </p:set>
                                    <p:animEffect transition="in" filter="fade">
                                      <p:cBhvr>
                                        <p:cTn id="57" dur="500"/>
                                        <p:tgtEl>
                                          <p:spTgt spid="12">
                                            <p:txEl>
                                              <p:pRg st="5" end="5"/>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609600" y="3240349"/>
            <a:ext cx="109728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Liên hệ giữa công suất với lực và tốc độ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2015765"/>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03</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Liên hệ giữa công suất với lực và tốc độ (khi vật chuyển động cùng hướng với lực) </a:t>
            </a:r>
            <a:endParaRPr sz="3000" b="0">
              <a:solidFill>
                <a:srgbClr val="FFFF00"/>
              </a:solidFill>
              <a:latin typeface="Itim" panose="00000500000000000000" pitchFamily="2" charset="-34"/>
              <a:cs typeface="Itim" panose="00000500000000000000" pitchFamily="2" charset="-34"/>
            </a:endParaRPr>
          </a:p>
        </p:txBody>
      </p:sp>
      <p:graphicFrame>
        <p:nvGraphicFramePr>
          <p:cNvPr id="5" name="Object 4"/>
          <p:cNvGraphicFramePr>
            <a:graphicFrameLocks noChangeAspect="1"/>
          </p:cNvGraphicFramePr>
          <p:nvPr/>
        </p:nvGraphicFramePr>
        <p:xfrm>
          <a:off x="5230812" y="1495972"/>
          <a:ext cx="1730375" cy="617538"/>
        </p:xfrm>
        <a:graphic>
          <a:graphicData uri="http://schemas.openxmlformats.org/presentationml/2006/ole">
            <mc:AlternateContent xmlns:mc="http://schemas.openxmlformats.org/markup-compatibility/2006">
              <mc:Choice xmlns:v="urn:schemas-microsoft-com:vml" Requires="v">
                <p:oleObj spid="_x0000_s3074" name="Equation" r:id="rId1" imgW="11887200" imgH="4267200" progId="Equation.DSMT4">
                  <p:embed/>
                </p:oleObj>
              </mc:Choice>
              <mc:Fallback>
                <p:oleObj name="Equation" r:id="rId1" imgW="11887200" imgH="4267200" progId="Equation.DSMT4">
                  <p:embed/>
                  <p:pic>
                    <p:nvPicPr>
                      <p:cNvPr id="0" name="Object 4"/>
                      <p:cNvPicPr/>
                      <p:nvPr/>
                    </p:nvPicPr>
                    <p:blipFill>
                      <a:blip r:embed="rId2"/>
                      <a:stretch>
                        <a:fillRect/>
                      </a:stretch>
                    </p:blipFill>
                    <p:spPr>
                      <a:xfrm>
                        <a:off x="5230812" y="1495972"/>
                        <a:ext cx="1730375" cy="617538"/>
                      </a:xfrm>
                      <a:prstGeom prst="rect">
                        <a:avLst/>
                      </a:prstGeom>
                    </p:spPr>
                  </p:pic>
                </p:oleObj>
              </mc:Fallback>
            </mc:AlternateContent>
          </a:graphicData>
        </a:graphic>
      </p:graphicFrame>
      <p:graphicFrame>
        <p:nvGraphicFramePr>
          <p:cNvPr id="6" name="Object 5"/>
          <p:cNvGraphicFramePr>
            <a:graphicFrameLocks noChangeAspect="1"/>
          </p:cNvGraphicFramePr>
          <p:nvPr/>
        </p:nvGraphicFramePr>
        <p:xfrm>
          <a:off x="2311854" y="3074053"/>
          <a:ext cx="2360613" cy="836612"/>
        </p:xfrm>
        <a:graphic>
          <a:graphicData uri="http://schemas.openxmlformats.org/presentationml/2006/ole">
            <mc:AlternateContent xmlns:mc="http://schemas.openxmlformats.org/markup-compatibility/2006">
              <mc:Choice xmlns:v="urn:schemas-microsoft-com:vml" Requires="v">
                <p:oleObj spid="_x0000_s3075" name="Equation" r:id="rId3" imgW="26517600" imgH="9448800" progId="Equation.DSMT4">
                  <p:embed/>
                </p:oleObj>
              </mc:Choice>
              <mc:Fallback>
                <p:oleObj name="Equation" r:id="rId3" imgW="26517600" imgH="9448800" progId="Equation.DSMT4">
                  <p:embed/>
                  <p:pic>
                    <p:nvPicPr>
                      <p:cNvPr id="0" name="Object 5"/>
                      <p:cNvPicPr/>
                      <p:nvPr/>
                    </p:nvPicPr>
                    <p:blipFill>
                      <a:blip r:embed="rId4"/>
                      <a:stretch>
                        <a:fillRect/>
                      </a:stretch>
                    </p:blipFill>
                    <p:spPr>
                      <a:xfrm>
                        <a:off x="2311854" y="3074053"/>
                        <a:ext cx="2360613" cy="836612"/>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7872639" y="3249472"/>
          <a:ext cx="1166813" cy="485775"/>
        </p:xfrm>
        <a:graphic>
          <a:graphicData uri="http://schemas.openxmlformats.org/presentationml/2006/ole">
            <mc:AlternateContent xmlns:mc="http://schemas.openxmlformats.org/markup-compatibility/2006">
              <mc:Choice xmlns:v="urn:schemas-microsoft-com:vml" Requires="v">
                <p:oleObj spid="_x0000_s3076" name="Equation" r:id="rId5" imgW="13106400" imgH="5486400" progId="Equation.DSMT4">
                  <p:embed/>
                </p:oleObj>
              </mc:Choice>
              <mc:Fallback>
                <p:oleObj name="Equation" r:id="rId5" imgW="13106400" imgH="5486400" progId="Equation.DSMT4">
                  <p:embed/>
                  <p:pic>
                    <p:nvPicPr>
                      <p:cNvPr id="0" name="Object 6"/>
                      <p:cNvPicPr/>
                      <p:nvPr/>
                    </p:nvPicPr>
                    <p:blipFill>
                      <a:blip r:embed="rId6"/>
                      <a:stretch>
                        <a:fillRect/>
                      </a:stretch>
                    </p:blipFill>
                    <p:spPr>
                      <a:xfrm>
                        <a:off x="7872639" y="3249472"/>
                        <a:ext cx="1166813" cy="485775"/>
                      </a:xfrm>
                      <a:prstGeom prst="rect">
                        <a:avLst/>
                      </a:prstGeom>
                    </p:spPr>
                  </p:pic>
                </p:oleObj>
              </mc:Fallback>
            </mc:AlternateContent>
          </a:graphicData>
        </a:graphic>
      </p:graphicFrame>
      <p:sp>
        <p:nvSpPr>
          <p:cNvPr id="8" name="Google Shape;1794;p49"/>
          <p:cNvSpPr txBox="1"/>
          <p:nvPr/>
        </p:nvSpPr>
        <p:spPr>
          <a:xfrm>
            <a:off x="1914694" y="2291384"/>
            <a:ext cx="3154932" cy="54864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Công suất trung bình </a:t>
            </a:r>
            <a:endParaRPr lang="en-US" sz="2500" kern="0">
              <a:solidFill>
                <a:srgbClr val="F8F8F8"/>
              </a:solidFill>
              <a:latin typeface="Itim" panose="00000500000000000000" pitchFamily="2" charset="-34"/>
              <a:cs typeface="Itim" panose="00000500000000000000" pitchFamily="2" charset="-34"/>
            </a:endParaRPr>
          </a:p>
        </p:txBody>
      </p:sp>
      <p:sp>
        <p:nvSpPr>
          <p:cNvPr id="10" name="Google Shape;1794;p49"/>
          <p:cNvSpPr txBox="1"/>
          <p:nvPr/>
        </p:nvSpPr>
        <p:spPr>
          <a:xfrm>
            <a:off x="7082464" y="2291384"/>
            <a:ext cx="2747161" cy="54864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Công suất tức thời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2. Một người kéo một thùng nước 15 kg từ giếng sâu 8 m lên trong 10 s. Hãy tính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công suất của người kéo. Biết thùng nước chuyển động đều và lấy g = 10 m/s</a:t>
            </a:r>
            <a:r>
              <a:rPr lang="en-US" sz="2500" kern="0" baseline="30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38" name="Google Shape;1794;p49"/>
          <p:cNvSpPr txBox="1"/>
          <p:nvPr/>
        </p:nvSpPr>
        <p:spPr>
          <a:xfrm>
            <a:off x="152400" y="1652248"/>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Công suất: </a:t>
            </a:r>
            <a:endParaRPr lang="en-US" sz="2500" kern="0">
              <a:solidFill>
                <a:srgbClr val="FFFF00"/>
              </a:solidFill>
              <a:latin typeface="Itim" panose="00000500000000000000" pitchFamily="2" charset="-34"/>
              <a:cs typeface="Itim" panose="00000500000000000000" pitchFamily="2" charset="-34"/>
            </a:endParaRPr>
          </a:p>
        </p:txBody>
      </p:sp>
      <p:sp>
        <p:nvSpPr>
          <p:cNvPr id="39" name="Google Shape;1794;p49"/>
          <p:cNvSpPr txBox="1"/>
          <p:nvPr/>
        </p:nvSpPr>
        <p:spPr>
          <a:xfrm>
            <a:off x="8119715" y="1256406"/>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40" name="Google Shape;1794;p49"/>
          <p:cNvSpPr txBox="1"/>
          <p:nvPr/>
        </p:nvSpPr>
        <p:spPr>
          <a:xfrm>
            <a:off x="6096000" y="1652248"/>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Tốc độ của vật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Công suất của người kéo: </a:t>
            </a:r>
            <a:endParaRPr lang="en-US" sz="2500" kern="0">
              <a:solidFill>
                <a:srgbClr val="F8F8F8"/>
              </a:solidFill>
              <a:latin typeface="Itim" panose="00000500000000000000" pitchFamily="2" charset="-34"/>
              <a:cs typeface="Itim" panose="00000500000000000000" pitchFamily="2" charset="-34"/>
            </a:endParaRPr>
          </a:p>
        </p:txBody>
      </p:sp>
      <p:sp>
        <p:nvSpPr>
          <p:cNvPr id="41" name="Google Shape;1794;p49"/>
          <p:cNvSpPr txBox="1"/>
          <p:nvPr/>
        </p:nvSpPr>
        <p:spPr>
          <a:xfrm>
            <a:off x="2176115" y="1256406"/>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46" name="Object 45"/>
          <p:cNvGraphicFramePr>
            <a:graphicFrameLocks noChangeAspect="1"/>
          </p:cNvGraphicFramePr>
          <p:nvPr/>
        </p:nvGraphicFramePr>
        <p:xfrm>
          <a:off x="7478712" y="2097077"/>
          <a:ext cx="3178175" cy="836613"/>
        </p:xfrm>
        <a:graphic>
          <a:graphicData uri="http://schemas.openxmlformats.org/presentationml/2006/ole">
            <mc:AlternateContent xmlns:mc="http://schemas.openxmlformats.org/markup-compatibility/2006">
              <mc:Choice xmlns:v="urn:schemas-microsoft-com:vml" Requires="v">
                <p:oleObj spid="_x0000_s4098" name="Equation" r:id="rId2" imgW="35661600" imgH="9448800" progId="Equation.DSMT4">
                  <p:embed/>
                </p:oleObj>
              </mc:Choice>
              <mc:Fallback>
                <p:oleObj name="Equation" r:id="rId2" imgW="35661600" imgH="9448800" progId="Equation.DSMT4">
                  <p:embed/>
                  <p:pic>
                    <p:nvPicPr>
                      <p:cNvPr id="0" name="Object 45"/>
                      <p:cNvPicPr/>
                      <p:nvPr/>
                    </p:nvPicPr>
                    <p:blipFill>
                      <a:blip r:embed="rId3"/>
                      <a:stretch>
                        <a:fillRect/>
                      </a:stretch>
                    </p:blipFill>
                    <p:spPr>
                      <a:xfrm>
                        <a:off x="7478712" y="2097077"/>
                        <a:ext cx="3178175" cy="836613"/>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6284913" y="3403231"/>
          <a:ext cx="5754687" cy="539750"/>
        </p:xfrm>
        <a:graphic>
          <a:graphicData uri="http://schemas.openxmlformats.org/presentationml/2006/ole">
            <mc:AlternateContent xmlns:mc="http://schemas.openxmlformats.org/markup-compatibility/2006">
              <mc:Choice xmlns:v="urn:schemas-microsoft-com:vml" Requires="v">
                <p:oleObj spid="_x0000_s4099" name="Equation" r:id="rId4" imgW="64617600" imgH="6096000" progId="Equation.DSMT4">
                  <p:embed/>
                </p:oleObj>
              </mc:Choice>
              <mc:Fallback>
                <p:oleObj name="Equation" r:id="rId4" imgW="64617600" imgH="6096000" progId="Equation.DSMT4">
                  <p:embed/>
                  <p:pic>
                    <p:nvPicPr>
                      <p:cNvPr id="0" name="Object 9"/>
                      <p:cNvPicPr/>
                      <p:nvPr/>
                    </p:nvPicPr>
                    <p:blipFill>
                      <a:blip r:embed="rId5"/>
                      <a:stretch>
                        <a:fillRect/>
                      </a:stretch>
                    </p:blipFill>
                    <p:spPr>
                      <a:xfrm>
                        <a:off x="6284913" y="3403231"/>
                        <a:ext cx="5754687" cy="53975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3290196" y="2420587"/>
          <a:ext cx="1058862" cy="377825"/>
        </p:xfrm>
        <a:graphic>
          <a:graphicData uri="http://schemas.openxmlformats.org/presentationml/2006/ole">
            <mc:AlternateContent xmlns:mc="http://schemas.openxmlformats.org/markup-compatibility/2006">
              <mc:Choice xmlns:v="urn:schemas-microsoft-com:vml" Requires="v">
                <p:oleObj spid="_x0000_s4100" name="Equation" r:id="rId6" imgW="11887200" imgH="4267200" progId="Equation.DSMT4">
                  <p:embed/>
                </p:oleObj>
              </mc:Choice>
              <mc:Fallback>
                <p:oleObj name="Equation" r:id="rId6" imgW="11887200" imgH="4267200" progId="Equation.DSMT4">
                  <p:embed/>
                  <p:pic>
                    <p:nvPicPr>
                      <p:cNvPr id="0" name="Object 10"/>
                      <p:cNvPicPr/>
                      <p:nvPr/>
                    </p:nvPicPr>
                    <p:blipFill>
                      <a:blip r:embed="rId7"/>
                      <a:stretch>
                        <a:fillRect/>
                      </a:stretch>
                    </p:blipFill>
                    <p:spPr>
                      <a:xfrm>
                        <a:off x="3290196" y="2420587"/>
                        <a:ext cx="1058862" cy="377825"/>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788313" y="2191194"/>
          <a:ext cx="922338" cy="836612"/>
        </p:xfrm>
        <a:graphic>
          <a:graphicData uri="http://schemas.openxmlformats.org/presentationml/2006/ole">
            <mc:AlternateContent xmlns:mc="http://schemas.openxmlformats.org/markup-compatibility/2006">
              <mc:Choice xmlns:v="urn:schemas-microsoft-com:vml" Requires="v">
                <p:oleObj spid="_x0000_s4101" name="Equation" r:id="rId8" imgW="10363200" imgH="9448800" progId="Equation.DSMT4">
                  <p:embed/>
                </p:oleObj>
              </mc:Choice>
              <mc:Fallback>
                <p:oleObj name="Equation" r:id="rId8" imgW="10363200" imgH="9448800" progId="Equation.DSMT4">
                  <p:embed/>
                  <p:pic>
                    <p:nvPicPr>
                      <p:cNvPr id="0" name="Object 11"/>
                      <p:cNvPicPr/>
                      <p:nvPr/>
                    </p:nvPicPr>
                    <p:blipFill>
                      <a:blip r:embed="rId9"/>
                      <a:stretch>
                        <a:fillRect/>
                      </a:stretch>
                    </p:blipFill>
                    <p:spPr>
                      <a:xfrm>
                        <a:off x="788313" y="2191194"/>
                        <a:ext cx="922338" cy="836612"/>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2315236" y="3387642"/>
          <a:ext cx="1579563" cy="404812"/>
        </p:xfrm>
        <a:graphic>
          <a:graphicData uri="http://schemas.openxmlformats.org/presentationml/2006/ole">
            <mc:AlternateContent xmlns:mc="http://schemas.openxmlformats.org/markup-compatibility/2006">
              <mc:Choice xmlns:v="urn:schemas-microsoft-com:vml" Requires="v">
                <p:oleObj spid="_x0000_s4102" name="Equation" r:id="rId10" imgW="17678400" imgH="4572000" progId="Equation.DSMT4">
                  <p:embed/>
                </p:oleObj>
              </mc:Choice>
              <mc:Fallback>
                <p:oleObj name="Equation" r:id="rId10" imgW="17678400" imgH="4572000" progId="Equation.DSMT4">
                  <p:embed/>
                  <p:pic>
                    <p:nvPicPr>
                      <p:cNvPr id="0" name="Object 12"/>
                      <p:cNvPicPr/>
                      <p:nvPr/>
                    </p:nvPicPr>
                    <p:blipFill>
                      <a:blip r:embed="rId11"/>
                      <a:stretch>
                        <a:fillRect/>
                      </a:stretch>
                    </p:blipFill>
                    <p:spPr>
                      <a:xfrm>
                        <a:off x="2315236" y="3387642"/>
                        <a:ext cx="1579563" cy="404812"/>
                      </a:xfrm>
                      <a:prstGeom prst="rect">
                        <a:avLst/>
                      </a:prstGeom>
                    </p:spPr>
                  </p:pic>
                </p:oleObj>
              </mc:Fallback>
            </mc:AlternateContent>
          </a:graphicData>
        </a:graphic>
      </p:graphicFrame>
      <p:cxnSp>
        <p:nvCxnSpPr>
          <p:cNvPr id="14" name="Straight Arrow Connector 13"/>
          <p:cNvCxnSpPr/>
          <p:nvPr/>
        </p:nvCxnSpPr>
        <p:spPr>
          <a:xfrm flipH="1">
            <a:off x="3619496" y="2798412"/>
            <a:ext cx="275303" cy="469541"/>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253354" y="2840752"/>
            <a:ext cx="195150" cy="427201"/>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Object 17"/>
          <p:cNvGraphicFramePr>
            <a:graphicFrameLocks noChangeAspect="1"/>
          </p:cNvGraphicFramePr>
          <p:nvPr/>
        </p:nvGraphicFramePr>
        <p:xfrm>
          <a:off x="4068174" y="3204460"/>
          <a:ext cx="762000" cy="836612"/>
        </p:xfrm>
        <a:graphic>
          <a:graphicData uri="http://schemas.openxmlformats.org/presentationml/2006/ole">
            <mc:AlternateContent xmlns:mc="http://schemas.openxmlformats.org/markup-compatibility/2006">
              <mc:Choice xmlns:v="urn:schemas-microsoft-com:vml" Requires="v">
                <p:oleObj spid="_x0000_s4103" name="Equation" r:id="rId12" imgW="8534400" imgH="9448800" progId="Equation.DSMT4">
                  <p:embed/>
                </p:oleObj>
              </mc:Choice>
              <mc:Fallback>
                <p:oleObj name="Equation" r:id="rId12" imgW="8534400" imgH="9448800" progId="Equation.DSMT4">
                  <p:embed/>
                  <p:pic>
                    <p:nvPicPr>
                      <p:cNvPr id="0" name="Object 17"/>
                      <p:cNvPicPr/>
                      <p:nvPr/>
                    </p:nvPicPr>
                    <p:blipFill>
                      <a:blip r:embed="rId13"/>
                      <a:stretch>
                        <a:fillRect/>
                      </a:stretch>
                    </p:blipFill>
                    <p:spPr>
                      <a:xfrm>
                        <a:off x="4068174" y="3204460"/>
                        <a:ext cx="762000" cy="836612"/>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10"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cTn>
                              </p:par>
                              <p:par>
                                <p:cTn id="44" presetID="10"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3. Hãy giải thích tác dụng của líp nhiều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tầng trong xe đạp thể thao?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Líp xe đạp là gì? Có bao nhiêu loại? Ưu nhược điểm như thế nà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9092" y="177470"/>
            <a:ext cx="5510508" cy="3657600"/>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794;p49"/>
          <p:cNvSpPr txBox="1"/>
          <p:nvPr/>
        </p:nvSpPr>
        <p:spPr>
          <a:xfrm>
            <a:off x="2392661" y="131095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6" name="Google Shape;1794;p49"/>
          <p:cNvSpPr txBox="1"/>
          <p:nvPr/>
        </p:nvSpPr>
        <p:spPr>
          <a:xfrm>
            <a:off x="152400" y="1929837"/>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Líp nhiều tầng giúp cho vận động viên điều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chỉnh sao cho phù hợp với từng địa hình: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 Leo dốc: chọn líp lớn để đạp nhẹ hơn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 Tăng tốc: chọn líp nhỏ để đạp nhanh hơn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4. Hình dưới mô tả hộp số xe máy. Hãy giải thích tại sao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khi đi xe máy trên những đoạn đường dốc hoặc có ma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sát lớn ta thường đi ở số nhỏ?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Xe máy vào số bị kêu: Nguyên nhân và cách khắc phục triệt để"/>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8318" t="14911" r="27508" b="18279"/>
          <a:stretch>
            <a:fillRect/>
          </a:stretch>
        </p:blipFill>
        <p:spPr bwMode="auto">
          <a:xfrm>
            <a:off x="8688600" y="276521"/>
            <a:ext cx="33510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794;p49"/>
          <p:cNvSpPr txBox="1"/>
          <p:nvPr/>
        </p:nvSpPr>
        <p:spPr>
          <a:xfrm>
            <a:off x="3634030" y="1644130"/>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6" name="Google Shape;1794;p49"/>
          <p:cNvSpPr txBox="1"/>
          <p:nvPr/>
        </p:nvSpPr>
        <p:spPr>
          <a:xfrm>
            <a:off x="152400" y="2191096"/>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Vì ở số càng nhỏ thì sẽ tạo ra lực kéo càng lớn, giúp xe lên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dốc dễ dàng hơn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5. Động cơ của một thang máy tác dụng lực kéo 20000 N để thang máy chuyển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động thẳng lên trên trong 10 s và quãng đường đi được tương ứng là 18 m. Công suất trung bình của động cơ là bao nhiêu?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794;p49"/>
          <p:cNvSpPr txBox="1"/>
          <p:nvPr/>
        </p:nvSpPr>
        <p:spPr>
          <a:xfrm>
            <a:off x="152400" y="1929837"/>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Công suất: </a:t>
            </a:r>
            <a:endParaRPr lang="en-US" sz="2500" kern="0">
              <a:solidFill>
                <a:srgbClr val="FFFF00"/>
              </a:solidFill>
              <a:latin typeface="Itim" panose="00000500000000000000" pitchFamily="2" charset="-34"/>
              <a:cs typeface="Itim" panose="00000500000000000000" pitchFamily="2" charset="-34"/>
            </a:endParaRPr>
          </a:p>
        </p:txBody>
      </p:sp>
      <p:sp>
        <p:nvSpPr>
          <p:cNvPr id="5" name="Google Shape;1794;p49"/>
          <p:cNvSpPr txBox="1"/>
          <p:nvPr/>
        </p:nvSpPr>
        <p:spPr>
          <a:xfrm>
            <a:off x="8119715" y="1533995"/>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6" name="Google Shape;1794;p49"/>
          <p:cNvSpPr txBox="1"/>
          <p:nvPr/>
        </p:nvSpPr>
        <p:spPr>
          <a:xfrm>
            <a:off x="6096000" y="1929837"/>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Tốc độ của vật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Công suất của người kéo: </a:t>
            </a:r>
            <a:endParaRPr lang="en-US" sz="2500" kern="0">
              <a:solidFill>
                <a:srgbClr val="F8F8F8"/>
              </a:solidFill>
              <a:latin typeface="Itim" panose="00000500000000000000" pitchFamily="2" charset="-34"/>
              <a:cs typeface="Itim" panose="00000500000000000000" pitchFamily="2" charset="-34"/>
            </a:endParaRPr>
          </a:p>
        </p:txBody>
      </p:sp>
      <p:sp>
        <p:nvSpPr>
          <p:cNvPr id="7" name="Google Shape;1794;p49"/>
          <p:cNvSpPr txBox="1"/>
          <p:nvPr/>
        </p:nvSpPr>
        <p:spPr>
          <a:xfrm>
            <a:off x="2176115" y="1533995"/>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8" name="Object 7"/>
          <p:cNvGraphicFramePr>
            <a:graphicFrameLocks noChangeAspect="1"/>
          </p:cNvGraphicFramePr>
          <p:nvPr/>
        </p:nvGraphicFramePr>
        <p:xfrm>
          <a:off x="7505700" y="2374900"/>
          <a:ext cx="3124200" cy="836613"/>
        </p:xfrm>
        <a:graphic>
          <a:graphicData uri="http://schemas.openxmlformats.org/presentationml/2006/ole">
            <mc:AlternateContent xmlns:mc="http://schemas.openxmlformats.org/markup-compatibility/2006">
              <mc:Choice xmlns:v="urn:schemas-microsoft-com:vml" Requires="v">
                <p:oleObj spid="_x0000_s5122" name="Equation" r:id="rId2" imgW="35052000" imgH="9448800" progId="Equation.DSMT4">
                  <p:embed/>
                </p:oleObj>
              </mc:Choice>
              <mc:Fallback>
                <p:oleObj name="Equation" r:id="rId2" imgW="35052000" imgH="9448800" progId="Equation.DSMT4">
                  <p:embed/>
                  <p:pic>
                    <p:nvPicPr>
                      <p:cNvPr id="0" name="Object 7"/>
                      <p:cNvPicPr/>
                      <p:nvPr/>
                    </p:nvPicPr>
                    <p:blipFill>
                      <a:blip r:embed="rId3"/>
                      <a:stretch>
                        <a:fillRect/>
                      </a:stretch>
                    </p:blipFill>
                    <p:spPr>
                      <a:xfrm>
                        <a:off x="7505700" y="2374900"/>
                        <a:ext cx="3124200" cy="836613"/>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6746875" y="3778911"/>
          <a:ext cx="4641850" cy="1079500"/>
        </p:xfrm>
        <a:graphic>
          <a:graphicData uri="http://schemas.openxmlformats.org/presentationml/2006/ole">
            <mc:AlternateContent xmlns:mc="http://schemas.openxmlformats.org/markup-compatibility/2006">
              <mc:Choice xmlns:v="urn:schemas-microsoft-com:vml" Requires="v">
                <p:oleObj spid="_x0000_s5123" name="Equation" r:id="rId4" imgW="52120800" imgH="12192000" progId="Equation.DSMT4">
                  <p:embed/>
                </p:oleObj>
              </mc:Choice>
              <mc:Fallback>
                <p:oleObj name="Equation" r:id="rId4" imgW="52120800" imgH="12192000" progId="Equation.DSMT4">
                  <p:embed/>
                  <p:pic>
                    <p:nvPicPr>
                      <p:cNvPr id="0" name="Object 9"/>
                      <p:cNvPicPr/>
                      <p:nvPr/>
                    </p:nvPicPr>
                    <p:blipFill>
                      <a:blip r:embed="rId5"/>
                      <a:stretch>
                        <a:fillRect/>
                      </a:stretch>
                    </p:blipFill>
                    <p:spPr>
                      <a:xfrm>
                        <a:off x="6746875" y="3778911"/>
                        <a:ext cx="4641850" cy="107950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3290196" y="2698176"/>
          <a:ext cx="1058862" cy="377825"/>
        </p:xfrm>
        <a:graphic>
          <a:graphicData uri="http://schemas.openxmlformats.org/presentationml/2006/ole">
            <mc:AlternateContent xmlns:mc="http://schemas.openxmlformats.org/markup-compatibility/2006">
              <mc:Choice xmlns:v="urn:schemas-microsoft-com:vml" Requires="v">
                <p:oleObj spid="_x0000_s5124" name="Equation" r:id="rId6" imgW="11887200" imgH="4267200" progId="Equation.DSMT4">
                  <p:embed/>
                </p:oleObj>
              </mc:Choice>
              <mc:Fallback>
                <p:oleObj name="Equation" r:id="rId6" imgW="11887200" imgH="4267200" progId="Equation.DSMT4">
                  <p:embed/>
                  <p:pic>
                    <p:nvPicPr>
                      <p:cNvPr id="0" name="Object 10"/>
                      <p:cNvPicPr/>
                      <p:nvPr/>
                    </p:nvPicPr>
                    <p:blipFill>
                      <a:blip r:embed="rId7"/>
                      <a:stretch>
                        <a:fillRect/>
                      </a:stretch>
                    </p:blipFill>
                    <p:spPr>
                      <a:xfrm>
                        <a:off x="3290196" y="2698176"/>
                        <a:ext cx="1058862" cy="377825"/>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788313" y="2468783"/>
          <a:ext cx="922338" cy="836612"/>
        </p:xfrm>
        <a:graphic>
          <a:graphicData uri="http://schemas.openxmlformats.org/presentationml/2006/ole">
            <mc:AlternateContent xmlns:mc="http://schemas.openxmlformats.org/markup-compatibility/2006">
              <mc:Choice xmlns:v="urn:schemas-microsoft-com:vml" Requires="v">
                <p:oleObj spid="_x0000_s5125" name="Equation" r:id="rId8" imgW="10363200" imgH="9448800" progId="Equation.DSMT4">
                  <p:embed/>
                </p:oleObj>
              </mc:Choice>
              <mc:Fallback>
                <p:oleObj name="Equation" r:id="rId8" imgW="10363200" imgH="9448800" progId="Equation.DSMT4">
                  <p:embed/>
                  <p:pic>
                    <p:nvPicPr>
                      <p:cNvPr id="0" name="Object 11"/>
                      <p:cNvPicPr/>
                      <p:nvPr/>
                    </p:nvPicPr>
                    <p:blipFill>
                      <a:blip r:embed="rId9"/>
                      <a:stretch>
                        <a:fillRect/>
                      </a:stretch>
                    </p:blipFill>
                    <p:spPr>
                      <a:xfrm>
                        <a:off x="788313" y="2468783"/>
                        <a:ext cx="922338" cy="836612"/>
                      </a:xfrm>
                      <a:prstGeom prst="rect">
                        <a:avLst/>
                      </a:prstGeom>
                    </p:spPr>
                  </p:pic>
                </p:oleObj>
              </mc:Fallback>
            </mc:AlternateContent>
          </a:graphicData>
        </a:graphic>
      </p:graphicFrame>
      <p:cxnSp>
        <p:nvCxnSpPr>
          <p:cNvPr id="15" name="Straight Arrow Connector 14"/>
          <p:cNvCxnSpPr/>
          <p:nvPr/>
        </p:nvCxnSpPr>
        <p:spPr>
          <a:xfrm>
            <a:off x="4253354" y="3118341"/>
            <a:ext cx="195150" cy="427201"/>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Object 15"/>
          <p:cNvGraphicFramePr>
            <a:graphicFrameLocks noChangeAspect="1"/>
          </p:cNvGraphicFramePr>
          <p:nvPr/>
        </p:nvGraphicFramePr>
        <p:xfrm>
          <a:off x="4068174" y="3482049"/>
          <a:ext cx="762000" cy="836612"/>
        </p:xfrm>
        <a:graphic>
          <a:graphicData uri="http://schemas.openxmlformats.org/presentationml/2006/ole">
            <mc:AlternateContent xmlns:mc="http://schemas.openxmlformats.org/markup-compatibility/2006">
              <mc:Choice xmlns:v="urn:schemas-microsoft-com:vml" Requires="v">
                <p:oleObj spid="_x0000_s5126" name="Equation" r:id="rId10" imgW="8534400" imgH="9448800" progId="Equation.DSMT4">
                  <p:embed/>
                </p:oleObj>
              </mc:Choice>
              <mc:Fallback>
                <p:oleObj name="Equation" r:id="rId10" imgW="8534400" imgH="9448800" progId="Equation.DSMT4">
                  <p:embed/>
                  <p:pic>
                    <p:nvPicPr>
                      <p:cNvPr id="0" name="Object 15"/>
                      <p:cNvPicPr/>
                      <p:nvPr/>
                    </p:nvPicPr>
                    <p:blipFill>
                      <a:blip r:embed="rId11"/>
                      <a:stretch>
                        <a:fillRect/>
                      </a:stretch>
                    </p:blipFill>
                    <p:spPr>
                      <a:xfrm>
                        <a:off x="4068174" y="3482049"/>
                        <a:ext cx="762000" cy="836612"/>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par>
                                <p:cTn id="35" presetID="10"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6. Một ô tô khối lượng 1 tấn đang hoạt động với công suất 5 kW và chuyển động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thẳng đều với vận tốc 54 km/h thì lên dốc. Hỏi động cơ ô tô phải hoạt động với công suất bằng bao nhiêu để có thể lên dốc với tốc độ như cũ? Biết hệ số ma sát giữa bánh xe và mặt đường không đổi, dốc nghiêng góc 2,3</a:t>
            </a:r>
            <a:r>
              <a:rPr lang="en-US" sz="2500" kern="0" baseline="30000">
                <a:solidFill>
                  <a:srgbClr val="F8F8F8"/>
                </a:solidFill>
                <a:latin typeface="Itim" panose="00000500000000000000" pitchFamily="2" charset="-34"/>
                <a:cs typeface="Itim" panose="00000500000000000000" pitchFamily="2" charset="-34"/>
              </a:rPr>
              <a:t>0</a:t>
            </a:r>
            <a:r>
              <a:rPr lang="en-US" sz="2500" kern="0">
                <a:solidFill>
                  <a:srgbClr val="F8F8F8"/>
                </a:solidFill>
                <a:latin typeface="Itim" panose="00000500000000000000" pitchFamily="2" charset="-34"/>
                <a:cs typeface="Itim" panose="00000500000000000000" pitchFamily="2" charset="-34"/>
              </a:rPr>
              <a:t> so với mặt đường nằm ngang và g = 10 m/s</a:t>
            </a:r>
            <a:r>
              <a:rPr lang="en-US" sz="2500" kern="0" baseline="30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38" name="Graphic 37" descr="Car with solid fill"/>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H="1" flipV="1">
            <a:off x="876176" y="3260411"/>
            <a:ext cx="914400" cy="914400"/>
          </a:xfrm>
          <a:prstGeom prst="rect">
            <a:avLst/>
          </a:prstGeom>
        </p:spPr>
      </p:pic>
      <p:cxnSp>
        <p:nvCxnSpPr>
          <p:cNvPr id="39" name="Straight Arrow Connector 38"/>
          <p:cNvCxnSpPr/>
          <p:nvPr/>
        </p:nvCxnSpPr>
        <p:spPr>
          <a:xfrm flipV="1">
            <a:off x="1344772" y="3724284"/>
            <a:ext cx="611457" cy="10606"/>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1333376" y="3712531"/>
            <a:ext cx="0" cy="726899"/>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1" name="Object 40"/>
          <p:cNvGraphicFramePr>
            <a:graphicFrameLocks noChangeAspect="1"/>
          </p:cNvGraphicFramePr>
          <p:nvPr/>
        </p:nvGraphicFramePr>
        <p:xfrm>
          <a:off x="1426245" y="4223530"/>
          <a:ext cx="271462" cy="431800"/>
        </p:xfrm>
        <a:graphic>
          <a:graphicData uri="http://schemas.openxmlformats.org/presentationml/2006/ole">
            <mc:AlternateContent xmlns:mc="http://schemas.openxmlformats.org/markup-compatibility/2006">
              <mc:Choice xmlns:v="urn:schemas-microsoft-com:vml" Requires="v">
                <p:oleObj spid="_x0000_s6146" name="Equation" r:id="rId4" imgW="3048000" imgH="4876800" progId="Equation.DSMT4">
                  <p:embed/>
                </p:oleObj>
              </mc:Choice>
              <mc:Fallback>
                <p:oleObj name="Equation" r:id="rId4" imgW="3048000" imgH="4876800" progId="Equation.DSMT4">
                  <p:embed/>
                  <p:pic>
                    <p:nvPicPr>
                      <p:cNvPr id="0" name="Object 40"/>
                      <p:cNvPicPr/>
                      <p:nvPr/>
                    </p:nvPicPr>
                    <p:blipFill>
                      <a:blip r:embed="rId5"/>
                      <a:stretch>
                        <a:fillRect/>
                      </a:stretch>
                    </p:blipFill>
                    <p:spPr>
                      <a:xfrm>
                        <a:off x="1426245" y="4223530"/>
                        <a:ext cx="271462" cy="431800"/>
                      </a:xfrm>
                      <a:prstGeom prst="rect">
                        <a:avLst/>
                      </a:prstGeom>
                    </p:spPr>
                  </p:pic>
                </p:oleObj>
              </mc:Fallback>
            </mc:AlternateContent>
          </a:graphicData>
        </a:graphic>
      </p:graphicFrame>
      <p:cxnSp>
        <p:nvCxnSpPr>
          <p:cNvPr id="3" name="Straight Connector 2"/>
          <p:cNvCxnSpPr/>
          <p:nvPr/>
        </p:nvCxnSpPr>
        <p:spPr>
          <a:xfrm>
            <a:off x="560676" y="3958503"/>
            <a:ext cx="1828800" cy="0"/>
          </a:xfrm>
          <a:prstGeom prst="line">
            <a:avLst/>
          </a:prstGeom>
          <a:ln w="38100">
            <a:solidFill>
              <a:srgbClr val="F8F8F8"/>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2384396" y="2969825"/>
            <a:ext cx="3358949" cy="991801"/>
          </a:xfrm>
          <a:prstGeom prst="line">
            <a:avLst/>
          </a:prstGeom>
          <a:ln w="38100">
            <a:solidFill>
              <a:srgbClr val="F8F8F8"/>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2390492" y="3955530"/>
            <a:ext cx="3461008" cy="0"/>
          </a:xfrm>
          <a:prstGeom prst="line">
            <a:avLst/>
          </a:prstGeom>
          <a:ln w="38100">
            <a:solidFill>
              <a:srgbClr val="F8F8F8"/>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p:cNvSpPr/>
          <p:nvPr/>
        </p:nvSpPr>
        <p:spPr>
          <a:xfrm>
            <a:off x="3256177" y="3718560"/>
            <a:ext cx="36576" cy="231648"/>
          </a:xfrm>
          <a:custGeom>
            <a:avLst/>
            <a:gdLst>
              <a:gd name="connsiteX0" fmla="*/ 0 w 36576"/>
              <a:gd name="connsiteY0" fmla="*/ 0 h 231648"/>
              <a:gd name="connsiteX1" fmla="*/ 6096 w 36576"/>
              <a:gd name="connsiteY1" fmla="*/ 30480 h 231648"/>
              <a:gd name="connsiteX2" fmla="*/ 24384 w 36576"/>
              <a:gd name="connsiteY2" fmla="*/ 54864 h 231648"/>
              <a:gd name="connsiteX3" fmla="*/ 30480 w 36576"/>
              <a:gd name="connsiteY3" fmla="*/ 103632 h 231648"/>
              <a:gd name="connsiteX4" fmla="*/ 36576 w 36576"/>
              <a:gd name="connsiteY4" fmla="*/ 121920 h 231648"/>
              <a:gd name="connsiteX5" fmla="*/ 30480 w 36576"/>
              <a:gd name="connsiteY5" fmla="*/ 231648 h 23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576" h="231648">
                <a:moveTo>
                  <a:pt x="0" y="0"/>
                </a:moveTo>
                <a:cubicBezTo>
                  <a:pt x="2032" y="10160"/>
                  <a:pt x="1888" y="21012"/>
                  <a:pt x="6096" y="30480"/>
                </a:cubicBezTo>
                <a:cubicBezTo>
                  <a:pt x="10222" y="39764"/>
                  <a:pt x="21171" y="45225"/>
                  <a:pt x="24384" y="54864"/>
                </a:cubicBezTo>
                <a:cubicBezTo>
                  <a:pt x="29565" y="70406"/>
                  <a:pt x="27549" y="87514"/>
                  <a:pt x="30480" y="103632"/>
                </a:cubicBezTo>
                <a:cubicBezTo>
                  <a:pt x="31629" y="109954"/>
                  <a:pt x="34544" y="115824"/>
                  <a:pt x="36576" y="121920"/>
                </a:cubicBezTo>
                <a:lnTo>
                  <a:pt x="30480" y="231648"/>
                </a:lnTo>
              </a:path>
            </a:pathLst>
          </a:custGeom>
          <a:noFill/>
          <a:ln w="381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Graphic 50" descr="Car with solid fill"/>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9802962" flipH="1" flipV="1">
            <a:off x="4267200" y="2573261"/>
            <a:ext cx="914400" cy="914400"/>
          </a:xfrm>
          <a:prstGeom prst="rect">
            <a:avLst/>
          </a:prstGeom>
        </p:spPr>
      </p:pic>
      <p:cxnSp>
        <p:nvCxnSpPr>
          <p:cNvPr id="54" name="Straight Arrow Connector 53"/>
          <p:cNvCxnSpPr/>
          <p:nvPr/>
        </p:nvCxnSpPr>
        <p:spPr>
          <a:xfrm>
            <a:off x="4724400" y="3029567"/>
            <a:ext cx="0" cy="67515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a:off x="447445" y="3834384"/>
            <a:ext cx="687935"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1274551" y="3021498"/>
            <a:ext cx="0" cy="742782"/>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4724400" y="2765417"/>
            <a:ext cx="863900" cy="256081"/>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H="1">
            <a:off x="3812119" y="3029567"/>
            <a:ext cx="892262" cy="263168"/>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H="1" flipV="1">
            <a:off x="4488941" y="2384406"/>
            <a:ext cx="235762" cy="650897"/>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8" name="Object 67"/>
          <p:cNvGraphicFramePr>
            <a:graphicFrameLocks noChangeAspect="1"/>
          </p:cNvGraphicFramePr>
          <p:nvPr/>
        </p:nvGraphicFramePr>
        <p:xfrm>
          <a:off x="1976134" y="3414897"/>
          <a:ext cx="271462" cy="431800"/>
        </p:xfrm>
        <a:graphic>
          <a:graphicData uri="http://schemas.openxmlformats.org/presentationml/2006/ole">
            <mc:AlternateContent xmlns:mc="http://schemas.openxmlformats.org/markup-compatibility/2006">
              <mc:Choice xmlns:v="urn:schemas-microsoft-com:vml" Requires="v">
                <p:oleObj spid="_x0000_s6147" name="Equation" r:id="rId6" imgW="3048000" imgH="4876800" progId="Equation.DSMT4">
                  <p:embed/>
                </p:oleObj>
              </mc:Choice>
              <mc:Fallback>
                <p:oleObj name="Equation" r:id="rId6" imgW="3048000" imgH="4876800" progId="Equation.DSMT4">
                  <p:embed/>
                  <p:pic>
                    <p:nvPicPr>
                      <p:cNvPr id="0" name="Object 67"/>
                      <p:cNvPicPr/>
                      <p:nvPr/>
                    </p:nvPicPr>
                    <p:blipFill>
                      <a:blip r:embed="rId7"/>
                      <a:stretch>
                        <a:fillRect/>
                      </a:stretch>
                    </p:blipFill>
                    <p:spPr>
                      <a:xfrm>
                        <a:off x="1976134" y="3414897"/>
                        <a:ext cx="271462" cy="431800"/>
                      </a:xfrm>
                      <a:prstGeom prst="rect">
                        <a:avLst/>
                      </a:prstGeom>
                    </p:spPr>
                  </p:pic>
                </p:oleObj>
              </mc:Fallback>
            </mc:AlternateContent>
          </a:graphicData>
        </a:graphic>
      </p:graphicFrame>
      <p:graphicFrame>
        <p:nvGraphicFramePr>
          <p:cNvPr id="69" name="Object 68"/>
          <p:cNvGraphicFramePr>
            <a:graphicFrameLocks noChangeAspect="1"/>
          </p:cNvGraphicFramePr>
          <p:nvPr/>
        </p:nvGraphicFramePr>
        <p:xfrm>
          <a:off x="152400" y="3277523"/>
          <a:ext cx="515937" cy="539750"/>
        </p:xfrm>
        <a:graphic>
          <a:graphicData uri="http://schemas.openxmlformats.org/presentationml/2006/ole">
            <mc:AlternateContent xmlns:mc="http://schemas.openxmlformats.org/markup-compatibility/2006">
              <mc:Choice xmlns:v="urn:schemas-microsoft-com:vml" Requires="v">
                <p:oleObj spid="_x0000_s6148" name="Equation" r:id="rId8" imgW="5791200" imgH="6096000" progId="Equation.DSMT4">
                  <p:embed/>
                </p:oleObj>
              </mc:Choice>
              <mc:Fallback>
                <p:oleObj name="Equation" r:id="rId8" imgW="5791200" imgH="6096000" progId="Equation.DSMT4">
                  <p:embed/>
                  <p:pic>
                    <p:nvPicPr>
                      <p:cNvPr id="0" name="Object 68"/>
                      <p:cNvPicPr/>
                      <p:nvPr/>
                    </p:nvPicPr>
                    <p:blipFill>
                      <a:blip r:embed="rId9"/>
                      <a:stretch>
                        <a:fillRect/>
                      </a:stretch>
                    </p:blipFill>
                    <p:spPr>
                      <a:xfrm>
                        <a:off x="152400" y="3277523"/>
                        <a:ext cx="515937" cy="539750"/>
                      </a:xfrm>
                      <a:prstGeom prst="rect">
                        <a:avLst/>
                      </a:prstGeom>
                    </p:spPr>
                  </p:pic>
                </p:oleObj>
              </mc:Fallback>
            </mc:AlternateContent>
          </a:graphicData>
        </a:graphic>
      </p:graphicFrame>
      <p:graphicFrame>
        <p:nvGraphicFramePr>
          <p:cNvPr id="70" name="Object 69"/>
          <p:cNvGraphicFramePr>
            <a:graphicFrameLocks noChangeAspect="1"/>
          </p:cNvGraphicFramePr>
          <p:nvPr/>
        </p:nvGraphicFramePr>
        <p:xfrm>
          <a:off x="1184151" y="2605478"/>
          <a:ext cx="298450" cy="431800"/>
        </p:xfrm>
        <a:graphic>
          <a:graphicData uri="http://schemas.openxmlformats.org/presentationml/2006/ole">
            <mc:AlternateContent xmlns:mc="http://schemas.openxmlformats.org/markup-compatibility/2006">
              <mc:Choice xmlns:v="urn:schemas-microsoft-com:vml" Requires="v">
                <p:oleObj spid="_x0000_s6149" name="Equation" r:id="rId10" imgW="3352800" imgH="4876800" progId="Equation.DSMT4">
                  <p:embed/>
                </p:oleObj>
              </mc:Choice>
              <mc:Fallback>
                <p:oleObj name="Equation" r:id="rId10" imgW="3352800" imgH="4876800" progId="Equation.DSMT4">
                  <p:embed/>
                  <p:pic>
                    <p:nvPicPr>
                      <p:cNvPr id="0" name="Object 69"/>
                      <p:cNvPicPr/>
                      <p:nvPr/>
                    </p:nvPicPr>
                    <p:blipFill>
                      <a:blip r:embed="rId11"/>
                      <a:stretch>
                        <a:fillRect/>
                      </a:stretch>
                    </p:blipFill>
                    <p:spPr>
                      <a:xfrm>
                        <a:off x="1184151" y="2605478"/>
                        <a:ext cx="298450" cy="431800"/>
                      </a:xfrm>
                      <a:prstGeom prst="rect">
                        <a:avLst/>
                      </a:prstGeom>
                    </p:spPr>
                  </p:pic>
                </p:oleObj>
              </mc:Fallback>
            </mc:AlternateContent>
          </a:graphicData>
        </a:graphic>
      </p:graphicFrame>
      <p:graphicFrame>
        <p:nvGraphicFramePr>
          <p:cNvPr id="71" name="Object 70"/>
          <p:cNvGraphicFramePr>
            <a:graphicFrameLocks noChangeAspect="1"/>
          </p:cNvGraphicFramePr>
          <p:nvPr/>
        </p:nvGraphicFramePr>
        <p:xfrm>
          <a:off x="5527445" y="2359343"/>
          <a:ext cx="352425" cy="431800"/>
        </p:xfrm>
        <a:graphic>
          <a:graphicData uri="http://schemas.openxmlformats.org/presentationml/2006/ole">
            <mc:AlternateContent xmlns:mc="http://schemas.openxmlformats.org/markup-compatibility/2006">
              <mc:Choice xmlns:v="urn:schemas-microsoft-com:vml" Requires="v">
                <p:oleObj spid="_x0000_s6150" name="Equation" r:id="rId12" imgW="3962400" imgH="4876800" progId="Equation.DSMT4">
                  <p:embed/>
                </p:oleObj>
              </mc:Choice>
              <mc:Fallback>
                <p:oleObj name="Equation" r:id="rId12" imgW="3962400" imgH="4876800" progId="Equation.DSMT4">
                  <p:embed/>
                  <p:pic>
                    <p:nvPicPr>
                      <p:cNvPr id="0" name="Object 70"/>
                      <p:cNvPicPr/>
                      <p:nvPr/>
                    </p:nvPicPr>
                    <p:blipFill>
                      <a:blip r:embed="rId13"/>
                      <a:stretch>
                        <a:fillRect/>
                      </a:stretch>
                    </p:blipFill>
                    <p:spPr>
                      <a:xfrm>
                        <a:off x="5527445" y="2359343"/>
                        <a:ext cx="352425" cy="431800"/>
                      </a:xfrm>
                      <a:prstGeom prst="rect">
                        <a:avLst/>
                      </a:prstGeom>
                    </p:spPr>
                  </p:pic>
                </p:oleObj>
              </mc:Fallback>
            </mc:AlternateContent>
          </a:graphicData>
        </a:graphic>
      </p:graphicFrame>
      <p:graphicFrame>
        <p:nvGraphicFramePr>
          <p:cNvPr id="72" name="Object 71"/>
          <p:cNvGraphicFramePr>
            <a:graphicFrameLocks noChangeAspect="1"/>
          </p:cNvGraphicFramePr>
          <p:nvPr/>
        </p:nvGraphicFramePr>
        <p:xfrm>
          <a:off x="3527682" y="2685871"/>
          <a:ext cx="596900" cy="539750"/>
        </p:xfrm>
        <a:graphic>
          <a:graphicData uri="http://schemas.openxmlformats.org/presentationml/2006/ole">
            <mc:AlternateContent xmlns:mc="http://schemas.openxmlformats.org/markup-compatibility/2006">
              <mc:Choice xmlns:v="urn:schemas-microsoft-com:vml" Requires="v">
                <p:oleObj spid="_x0000_s6151" name="Equation" r:id="rId14" imgW="6705600" imgH="6096000" progId="Equation.DSMT4">
                  <p:embed/>
                </p:oleObj>
              </mc:Choice>
              <mc:Fallback>
                <p:oleObj name="Equation" r:id="rId14" imgW="6705600" imgH="6096000" progId="Equation.DSMT4">
                  <p:embed/>
                  <p:pic>
                    <p:nvPicPr>
                      <p:cNvPr id="0" name="Object 71"/>
                      <p:cNvPicPr/>
                      <p:nvPr/>
                    </p:nvPicPr>
                    <p:blipFill>
                      <a:blip r:embed="rId15"/>
                      <a:stretch>
                        <a:fillRect/>
                      </a:stretch>
                    </p:blipFill>
                    <p:spPr>
                      <a:xfrm>
                        <a:off x="3527682" y="2685871"/>
                        <a:ext cx="596900" cy="539750"/>
                      </a:xfrm>
                      <a:prstGeom prst="rect">
                        <a:avLst/>
                      </a:prstGeom>
                    </p:spPr>
                  </p:pic>
                </p:oleObj>
              </mc:Fallback>
            </mc:AlternateContent>
          </a:graphicData>
        </a:graphic>
      </p:graphicFrame>
      <p:graphicFrame>
        <p:nvGraphicFramePr>
          <p:cNvPr id="73" name="Object 72"/>
          <p:cNvGraphicFramePr>
            <a:graphicFrameLocks noChangeAspect="1"/>
          </p:cNvGraphicFramePr>
          <p:nvPr/>
        </p:nvGraphicFramePr>
        <p:xfrm>
          <a:off x="4632793" y="3711578"/>
          <a:ext cx="271462" cy="431800"/>
        </p:xfrm>
        <a:graphic>
          <a:graphicData uri="http://schemas.openxmlformats.org/presentationml/2006/ole">
            <mc:AlternateContent xmlns:mc="http://schemas.openxmlformats.org/markup-compatibility/2006">
              <mc:Choice xmlns:v="urn:schemas-microsoft-com:vml" Requires="v">
                <p:oleObj spid="_x0000_s6152" name="Equation" r:id="rId16" imgW="3048000" imgH="4876800" progId="Equation.DSMT4">
                  <p:embed/>
                </p:oleObj>
              </mc:Choice>
              <mc:Fallback>
                <p:oleObj name="Equation" r:id="rId16" imgW="3048000" imgH="4876800" progId="Equation.DSMT4">
                  <p:embed/>
                  <p:pic>
                    <p:nvPicPr>
                      <p:cNvPr id="0" name="Object 72"/>
                      <p:cNvPicPr/>
                      <p:nvPr/>
                    </p:nvPicPr>
                    <p:blipFill>
                      <a:blip r:embed="rId5"/>
                      <a:stretch>
                        <a:fillRect/>
                      </a:stretch>
                    </p:blipFill>
                    <p:spPr>
                      <a:xfrm>
                        <a:off x="4632793" y="3711578"/>
                        <a:ext cx="271462" cy="431800"/>
                      </a:xfrm>
                      <a:prstGeom prst="rect">
                        <a:avLst/>
                      </a:prstGeom>
                    </p:spPr>
                  </p:pic>
                </p:oleObj>
              </mc:Fallback>
            </mc:AlternateContent>
          </a:graphicData>
        </a:graphic>
      </p:graphicFrame>
      <p:graphicFrame>
        <p:nvGraphicFramePr>
          <p:cNvPr id="74" name="Object 73"/>
          <p:cNvGraphicFramePr>
            <a:graphicFrameLocks noChangeAspect="1"/>
          </p:cNvGraphicFramePr>
          <p:nvPr/>
        </p:nvGraphicFramePr>
        <p:xfrm>
          <a:off x="4299234" y="1930694"/>
          <a:ext cx="379413" cy="431800"/>
        </p:xfrm>
        <a:graphic>
          <a:graphicData uri="http://schemas.openxmlformats.org/presentationml/2006/ole">
            <mc:AlternateContent xmlns:mc="http://schemas.openxmlformats.org/markup-compatibility/2006">
              <mc:Choice xmlns:v="urn:schemas-microsoft-com:vml" Requires="v">
                <p:oleObj spid="_x0000_s6153" name="Equation" r:id="rId17" imgW="4267200" imgH="4876800" progId="Equation.DSMT4">
                  <p:embed/>
                </p:oleObj>
              </mc:Choice>
              <mc:Fallback>
                <p:oleObj name="Equation" r:id="rId17" imgW="4267200" imgH="4876800" progId="Equation.DSMT4">
                  <p:embed/>
                  <p:pic>
                    <p:nvPicPr>
                      <p:cNvPr id="0" name="Object 73"/>
                      <p:cNvPicPr/>
                      <p:nvPr/>
                    </p:nvPicPr>
                    <p:blipFill>
                      <a:blip r:embed="rId18"/>
                      <a:stretch>
                        <a:fillRect/>
                      </a:stretch>
                    </p:blipFill>
                    <p:spPr>
                      <a:xfrm>
                        <a:off x="4299234" y="1930694"/>
                        <a:ext cx="379413" cy="431800"/>
                      </a:xfrm>
                      <a:prstGeom prst="rect">
                        <a:avLst/>
                      </a:prstGeom>
                    </p:spPr>
                  </p:pic>
                </p:oleObj>
              </mc:Fallback>
            </mc:AlternateContent>
          </a:graphicData>
        </a:graphic>
      </p:graphicFrame>
      <p:graphicFrame>
        <p:nvGraphicFramePr>
          <p:cNvPr id="75" name="Object 74"/>
          <p:cNvGraphicFramePr>
            <a:graphicFrameLocks noChangeAspect="1"/>
          </p:cNvGraphicFramePr>
          <p:nvPr/>
        </p:nvGraphicFramePr>
        <p:xfrm>
          <a:off x="3532402" y="3516918"/>
          <a:ext cx="677862" cy="458787"/>
        </p:xfrm>
        <a:graphic>
          <a:graphicData uri="http://schemas.openxmlformats.org/presentationml/2006/ole">
            <mc:AlternateContent xmlns:mc="http://schemas.openxmlformats.org/markup-compatibility/2006">
              <mc:Choice xmlns:v="urn:schemas-microsoft-com:vml" Requires="v">
                <p:oleObj spid="_x0000_s6154" name="Equation" r:id="rId19" imgW="7620000" imgH="5181600" progId="Equation.DSMT4">
                  <p:embed/>
                </p:oleObj>
              </mc:Choice>
              <mc:Fallback>
                <p:oleObj name="Equation" r:id="rId19" imgW="7620000" imgH="5181600" progId="Equation.DSMT4">
                  <p:embed/>
                  <p:pic>
                    <p:nvPicPr>
                      <p:cNvPr id="0" name="Object 74"/>
                      <p:cNvPicPr/>
                      <p:nvPr/>
                    </p:nvPicPr>
                    <p:blipFill>
                      <a:blip r:embed="rId20"/>
                      <a:stretch>
                        <a:fillRect/>
                      </a:stretch>
                    </p:blipFill>
                    <p:spPr>
                      <a:xfrm>
                        <a:off x="3532402" y="3516918"/>
                        <a:ext cx="677862" cy="458787"/>
                      </a:xfrm>
                      <a:prstGeom prst="rect">
                        <a:avLst/>
                      </a:prstGeom>
                    </p:spPr>
                  </p:pic>
                </p:oleObj>
              </mc:Fallback>
            </mc:AlternateContent>
          </a:graphicData>
        </a:graphic>
      </p:graphicFrame>
      <p:sp>
        <p:nvSpPr>
          <p:cNvPr id="76" name="Google Shape;1794;p49"/>
          <p:cNvSpPr txBox="1"/>
          <p:nvPr/>
        </p:nvSpPr>
        <p:spPr>
          <a:xfrm>
            <a:off x="152400" y="4643550"/>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Công suất lên dốc: </a:t>
            </a:r>
            <a:endParaRPr lang="en-US" sz="2500" kern="0">
              <a:solidFill>
                <a:srgbClr val="FFFF00"/>
              </a:solidFill>
              <a:latin typeface="Itim" panose="00000500000000000000" pitchFamily="2" charset="-34"/>
              <a:cs typeface="Itim" panose="00000500000000000000" pitchFamily="2" charset="-34"/>
            </a:endParaRPr>
          </a:p>
        </p:txBody>
      </p:sp>
      <p:sp>
        <p:nvSpPr>
          <p:cNvPr id="77" name="Google Shape;1794;p49"/>
          <p:cNvSpPr txBox="1"/>
          <p:nvPr/>
        </p:nvSpPr>
        <p:spPr>
          <a:xfrm>
            <a:off x="2176115" y="424770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78" name="Object 77"/>
          <p:cNvGraphicFramePr>
            <a:graphicFrameLocks noChangeAspect="1"/>
          </p:cNvGraphicFramePr>
          <p:nvPr/>
        </p:nvGraphicFramePr>
        <p:xfrm>
          <a:off x="962555" y="5096589"/>
          <a:ext cx="1249363" cy="377825"/>
        </p:xfrm>
        <a:graphic>
          <a:graphicData uri="http://schemas.openxmlformats.org/presentationml/2006/ole">
            <mc:AlternateContent xmlns:mc="http://schemas.openxmlformats.org/markup-compatibility/2006">
              <mc:Choice xmlns:v="urn:schemas-microsoft-com:vml" Requires="v">
                <p:oleObj spid="_x0000_s6155" name="Equation" r:id="rId21" imgW="14020800" imgH="4267200" progId="Equation.DSMT4">
                  <p:embed/>
                </p:oleObj>
              </mc:Choice>
              <mc:Fallback>
                <p:oleObj name="Equation" r:id="rId21" imgW="14020800" imgH="4267200" progId="Equation.DSMT4">
                  <p:embed/>
                  <p:pic>
                    <p:nvPicPr>
                      <p:cNvPr id="0" name="Object 77"/>
                      <p:cNvPicPr/>
                      <p:nvPr/>
                    </p:nvPicPr>
                    <p:blipFill>
                      <a:blip r:embed="rId22"/>
                      <a:stretch>
                        <a:fillRect/>
                      </a:stretch>
                    </p:blipFill>
                    <p:spPr>
                      <a:xfrm>
                        <a:off x="962555" y="5096589"/>
                        <a:ext cx="1249363" cy="377825"/>
                      </a:xfrm>
                      <a:prstGeom prst="rect">
                        <a:avLst/>
                      </a:prstGeom>
                    </p:spPr>
                  </p:pic>
                </p:oleObj>
              </mc:Fallback>
            </mc:AlternateContent>
          </a:graphicData>
        </a:graphic>
      </p:graphicFrame>
      <p:cxnSp>
        <p:nvCxnSpPr>
          <p:cNvPr id="80" name="Straight Arrow Connector 79"/>
          <p:cNvCxnSpPr/>
          <p:nvPr/>
        </p:nvCxnSpPr>
        <p:spPr>
          <a:xfrm flipH="1">
            <a:off x="791412" y="5456622"/>
            <a:ext cx="906295" cy="189586"/>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1" name="Object 80"/>
          <p:cNvGraphicFramePr>
            <a:graphicFrameLocks noChangeAspect="1"/>
          </p:cNvGraphicFramePr>
          <p:nvPr/>
        </p:nvGraphicFramePr>
        <p:xfrm>
          <a:off x="374800" y="5575582"/>
          <a:ext cx="4405313" cy="512763"/>
        </p:xfrm>
        <a:graphic>
          <a:graphicData uri="http://schemas.openxmlformats.org/presentationml/2006/ole">
            <mc:AlternateContent xmlns:mc="http://schemas.openxmlformats.org/markup-compatibility/2006">
              <mc:Choice xmlns:v="urn:schemas-microsoft-com:vml" Requires="v">
                <p:oleObj spid="_x0000_s6156" name="Equation" r:id="rId23" imgW="49377600" imgH="5791200" progId="Equation.DSMT4">
                  <p:embed/>
                </p:oleObj>
              </mc:Choice>
              <mc:Fallback>
                <p:oleObj name="Equation" r:id="rId23" imgW="49377600" imgH="5791200" progId="Equation.DSMT4">
                  <p:embed/>
                  <p:pic>
                    <p:nvPicPr>
                      <p:cNvPr id="0" name="Object 80"/>
                      <p:cNvPicPr/>
                      <p:nvPr/>
                    </p:nvPicPr>
                    <p:blipFill>
                      <a:blip r:embed="rId24"/>
                      <a:stretch>
                        <a:fillRect/>
                      </a:stretch>
                    </p:blipFill>
                    <p:spPr>
                      <a:xfrm>
                        <a:off x="374800" y="5575582"/>
                        <a:ext cx="4405313" cy="512763"/>
                      </a:xfrm>
                      <a:prstGeom prst="rect">
                        <a:avLst/>
                      </a:prstGeom>
                    </p:spPr>
                  </p:pic>
                </p:oleObj>
              </mc:Fallback>
            </mc:AlternateContent>
          </a:graphicData>
        </a:graphic>
      </p:graphicFrame>
      <p:cxnSp>
        <p:nvCxnSpPr>
          <p:cNvPr id="82" name="Straight Arrow Connector 81"/>
          <p:cNvCxnSpPr/>
          <p:nvPr/>
        </p:nvCxnSpPr>
        <p:spPr>
          <a:xfrm>
            <a:off x="4724400" y="3018622"/>
            <a:ext cx="262330" cy="612175"/>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H="1">
            <a:off x="4429355" y="3022319"/>
            <a:ext cx="281626" cy="92104"/>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4763444" y="3635877"/>
            <a:ext cx="218206" cy="61970"/>
          </a:xfrm>
          <a:prstGeom prst="line">
            <a:avLst/>
          </a:prstGeom>
          <a:ln w="12700">
            <a:solidFill>
              <a:srgbClr val="FFFF00"/>
            </a:solidFill>
            <a:prstDash val="dash"/>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4462071" y="3160238"/>
            <a:ext cx="206505" cy="537261"/>
          </a:xfrm>
          <a:prstGeom prst="line">
            <a:avLst/>
          </a:prstGeom>
          <a:ln w="12700">
            <a:solidFill>
              <a:srgbClr val="FFFF00"/>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96" name="Object 95"/>
          <p:cNvGraphicFramePr>
            <a:graphicFrameLocks noChangeAspect="1"/>
          </p:cNvGraphicFramePr>
          <p:nvPr/>
        </p:nvGraphicFramePr>
        <p:xfrm>
          <a:off x="4992212" y="3379968"/>
          <a:ext cx="381000" cy="566738"/>
        </p:xfrm>
        <a:graphic>
          <a:graphicData uri="http://schemas.openxmlformats.org/presentationml/2006/ole">
            <mc:AlternateContent xmlns:mc="http://schemas.openxmlformats.org/markup-compatibility/2006">
              <mc:Choice xmlns:v="urn:schemas-microsoft-com:vml" Requires="v">
                <p:oleObj spid="_x0000_s6157" name="Equation" r:id="rId25" imgW="4267200" imgH="6400800" progId="Equation.DSMT4">
                  <p:embed/>
                </p:oleObj>
              </mc:Choice>
              <mc:Fallback>
                <p:oleObj name="Equation" r:id="rId25" imgW="4267200" imgH="6400800" progId="Equation.DSMT4">
                  <p:embed/>
                  <p:pic>
                    <p:nvPicPr>
                      <p:cNvPr id="0" name="Object 95"/>
                      <p:cNvPicPr/>
                      <p:nvPr/>
                    </p:nvPicPr>
                    <p:blipFill>
                      <a:blip r:embed="rId26"/>
                      <a:stretch>
                        <a:fillRect/>
                      </a:stretch>
                    </p:blipFill>
                    <p:spPr>
                      <a:xfrm>
                        <a:off x="4992212" y="3379968"/>
                        <a:ext cx="381000" cy="566738"/>
                      </a:xfrm>
                      <a:prstGeom prst="rect">
                        <a:avLst/>
                      </a:prstGeom>
                    </p:spPr>
                  </p:pic>
                </p:oleObj>
              </mc:Fallback>
            </mc:AlternateContent>
          </a:graphicData>
        </a:graphic>
      </p:graphicFrame>
      <p:graphicFrame>
        <p:nvGraphicFramePr>
          <p:cNvPr id="97" name="Object 96"/>
          <p:cNvGraphicFramePr>
            <a:graphicFrameLocks noChangeAspect="1"/>
          </p:cNvGraphicFramePr>
          <p:nvPr/>
        </p:nvGraphicFramePr>
        <p:xfrm>
          <a:off x="4230711" y="2534916"/>
          <a:ext cx="381000" cy="539750"/>
        </p:xfrm>
        <a:graphic>
          <a:graphicData uri="http://schemas.openxmlformats.org/presentationml/2006/ole">
            <mc:AlternateContent xmlns:mc="http://schemas.openxmlformats.org/markup-compatibility/2006">
              <mc:Choice xmlns:v="urn:schemas-microsoft-com:vml" Requires="v">
                <p:oleObj spid="_x0000_s6158" name="Equation" r:id="rId27" imgW="4267200" imgH="6096000" progId="Equation.DSMT4">
                  <p:embed/>
                </p:oleObj>
              </mc:Choice>
              <mc:Fallback>
                <p:oleObj name="Equation" r:id="rId27" imgW="4267200" imgH="6096000" progId="Equation.DSMT4">
                  <p:embed/>
                  <p:pic>
                    <p:nvPicPr>
                      <p:cNvPr id="0" name="Object 96"/>
                      <p:cNvPicPr/>
                      <p:nvPr/>
                    </p:nvPicPr>
                    <p:blipFill>
                      <a:blip r:embed="rId28"/>
                      <a:stretch>
                        <a:fillRect/>
                      </a:stretch>
                    </p:blipFill>
                    <p:spPr>
                      <a:xfrm>
                        <a:off x="4230711" y="2534916"/>
                        <a:ext cx="381000" cy="539750"/>
                      </a:xfrm>
                      <a:prstGeom prst="rect">
                        <a:avLst/>
                      </a:prstGeom>
                    </p:spPr>
                  </p:pic>
                </p:oleObj>
              </mc:Fallback>
            </mc:AlternateContent>
          </a:graphicData>
        </a:graphic>
      </p:graphicFrame>
      <p:graphicFrame>
        <p:nvGraphicFramePr>
          <p:cNvPr id="101" name="Object 100"/>
          <p:cNvGraphicFramePr>
            <a:graphicFrameLocks noChangeAspect="1"/>
          </p:cNvGraphicFramePr>
          <p:nvPr/>
        </p:nvGraphicFramePr>
        <p:xfrm>
          <a:off x="100422" y="6037359"/>
          <a:ext cx="3209925" cy="836612"/>
        </p:xfrm>
        <a:graphic>
          <a:graphicData uri="http://schemas.openxmlformats.org/presentationml/2006/ole">
            <mc:AlternateContent xmlns:mc="http://schemas.openxmlformats.org/markup-compatibility/2006">
              <mc:Choice xmlns:v="urn:schemas-microsoft-com:vml" Requires="v">
                <p:oleObj spid="_x0000_s6159" name="Equation" r:id="rId29" imgW="35966400" imgH="9448800" progId="Equation.DSMT4">
                  <p:embed/>
                </p:oleObj>
              </mc:Choice>
              <mc:Fallback>
                <p:oleObj name="Equation" r:id="rId29" imgW="35966400" imgH="9448800" progId="Equation.DSMT4">
                  <p:embed/>
                  <p:pic>
                    <p:nvPicPr>
                      <p:cNvPr id="0" name="Object 100"/>
                      <p:cNvPicPr/>
                      <p:nvPr/>
                    </p:nvPicPr>
                    <p:blipFill>
                      <a:blip r:embed="rId30"/>
                      <a:stretch>
                        <a:fillRect/>
                      </a:stretch>
                    </p:blipFill>
                    <p:spPr>
                      <a:xfrm>
                        <a:off x="100422" y="6037359"/>
                        <a:ext cx="3209925" cy="836612"/>
                      </a:xfrm>
                      <a:prstGeom prst="rect">
                        <a:avLst/>
                      </a:prstGeom>
                    </p:spPr>
                  </p:pic>
                </p:oleObj>
              </mc:Fallback>
            </mc:AlternateContent>
          </a:graphicData>
        </a:graphic>
      </p:graphicFrame>
      <p:cxnSp>
        <p:nvCxnSpPr>
          <p:cNvPr id="103" name="Straight Arrow Connector 102"/>
          <p:cNvCxnSpPr/>
          <p:nvPr/>
        </p:nvCxnSpPr>
        <p:spPr>
          <a:xfrm flipH="1">
            <a:off x="1910514" y="5981190"/>
            <a:ext cx="402701" cy="344884"/>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05" name="Google Shape;1794;p49"/>
          <p:cNvSpPr txBox="1"/>
          <p:nvPr/>
        </p:nvSpPr>
        <p:spPr>
          <a:xfrm>
            <a:off x="8119715" y="1769969"/>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06" name="Google Shape;1794;p49"/>
          <p:cNvSpPr txBox="1"/>
          <p:nvPr/>
        </p:nvSpPr>
        <p:spPr>
          <a:xfrm>
            <a:off x="6096000" y="2165811"/>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Đổi: 54 km/h = 15 m/s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Lực kéo trên đoạn đường nằm ngang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Hệ số ma sát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110" name="Object 109"/>
          <p:cNvGraphicFramePr>
            <a:graphicFrameLocks noChangeAspect="1"/>
          </p:cNvGraphicFramePr>
          <p:nvPr/>
        </p:nvGraphicFramePr>
        <p:xfrm>
          <a:off x="3799310" y="6021388"/>
          <a:ext cx="2255838" cy="836612"/>
        </p:xfrm>
        <a:graphic>
          <a:graphicData uri="http://schemas.openxmlformats.org/presentationml/2006/ole">
            <mc:AlternateContent xmlns:mc="http://schemas.openxmlformats.org/markup-compatibility/2006">
              <mc:Choice xmlns:v="urn:schemas-microsoft-com:vml" Requires="v">
                <p:oleObj spid="_x0000_s6160" name="Equation" r:id="rId31" imgW="25298400" imgH="9448800" progId="Equation.DSMT4">
                  <p:embed/>
                </p:oleObj>
              </mc:Choice>
              <mc:Fallback>
                <p:oleObj name="Equation" r:id="rId31" imgW="25298400" imgH="9448800" progId="Equation.DSMT4">
                  <p:embed/>
                  <p:pic>
                    <p:nvPicPr>
                      <p:cNvPr id="0" name="Object 109"/>
                      <p:cNvPicPr/>
                      <p:nvPr/>
                    </p:nvPicPr>
                    <p:blipFill>
                      <a:blip r:embed="rId32"/>
                      <a:stretch>
                        <a:fillRect/>
                      </a:stretch>
                    </p:blipFill>
                    <p:spPr>
                      <a:xfrm>
                        <a:off x="3799310" y="6021388"/>
                        <a:ext cx="2255838" cy="836612"/>
                      </a:xfrm>
                      <a:prstGeom prst="rect">
                        <a:avLst/>
                      </a:prstGeom>
                    </p:spPr>
                  </p:pic>
                </p:oleObj>
              </mc:Fallback>
            </mc:AlternateContent>
          </a:graphicData>
        </a:graphic>
      </p:graphicFrame>
      <p:cxnSp>
        <p:nvCxnSpPr>
          <p:cNvPr id="114" name="Straight Arrow Connector 113"/>
          <p:cNvCxnSpPr/>
          <p:nvPr/>
        </p:nvCxnSpPr>
        <p:spPr>
          <a:xfrm>
            <a:off x="3283603" y="6204975"/>
            <a:ext cx="483055" cy="17112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16" name="Object 115"/>
          <p:cNvGraphicFramePr>
            <a:graphicFrameLocks noChangeAspect="1"/>
          </p:cNvGraphicFramePr>
          <p:nvPr/>
        </p:nvGraphicFramePr>
        <p:xfrm>
          <a:off x="7211557" y="3225621"/>
          <a:ext cx="3556000" cy="836613"/>
        </p:xfrm>
        <a:graphic>
          <a:graphicData uri="http://schemas.openxmlformats.org/presentationml/2006/ole">
            <mc:AlternateContent xmlns:mc="http://schemas.openxmlformats.org/markup-compatibility/2006">
              <mc:Choice xmlns:v="urn:schemas-microsoft-com:vml" Requires="v">
                <p:oleObj spid="_x0000_s6161" name="Equation" r:id="rId33" imgW="39928800" imgH="9448800" progId="Equation.DSMT4">
                  <p:embed/>
                </p:oleObj>
              </mc:Choice>
              <mc:Fallback>
                <p:oleObj name="Equation" r:id="rId33" imgW="39928800" imgH="9448800" progId="Equation.DSMT4">
                  <p:embed/>
                  <p:pic>
                    <p:nvPicPr>
                      <p:cNvPr id="0" name="Object 115"/>
                      <p:cNvPicPr/>
                      <p:nvPr/>
                    </p:nvPicPr>
                    <p:blipFill>
                      <a:blip r:embed="rId34"/>
                      <a:stretch>
                        <a:fillRect/>
                      </a:stretch>
                    </p:blipFill>
                    <p:spPr>
                      <a:xfrm>
                        <a:off x="7211557" y="3225621"/>
                        <a:ext cx="3556000" cy="836613"/>
                      </a:xfrm>
                      <a:prstGeom prst="rect">
                        <a:avLst/>
                      </a:prstGeom>
                    </p:spPr>
                  </p:pic>
                </p:oleObj>
              </mc:Fallback>
            </mc:AlternateContent>
          </a:graphicData>
        </a:graphic>
      </p:graphicFrame>
      <p:graphicFrame>
        <p:nvGraphicFramePr>
          <p:cNvPr id="117" name="Object 116"/>
          <p:cNvGraphicFramePr>
            <a:graphicFrameLocks noChangeAspect="1"/>
          </p:cNvGraphicFramePr>
          <p:nvPr/>
        </p:nvGraphicFramePr>
        <p:xfrm>
          <a:off x="6569869" y="4655330"/>
          <a:ext cx="4995862" cy="1268412"/>
        </p:xfrm>
        <a:graphic>
          <a:graphicData uri="http://schemas.openxmlformats.org/presentationml/2006/ole">
            <mc:AlternateContent xmlns:mc="http://schemas.openxmlformats.org/markup-compatibility/2006">
              <mc:Choice xmlns:v="urn:schemas-microsoft-com:vml" Requires="v">
                <p:oleObj spid="_x0000_s6162" name="Equation" r:id="rId35" imgW="56083200" imgH="14325600" progId="Equation.DSMT4">
                  <p:embed/>
                </p:oleObj>
              </mc:Choice>
              <mc:Fallback>
                <p:oleObj name="Equation" r:id="rId35" imgW="56083200" imgH="14325600" progId="Equation.DSMT4">
                  <p:embed/>
                  <p:pic>
                    <p:nvPicPr>
                      <p:cNvPr id="0" name="Object 116"/>
                      <p:cNvPicPr/>
                      <p:nvPr/>
                    </p:nvPicPr>
                    <p:blipFill>
                      <a:blip r:embed="rId36"/>
                      <a:stretch>
                        <a:fillRect/>
                      </a:stretch>
                    </p:blipFill>
                    <p:spPr>
                      <a:xfrm>
                        <a:off x="6569869" y="4655330"/>
                        <a:ext cx="4995862" cy="1268412"/>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par>
                                <p:cTn id="17" presetID="10"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par>
                                <p:cTn id="20" presetID="10" presetClass="entr" presetSubtype="0" fill="hold"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childTnLst>
                                </p:cTn>
                              </p:par>
                              <p:par>
                                <p:cTn id="23" presetID="10"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500"/>
                                        <p:tgtEl>
                                          <p:spTgt spid="4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fade">
                                      <p:cBhvr>
                                        <p:cTn id="28" dur="500"/>
                                        <p:tgtEl>
                                          <p:spTgt spid="49"/>
                                        </p:tgtEl>
                                      </p:cBhvr>
                                    </p:animEffect>
                                  </p:childTnLst>
                                </p:cTn>
                              </p:par>
                              <p:par>
                                <p:cTn id="29" presetID="10" presetClass="entr" presetSubtype="0" fill="hold"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par>
                                <p:cTn id="35" presetID="10" presetClass="entr" presetSubtype="0" fill="hold" nodeType="with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500"/>
                                        <p:tgtEl>
                                          <p:spTgt spid="56"/>
                                        </p:tgtEl>
                                      </p:cBhvr>
                                    </p:animEffect>
                                  </p:childTnLst>
                                </p:cTn>
                              </p:par>
                              <p:par>
                                <p:cTn id="38" presetID="10" presetClass="entr" presetSubtype="0" fill="hold" nodeType="with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fade">
                                      <p:cBhvr>
                                        <p:cTn id="40" dur="500"/>
                                        <p:tgtEl>
                                          <p:spTgt spid="58"/>
                                        </p:tgtEl>
                                      </p:cBhvr>
                                    </p:animEffect>
                                  </p:childTnLst>
                                </p:cTn>
                              </p:par>
                              <p:par>
                                <p:cTn id="41" presetID="10" presetClass="entr" presetSubtype="0" fill="hold" nodeType="with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fade">
                                      <p:cBhvr>
                                        <p:cTn id="43" dur="500"/>
                                        <p:tgtEl>
                                          <p:spTgt spid="60"/>
                                        </p:tgtEl>
                                      </p:cBhvr>
                                    </p:animEffect>
                                  </p:childTnLst>
                                </p:cTn>
                              </p:par>
                              <p:par>
                                <p:cTn id="44" presetID="10" presetClass="entr" presetSubtype="0" fill="hold"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fade">
                                      <p:cBhvr>
                                        <p:cTn id="46" dur="500"/>
                                        <p:tgtEl>
                                          <p:spTgt spid="62"/>
                                        </p:tgtEl>
                                      </p:cBhvr>
                                    </p:animEffect>
                                  </p:childTnLst>
                                </p:cTn>
                              </p:par>
                              <p:par>
                                <p:cTn id="47" presetID="10" presetClass="entr" presetSubtype="0" fill="hold" nodeType="withEffect">
                                  <p:stCondLst>
                                    <p:cond delay="0"/>
                                  </p:stCondLst>
                                  <p:childTnLst>
                                    <p:set>
                                      <p:cBhvr>
                                        <p:cTn id="48" dur="1" fill="hold">
                                          <p:stCondLst>
                                            <p:cond delay="0"/>
                                          </p:stCondLst>
                                        </p:cTn>
                                        <p:tgtEl>
                                          <p:spTgt spid="65"/>
                                        </p:tgtEl>
                                        <p:attrNameLst>
                                          <p:attrName>style.visibility</p:attrName>
                                        </p:attrNameLst>
                                      </p:cBhvr>
                                      <p:to>
                                        <p:strVal val="visible"/>
                                      </p:to>
                                    </p:set>
                                    <p:animEffect transition="in" filter="fade">
                                      <p:cBhvr>
                                        <p:cTn id="49" dur="500"/>
                                        <p:tgtEl>
                                          <p:spTgt spid="65"/>
                                        </p:tgtEl>
                                      </p:cBhvr>
                                    </p:animEffect>
                                  </p:childTnLst>
                                </p:cTn>
                              </p:par>
                              <p:par>
                                <p:cTn id="50" presetID="10" presetClass="entr" presetSubtype="0" fill="hold" nodeType="with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fade">
                                      <p:cBhvr>
                                        <p:cTn id="52" dur="500"/>
                                        <p:tgtEl>
                                          <p:spTgt spid="68"/>
                                        </p:tgtEl>
                                      </p:cBhvr>
                                    </p:animEffect>
                                  </p:childTnLst>
                                </p:cTn>
                              </p:par>
                              <p:par>
                                <p:cTn id="53" presetID="10" presetClass="entr" presetSubtype="0" fill="hold" nodeType="withEffect">
                                  <p:stCondLst>
                                    <p:cond delay="0"/>
                                  </p:stCondLst>
                                  <p:childTnLst>
                                    <p:set>
                                      <p:cBhvr>
                                        <p:cTn id="54" dur="1" fill="hold">
                                          <p:stCondLst>
                                            <p:cond delay="0"/>
                                          </p:stCondLst>
                                        </p:cTn>
                                        <p:tgtEl>
                                          <p:spTgt spid="69"/>
                                        </p:tgtEl>
                                        <p:attrNameLst>
                                          <p:attrName>style.visibility</p:attrName>
                                        </p:attrNameLst>
                                      </p:cBhvr>
                                      <p:to>
                                        <p:strVal val="visible"/>
                                      </p:to>
                                    </p:set>
                                    <p:animEffect transition="in" filter="fade">
                                      <p:cBhvr>
                                        <p:cTn id="55" dur="500"/>
                                        <p:tgtEl>
                                          <p:spTgt spid="69"/>
                                        </p:tgtEl>
                                      </p:cBhvr>
                                    </p:animEffect>
                                  </p:childTnLst>
                                </p:cTn>
                              </p:par>
                              <p:par>
                                <p:cTn id="56" presetID="10" presetClass="entr" presetSubtype="0" fill="hold" nodeType="withEffect">
                                  <p:stCondLst>
                                    <p:cond delay="0"/>
                                  </p:stCondLst>
                                  <p:childTnLst>
                                    <p:set>
                                      <p:cBhvr>
                                        <p:cTn id="57" dur="1" fill="hold">
                                          <p:stCondLst>
                                            <p:cond delay="0"/>
                                          </p:stCondLst>
                                        </p:cTn>
                                        <p:tgtEl>
                                          <p:spTgt spid="70"/>
                                        </p:tgtEl>
                                        <p:attrNameLst>
                                          <p:attrName>style.visibility</p:attrName>
                                        </p:attrNameLst>
                                      </p:cBhvr>
                                      <p:to>
                                        <p:strVal val="visible"/>
                                      </p:to>
                                    </p:set>
                                    <p:animEffect transition="in" filter="fade">
                                      <p:cBhvr>
                                        <p:cTn id="58" dur="500"/>
                                        <p:tgtEl>
                                          <p:spTgt spid="70"/>
                                        </p:tgtEl>
                                      </p:cBhvr>
                                    </p:animEffect>
                                  </p:childTnLst>
                                </p:cTn>
                              </p:par>
                              <p:par>
                                <p:cTn id="59" presetID="10" presetClass="entr" presetSubtype="0" fill="hold" nodeType="withEffect">
                                  <p:stCondLst>
                                    <p:cond delay="0"/>
                                  </p:stCondLst>
                                  <p:childTnLst>
                                    <p:set>
                                      <p:cBhvr>
                                        <p:cTn id="60" dur="1" fill="hold">
                                          <p:stCondLst>
                                            <p:cond delay="0"/>
                                          </p:stCondLst>
                                        </p:cTn>
                                        <p:tgtEl>
                                          <p:spTgt spid="71"/>
                                        </p:tgtEl>
                                        <p:attrNameLst>
                                          <p:attrName>style.visibility</p:attrName>
                                        </p:attrNameLst>
                                      </p:cBhvr>
                                      <p:to>
                                        <p:strVal val="visible"/>
                                      </p:to>
                                    </p:set>
                                    <p:animEffect transition="in" filter="fade">
                                      <p:cBhvr>
                                        <p:cTn id="61" dur="500"/>
                                        <p:tgtEl>
                                          <p:spTgt spid="71"/>
                                        </p:tgtEl>
                                      </p:cBhvr>
                                    </p:animEffect>
                                  </p:childTnLst>
                                </p:cTn>
                              </p:par>
                              <p:par>
                                <p:cTn id="62" presetID="10" presetClass="entr" presetSubtype="0" fill="hold" nodeType="withEffect">
                                  <p:stCondLst>
                                    <p:cond delay="0"/>
                                  </p:stCondLst>
                                  <p:childTnLst>
                                    <p:set>
                                      <p:cBhvr>
                                        <p:cTn id="63" dur="1" fill="hold">
                                          <p:stCondLst>
                                            <p:cond delay="0"/>
                                          </p:stCondLst>
                                        </p:cTn>
                                        <p:tgtEl>
                                          <p:spTgt spid="72"/>
                                        </p:tgtEl>
                                        <p:attrNameLst>
                                          <p:attrName>style.visibility</p:attrName>
                                        </p:attrNameLst>
                                      </p:cBhvr>
                                      <p:to>
                                        <p:strVal val="visible"/>
                                      </p:to>
                                    </p:set>
                                    <p:animEffect transition="in" filter="fade">
                                      <p:cBhvr>
                                        <p:cTn id="64" dur="500"/>
                                        <p:tgtEl>
                                          <p:spTgt spid="72"/>
                                        </p:tgtEl>
                                      </p:cBhvr>
                                    </p:animEffect>
                                  </p:childTnLst>
                                </p:cTn>
                              </p:par>
                              <p:par>
                                <p:cTn id="65" presetID="10" presetClass="entr" presetSubtype="0" fill="hold" nodeType="withEffect">
                                  <p:stCondLst>
                                    <p:cond delay="0"/>
                                  </p:stCondLst>
                                  <p:childTnLst>
                                    <p:set>
                                      <p:cBhvr>
                                        <p:cTn id="66" dur="1" fill="hold">
                                          <p:stCondLst>
                                            <p:cond delay="0"/>
                                          </p:stCondLst>
                                        </p:cTn>
                                        <p:tgtEl>
                                          <p:spTgt spid="73"/>
                                        </p:tgtEl>
                                        <p:attrNameLst>
                                          <p:attrName>style.visibility</p:attrName>
                                        </p:attrNameLst>
                                      </p:cBhvr>
                                      <p:to>
                                        <p:strVal val="visible"/>
                                      </p:to>
                                    </p:set>
                                    <p:animEffect transition="in" filter="fade">
                                      <p:cBhvr>
                                        <p:cTn id="67" dur="500"/>
                                        <p:tgtEl>
                                          <p:spTgt spid="73"/>
                                        </p:tgtEl>
                                      </p:cBhvr>
                                    </p:animEffect>
                                  </p:childTnLst>
                                </p:cTn>
                              </p:par>
                              <p:par>
                                <p:cTn id="68" presetID="10" presetClass="entr" presetSubtype="0" fill="hold" nodeType="withEffect">
                                  <p:stCondLst>
                                    <p:cond delay="0"/>
                                  </p:stCondLst>
                                  <p:childTnLst>
                                    <p:set>
                                      <p:cBhvr>
                                        <p:cTn id="69" dur="1" fill="hold">
                                          <p:stCondLst>
                                            <p:cond delay="0"/>
                                          </p:stCondLst>
                                        </p:cTn>
                                        <p:tgtEl>
                                          <p:spTgt spid="74"/>
                                        </p:tgtEl>
                                        <p:attrNameLst>
                                          <p:attrName>style.visibility</p:attrName>
                                        </p:attrNameLst>
                                      </p:cBhvr>
                                      <p:to>
                                        <p:strVal val="visible"/>
                                      </p:to>
                                    </p:set>
                                    <p:animEffect transition="in" filter="fade">
                                      <p:cBhvr>
                                        <p:cTn id="70" dur="500"/>
                                        <p:tgtEl>
                                          <p:spTgt spid="74"/>
                                        </p:tgtEl>
                                      </p:cBhvr>
                                    </p:animEffect>
                                  </p:childTnLst>
                                </p:cTn>
                              </p:par>
                              <p:par>
                                <p:cTn id="71" presetID="10" presetClass="entr" presetSubtype="0" fill="hold" nodeType="withEffect">
                                  <p:stCondLst>
                                    <p:cond delay="0"/>
                                  </p:stCondLst>
                                  <p:childTnLst>
                                    <p:set>
                                      <p:cBhvr>
                                        <p:cTn id="72" dur="1" fill="hold">
                                          <p:stCondLst>
                                            <p:cond delay="0"/>
                                          </p:stCondLst>
                                        </p:cTn>
                                        <p:tgtEl>
                                          <p:spTgt spid="75"/>
                                        </p:tgtEl>
                                        <p:attrNameLst>
                                          <p:attrName>style.visibility</p:attrName>
                                        </p:attrNameLst>
                                      </p:cBhvr>
                                      <p:to>
                                        <p:strVal val="visible"/>
                                      </p:to>
                                    </p:set>
                                    <p:animEffect transition="in" filter="fade">
                                      <p:cBhvr>
                                        <p:cTn id="73" dur="500"/>
                                        <p:tgtEl>
                                          <p:spTgt spid="75"/>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82"/>
                                        </p:tgtEl>
                                        <p:attrNameLst>
                                          <p:attrName>style.visibility</p:attrName>
                                        </p:attrNameLst>
                                      </p:cBhvr>
                                      <p:to>
                                        <p:strVal val="visible"/>
                                      </p:to>
                                    </p:set>
                                    <p:animEffect transition="in" filter="fade">
                                      <p:cBhvr>
                                        <p:cTn id="78" dur="500"/>
                                        <p:tgtEl>
                                          <p:spTgt spid="82"/>
                                        </p:tgtEl>
                                      </p:cBhvr>
                                    </p:animEffect>
                                  </p:childTnLst>
                                </p:cTn>
                              </p:par>
                              <p:par>
                                <p:cTn id="79" presetID="10" presetClass="entr" presetSubtype="0" fill="hold" nodeType="withEffect">
                                  <p:stCondLst>
                                    <p:cond delay="0"/>
                                  </p:stCondLst>
                                  <p:childTnLst>
                                    <p:set>
                                      <p:cBhvr>
                                        <p:cTn id="80" dur="1" fill="hold">
                                          <p:stCondLst>
                                            <p:cond delay="0"/>
                                          </p:stCondLst>
                                        </p:cTn>
                                        <p:tgtEl>
                                          <p:spTgt spid="89"/>
                                        </p:tgtEl>
                                        <p:attrNameLst>
                                          <p:attrName>style.visibility</p:attrName>
                                        </p:attrNameLst>
                                      </p:cBhvr>
                                      <p:to>
                                        <p:strVal val="visible"/>
                                      </p:to>
                                    </p:set>
                                    <p:animEffect transition="in" filter="fade">
                                      <p:cBhvr>
                                        <p:cTn id="81" dur="500"/>
                                        <p:tgtEl>
                                          <p:spTgt spid="89"/>
                                        </p:tgtEl>
                                      </p:cBhvr>
                                    </p:animEffect>
                                  </p:childTnLst>
                                </p:cTn>
                              </p:par>
                              <p:par>
                                <p:cTn id="82" presetID="10" presetClass="entr" presetSubtype="0" fill="hold" nodeType="withEffect">
                                  <p:stCondLst>
                                    <p:cond delay="0"/>
                                  </p:stCondLst>
                                  <p:childTnLst>
                                    <p:set>
                                      <p:cBhvr>
                                        <p:cTn id="83" dur="1" fill="hold">
                                          <p:stCondLst>
                                            <p:cond delay="0"/>
                                          </p:stCondLst>
                                        </p:cTn>
                                        <p:tgtEl>
                                          <p:spTgt spid="91"/>
                                        </p:tgtEl>
                                        <p:attrNameLst>
                                          <p:attrName>style.visibility</p:attrName>
                                        </p:attrNameLst>
                                      </p:cBhvr>
                                      <p:to>
                                        <p:strVal val="visible"/>
                                      </p:to>
                                    </p:set>
                                    <p:animEffect transition="in" filter="fade">
                                      <p:cBhvr>
                                        <p:cTn id="84" dur="500"/>
                                        <p:tgtEl>
                                          <p:spTgt spid="91"/>
                                        </p:tgtEl>
                                      </p:cBhvr>
                                    </p:animEffect>
                                  </p:childTnLst>
                                </p:cTn>
                              </p:par>
                              <p:par>
                                <p:cTn id="85" presetID="10" presetClass="entr" presetSubtype="0" fill="hold" nodeType="withEffect">
                                  <p:stCondLst>
                                    <p:cond delay="0"/>
                                  </p:stCondLst>
                                  <p:childTnLst>
                                    <p:set>
                                      <p:cBhvr>
                                        <p:cTn id="86" dur="1" fill="hold">
                                          <p:stCondLst>
                                            <p:cond delay="0"/>
                                          </p:stCondLst>
                                        </p:cTn>
                                        <p:tgtEl>
                                          <p:spTgt spid="85"/>
                                        </p:tgtEl>
                                        <p:attrNameLst>
                                          <p:attrName>style.visibility</p:attrName>
                                        </p:attrNameLst>
                                      </p:cBhvr>
                                      <p:to>
                                        <p:strVal val="visible"/>
                                      </p:to>
                                    </p:set>
                                    <p:animEffect transition="in" filter="fade">
                                      <p:cBhvr>
                                        <p:cTn id="87" dur="500"/>
                                        <p:tgtEl>
                                          <p:spTgt spid="85"/>
                                        </p:tgtEl>
                                      </p:cBhvr>
                                    </p:animEffect>
                                  </p:childTnLst>
                                </p:cTn>
                              </p:par>
                              <p:par>
                                <p:cTn id="88" presetID="10" presetClass="entr" presetSubtype="0" fill="hold" nodeType="withEffect">
                                  <p:stCondLst>
                                    <p:cond delay="0"/>
                                  </p:stCondLst>
                                  <p:childTnLst>
                                    <p:set>
                                      <p:cBhvr>
                                        <p:cTn id="89" dur="1" fill="hold">
                                          <p:stCondLst>
                                            <p:cond delay="0"/>
                                          </p:stCondLst>
                                        </p:cTn>
                                        <p:tgtEl>
                                          <p:spTgt spid="97"/>
                                        </p:tgtEl>
                                        <p:attrNameLst>
                                          <p:attrName>style.visibility</p:attrName>
                                        </p:attrNameLst>
                                      </p:cBhvr>
                                      <p:to>
                                        <p:strVal val="visible"/>
                                      </p:to>
                                    </p:set>
                                    <p:animEffect transition="in" filter="fade">
                                      <p:cBhvr>
                                        <p:cTn id="90" dur="500"/>
                                        <p:tgtEl>
                                          <p:spTgt spid="97"/>
                                        </p:tgtEl>
                                      </p:cBhvr>
                                    </p:animEffect>
                                  </p:childTnLst>
                                </p:cTn>
                              </p:par>
                              <p:par>
                                <p:cTn id="91" presetID="10" presetClass="entr" presetSubtype="0" fill="hold" nodeType="withEffect">
                                  <p:stCondLst>
                                    <p:cond delay="0"/>
                                  </p:stCondLst>
                                  <p:childTnLst>
                                    <p:set>
                                      <p:cBhvr>
                                        <p:cTn id="92" dur="1" fill="hold">
                                          <p:stCondLst>
                                            <p:cond delay="0"/>
                                          </p:stCondLst>
                                        </p:cTn>
                                        <p:tgtEl>
                                          <p:spTgt spid="96"/>
                                        </p:tgtEl>
                                        <p:attrNameLst>
                                          <p:attrName>style.visibility</p:attrName>
                                        </p:attrNameLst>
                                      </p:cBhvr>
                                      <p:to>
                                        <p:strVal val="visible"/>
                                      </p:to>
                                    </p:set>
                                    <p:animEffect transition="in" filter="fade">
                                      <p:cBhvr>
                                        <p:cTn id="93" dur="500"/>
                                        <p:tgtEl>
                                          <p:spTgt spid="96"/>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77"/>
                                        </p:tgtEl>
                                        <p:attrNameLst>
                                          <p:attrName>style.visibility</p:attrName>
                                        </p:attrNameLst>
                                      </p:cBhvr>
                                      <p:to>
                                        <p:strVal val="visible"/>
                                      </p:to>
                                    </p:set>
                                    <p:animEffect transition="in" filter="fade">
                                      <p:cBhvr>
                                        <p:cTn id="98" dur="500"/>
                                        <p:tgtEl>
                                          <p:spTgt spid="7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76"/>
                                        </p:tgtEl>
                                        <p:attrNameLst>
                                          <p:attrName>style.visibility</p:attrName>
                                        </p:attrNameLst>
                                      </p:cBhvr>
                                      <p:to>
                                        <p:strVal val="visible"/>
                                      </p:to>
                                    </p:set>
                                    <p:animEffect transition="in" filter="fade">
                                      <p:cBhvr>
                                        <p:cTn id="103" dur="500"/>
                                        <p:tgtEl>
                                          <p:spTgt spid="76"/>
                                        </p:tgtEl>
                                      </p:cBhvr>
                                    </p:animEffect>
                                  </p:childTnLst>
                                </p:cTn>
                              </p:par>
                              <p:par>
                                <p:cTn id="104" presetID="10" presetClass="entr" presetSubtype="0" fill="hold" nodeType="withEffect">
                                  <p:stCondLst>
                                    <p:cond delay="0"/>
                                  </p:stCondLst>
                                  <p:childTnLst>
                                    <p:set>
                                      <p:cBhvr>
                                        <p:cTn id="105" dur="1" fill="hold">
                                          <p:stCondLst>
                                            <p:cond delay="0"/>
                                          </p:stCondLst>
                                        </p:cTn>
                                        <p:tgtEl>
                                          <p:spTgt spid="78"/>
                                        </p:tgtEl>
                                        <p:attrNameLst>
                                          <p:attrName>style.visibility</p:attrName>
                                        </p:attrNameLst>
                                      </p:cBhvr>
                                      <p:to>
                                        <p:strVal val="visible"/>
                                      </p:to>
                                    </p:set>
                                    <p:animEffect transition="in" filter="fade">
                                      <p:cBhvr>
                                        <p:cTn id="106" dur="500"/>
                                        <p:tgtEl>
                                          <p:spTgt spid="78"/>
                                        </p:tgtEl>
                                      </p:cBhvr>
                                    </p:animEffect>
                                  </p:childTnLst>
                                </p:cTn>
                              </p:par>
                              <p:par>
                                <p:cTn id="107" presetID="10" presetClass="entr" presetSubtype="0" fill="hold" nodeType="withEffect">
                                  <p:stCondLst>
                                    <p:cond delay="0"/>
                                  </p:stCondLst>
                                  <p:childTnLst>
                                    <p:set>
                                      <p:cBhvr>
                                        <p:cTn id="108" dur="1" fill="hold">
                                          <p:stCondLst>
                                            <p:cond delay="0"/>
                                          </p:stCondLst>
                                        </p:cTn>
                                        <p:tgtEl>
                                          <p:spTgt spid="80"/>
                                        </p:tgtEl>
                                        <p:attrNameLst>
                                          <p:attrName>style.visibility</p:attrName>
                                        </p:attrNameLst>
                                      </p:cBhvr>
                                      <p:to>
                                        <p:strVal val="visible"/>
                                      </p:to>
                                    </p:set>
                                    <p:animEffect transition="in" filter="fade">
                                      <p:cBhvr>
                                        <p:cTn id="109" dur="500"/>
                                        <p:tgtEl>
                                          <p:spTgt spid="80"/>
                                        </p:tgtEl>
                                      </p:cBhvr>
                                    </p:animEffect>
                                  </p:childTnLst>
                                </p:cTn>
                              </p:par>
                              <p:par>
                                <p:cTn id="110" presetID="10" presetClass="entr" presetSubtype="0" fill="hold" nodeType="withEffect">
                                  <p:stCondLst>
                                    <p:cond delay="0"/>
                                  </p:stCondLst>
                                  <p:childTnLst>
                                    <p:set>
                                      <p:cBhvr>
                                        <p:cTn id="111" dur="1" fill="hold">
                                          <p:stCondLst>
                                            <p:cond delay="0"/>
                                          </p:stCondLst>
                                        </p:cTn>
                                        <p:tgtEl>
                                          <p:spTgt spid="81"/>
                                        </p:tgtEl>
                                        <p:attrNameLst>
                                          <p:attrName>style.visibility</p:attrName>
                                        </p:attrNameLst>
                                      </p:cBhvr>
                                      <p:to>
                                        <p:strVal val="visible"/>
                                      </p:to>
                                    </p:set>
                                    <p:animEffect transition="in" filter="fade">
                                      <p:cBhvr>
                                        <p:cTn id="112" dur="500"/>
                                        <p:tgtEl>
                                          <p:spTgt spid="81"/>
                                        </p:tgtEl>
                                      </p:cBhvr>
                                    </p:animEffect>
                                  </p:childTnLst>
                                </p:cTn>
                              </p:par>
                              <p:par>
                                <p:cTn id="113" presetID="10" presetClass="entr" presetSubtype="0" fill="hold" nodeType="withEffect">
                                  <p:stCondLst>
                                    <p:cond delay="0"/>
                                  </p:stCondLst>
                                  <p:childTnLst>
                                    <p:set>
                                      <p:cBhvr>
                                        <p:cTn id="114" dur="1" fill="hold">
                                          <p:stCondLst>
                                            <p:cond delay="0"/>
                                          </p:stCondLst>
                                        </p:cTn>
                                        <p:tgtEl>
                                          <p:spTgt spid="101"/>
                                        </p:tgtEl>
                                        <p:attrNameLst>
                                          <p:attrName>style.visibility</p:attrName>
                                        </p:attrNameLst>
                                      </p:cBhvr>
                                      <p:to>
                                        <p:strVal val="visible"/>
                                      </p:to>
                                    </p:set>
                                    <p:animEffect transition="in" filter="fade">
                                      <p:cBhvr>
                                        <p:cTn id="115" dur="500"/>
                                        <p:tgtEl>
                                          <p:spTgt spid="101"/>
                                        </p:tgtEl>
                                      </p:cBhvr>
                                    </p:animEffect>
                                  </p:childTnLst>
                                </p:cTn>
                              </p:par>
                              <p:par>
                                <p:cTn id="116" presetID="10" presetClass="entr" presetSubtype="0" fill="hold" nodeType="withEffect">
                                  <p:stCondLst>
                                    <p:cond delay="0"/>
                                  </p:stCondLst>
                                  <p:childTnLst>
                                    <p:set>
                                      <p:cBhvr>
                                        <p:cTn id="117" dur="1" fill="hold">
                                          <p:stCondLst>
                                            <p:cond delay="0"/>
                                          </p:stCondLst>
                                        </p:cTn>
                                        <p:tgtEl>
                                          <p:spTgt spid="103"/>
                                        </p:tgtEl>
                                        <p:attrNameLst>
                                          <p:attrName>style.visibility</p:attrName>
                                        </p:attrNameLst>
                                      </p:cBhvr>
                                      <p:to>
                                        <p:strVal val="visible"/>
                                      </p:to>
                                    </p:set>
                                    <p:animEffect transition="in" filter="fade">
                                      <p:cBhvr>
                                        <p:cTn id="118" dur="500"/>
                                        <p:tgtEl>
                                          <p:spTgt spid="103"/>
                                        </p:tgtEl>
                                      </p:cBhvr>
                                    </p:animEffect>
                                  </p:childTnLst>
                                </p:cTn>
                              </p:par>
                              <p:par>
                                <p:cTn id="119" presetID="10" presetClass="entr" presetSubtype="0" fill="hold" nodeType="withEffect">
                                  <p:stCondLst>
                                    <p:cond delay="0"/>
                                  </p:stCondLst>
                                  <p:childTnLst>
                                    <p:set>
                                      <p:cBhvr>
                                        <p:cTn id="120" dur="1" fill="hold">
                                          <p:stCondLst>
                                            <p:cond delay="0"/>
                                          </p:stCondLst>
                                        </p:cTn>
                                        <p:tgtEl>
                                          <p:spTgt spid="110"/>
                                        </p:tgtEl>
                                        <p:attrNameLst>
                                          <p:attrName>style.visibility</p:attrName>
                                        </p:attrNameLst>
                                      </p:cBhvr>
                                      <p:to>
                                        <p:strVal val="visible"/>
                                      </p:to>
                                    </p:set>
                                    <p:animEffect transition="in" filter="fade">
                                      <p:cBhvr>
                                        <p:cTn id="121" dur="500"/>
                                        <p:tgtEl>
                                          <p:spTgt spid="110"/>
                                        </p:tgtEl>
                                      </p:cBhvr>
                                    </p:animEffect>
                                  </p:childTnLst>
                                </p:cTn>
                              </p:par>
                              <p:par>
                                <p:cTn id="122" presetID="10" presetClass="entr" presetSubtype="0" fill="hold" nodeType="withEffect">
                                  <p:stCondLst>
                                    <p:cond delay="0"/>
                                  </p:stCondLst>
                                  <p:childTnLst>
                                    <p:set>
                                      <p:cBhvr>
                                        <p:cTn id="123" dur="1" fill="hold">
                                          <p:stCondLst>
                                            <p:cond delay="0"/>
                                          </p:stCondLst>
                                        </p:cTn>
                                        <p:tgtEl>
                                          <p:spTgt spid="114"/>
                                        </p:tgtEl>
                                        <p:attrNameLst>
                                          <p:attrName>style.visibility</p:attrName>
                                        </p:attrNameLst>
                                      </p:cBhvr>
                                      <p:to>
                                        <p:strVal val="visible"/>
                                      </p:to>
                                    </p:set>
                                    <p:animEffect transition="in" filter="fade">
                                      <p:cBhvr>
                                        <p:cTn id="124" dur="500"/>
                                        <p:tgtEl>
                                          <p:spTgt spid="114"/>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105"/>
                                        </p:tgtEl>
                                        <p:attrNameLst>
                                          <p:attrName>style.visibility</p:attrName>
                                        </p:attrNameLst>
                                      </p:cBhvr>
                                      <p:to>
                                        <p:strVal val="visible"/>
                                      </p:to>
                                    </p:set>
                                    <p:animEffect transition="in" filter="fade">
                                      <p:cBhvr>
                                        <p:cTn id="129" dur="500"/>
                                        <p:tgtEl>
                                          <p:spTgt spid="105"/>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106"/>
                                        </p:tgtEl>
                                        <p:attrNameLst>
                                          <p:attrName>style.visibility</p:attrName>
                                        </p:attrNameLst>
                                      </p:cBhvr>
                                      <p:to>
                                        <p:strVal val="visible"/>
                                      </p:to>
                                    </p:set>
                                    <p:animEffect transition="in" filter="fade">
                                      <p:cBhvr>
                                        <p:cTn id="134" dur="500"/>
                                        <p:tgtEl>
                                          <p:spTgt spid="106"/>
                                        </p:tgtEl>
                                      </p:cBhvr>
                                    </p:animEffect>
                                  </p:childTnLst>
                                </p:cTn>
                              </p:par>
                              <p:par>
                                <p:cTn id="135" presetID="10" presetClass="entr" presetSubtype="0" fill="hold" nodeType="withEffect">
                                  <p:stCondLst>
                                    <p:cond delay="0"/>
                                  </p:stCondLst>
                                  <p:childTnLst>
                                    <p:set>
                                      <p:cBhvr>
                                        <p:cTn id="136" dur="1" fill="hold">
                                          <p:stCondLst>
                                            <p:cond delay="0"/>
                                          </p:stCondLst>
                                        </p:cTn>
                                        <p:tgtEl>
                                          <p:spTgt spid="116"/>
                                        </p:tgtEl>
                                        <p:attrNameLst>
                                          <p:attrName>style.visibility</p:attrName>
                                        </p:attrNameLst>
                                      </p:cBhvr>
                                      <p:to>
                                        <p:strVal val="visible"/>
                                      </p:to>
                                    </p:set>
                                    <p:animEffect transition="in" filter="fade">
                                      <p:cBhvr>
                                        <p:cTn id="137" dur="500"/>
                                        <p:tgtEl>
                                          <p:spTgt spid="116"/>
                                        </p:tgtEl>
                                      </p:cBhvr>
                                    </p:animEffect>
                                  </p:childTnLst>
                                </p:cTn>
                              </p:par>
                              <p:par>
                                <p:cTn id="138" presetID="10" presetClass="entr" presetSubtype="0" fill="hold" nodeType="withEffect">
                                  <p:stCondLst>
                                    <p:cond delay="0"/>
                                  </p:stCondLst>
                                  <p:childTnLst>
                                    <p:set>
                                      <p:cBhvr>
                                        <p:cTn id="139" dur="1" fill="hold">
                                          <p:stCondLst>
                                            <p:cond delay="0"/>
                                          </p:stCondLst>
                                        </p:cTn>
                                        <p:tgtEl>
                                          <p:spTgt spid="117"/>
                                        </p:tgtEl>
                                        <p:attrNameLst>
                                          <p:attrName>style.visibility</p:attrName>
                                        </p:attrNameLst>
                                      </p:cBhvr>
                                      <p:to>
                                        <p:strVal val="visible"/>
                                      </p:to>
                                    </p:set>
                                    <p:animEffect transition="in" filter="fade">
                                      <p:cBhvr>
                                        <p:cTn id="140"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6" grpId="0"/>
      <p:bldP spid="77" grpId="0"/>
      <p:bldP spid="105" grpId="0"/>
      <p:bldP spid="10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6. Một ô tô khối lượng 1 tấn đang hoạt động với công suất 5 kW và chuyển động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thẳng đều với vận tốc 54 km/h thì lên dốc. Hỏi động cơ ô tô phải hoạt động với công suất bằng bao nhiêu để có thể lên dốc với tốc độ như cũ? Biết hệ số ma sát giữa bánh xe và mặt đường không đổi, dốc nghiêng góc 2,3</a:t>
            </a:r>
            <a:r>
              <a:rPr lang="en-US" sz="2500" kern="0" baseline="30000">
                <a:solidFill>
                  <a:srgbClr val="F8F8F8"/>
                </a:solidFill>
                <a:latin typeface="Itim" panose="00000500000000000000" pitchFamily="2" charset="-34"/>
                <a:cs typeface="Itim" panose="00000500000000000000" pitchFamily="2" charset="-34"/>
              </a:rPr>
              <a:t>0</a:t>
            </a:r>
            <a:r>
              <a:rPr lang="en-US" sz="2500" kern="0">
                <a:solidFill>
                  <a:srgbClr val="F8F8F8"/>
                </a:solidFill>
                <a:latin typeface="Itim" panose="00000500000000000000" pitchFamily="2" charset="-34"/>
                <a:cs typeface="Itim" panose="00000500000000000000" pitchFamily="2" charset="-34"/>
              </a:rPr>
              <a:t> so với mặt đường nằm ngang và g = 10 m/s</a:t>
            </a:r>
            <a:r>
              <a:rPr lang="en-US" sz="2500" kern="0" baseline="30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38" name="Graphic 37" descr="Car with solid fill"/>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H="1" flipV="1">
            <a:off x="876176" y="3260411"/>
            <a:ext cx="914400" cy="914400"/>
          </a:xfrm>
          <a:prstGeom prst="rect">
            <a:avLst/>
          </a:prstGeom>
        </p:spPr>
      </p:pic>
      <p:cxnSp>
        <p:nvCxnSpPr>
          <p:cNvPr id="39" name="Straight Arrow Connector 38"/>
          <p:cNvCxnSpPr/>
          <p:nvPr/>
        </p:nvCxnSpPr>
        <p:spPr>
          <a:xfrm flipV="1">
            <a:off x="1344772" y="3724284"/>
            <a:ext cx="611457" cy="10606"/>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1333376" y="3712531"/>
            <a:ext cx="0" cy="726899"/>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1" name="Object 40"/>
          <p:cNvGraphicFramePr>
            <a:graphicFrameLocks noChangeAspect="1"/>
          </p:cNvGraphicFramePr>
          <p:nvPr/>
        </p:nvGraphicFramePr>
        <p:xfrm>
          <a:off x="1426245" y="4223530"/>
          <a:ext cx="271462" cy="431800"/>
        </p:xfrm>
        <a:graphic>
          <a:graphicData uri="http://schemas.openxmlformats.org/presentationml/2006/ole">
            <mc:AlternateContent xmlns:mc="http://schemas.openxmlformats.org/markup-compatibility/2006">
              <mc:Choice xmlns:v="urn:schemas-microsoft-com:vml" Requires="v">
                <p:oleObj spid="_x0000_s7170" name="Equation" r:id="rId4" imgW="3048000" imgH="4876800" progId="Equation.DSMT4">
                  <p:embed/>
                </p:oleObj>
              </mc:Choice>
              <mc:Fallback>
                <p:oleObj name="Equation" r:id="rId4" imgW="3048000" imgH="4876800" progId="Equation.DSMT4">
                  <p:embed/>
                  <p:pic>
                    <p:nvPicPr>
                      <p:cNvPr id="0" name="Object 40"/>
                      <p:cNvPicPr/>
                      <p:nvPr/>
                    </p:nvPicPr>
                    <p:blipFill>
                      <a:blip r:embed="rId5"/>
                      <a:stretch>
                        <a:fillRect/>
                      </a:stretch>
                    </p:blipFill>
                    <p:spPr>
                      <a:xfrm>
                        <a:off x="1426245" y="4223530"/>
                        <a:ext cx="271462" cy="431800"/>
                      </a:xfrm>
                      <a:prstGeom prst="rect">
                        <a:avLst/>
                      </a:prstGeom>
                    </p:spPr>
                  </p:pic>
                </p:oleObj>
              </mc:Fallback>
            </mc:AlternateContent>
          </a:graphicData>
        </a:graphic>
      </p:graphicFrame>
      <p:cxnSp>
        <p:nvCxnSpPr>
          <p:cNvPr id="3" name="Straight Connector 2"/>
          <p:cNvCxnSpPr/>
          <p:nvPr/>
        </p:nvCxnSpPr>
        <p:spPr>
          <a:xfrm>
            <a:off x="560676" y="3958503"/>
            <a:ext cx="1828800" cy="0"/>
          </a:xfrm>
          <a:prstGeom prst="line">
            <a:avLst/>
          </a:prstGeom>
          <a:ln w="38100">
            <a:solidFill>
              <a:srgbClr val="F8F8F8"/>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2384396" y="2969825"/>
            <a:ext cx="3358949" cy="991801"/>
          </a:xfrm>
          <a:prstGeom prst="line">
            <a:avLst/>
          </a:prstGeom>
          <a:ln w="38100">
            <a:solidFill>
              <a:srgbClr val="F8F8F8"/>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2390492" y="3955530"/>
            <a:ext cx="3461008" cy="0"/>
          </a:xfrm>
          <a:prstGeom prst="line">
            <a:avLst/>
          </a:prstGeom>
          <a:ln w="38100">
            <a:solidFill>
              <a:srgbClr val="F8F8F8"/>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p:cNvSpPr/>
          <p:nvPr/>
        </p:nvSpPr>
        <p:spPr>
          <a:xfrm>
            <a:off x="3256177" y="3718560"/>
            <a:ext cx="36576" cy="231648"/>
          </a:xfrm>
          <a:custGeom>
            <a:avLst/>
            <a:gdLst>
              <a:gd name="connsiteX0" fmla="*/ 0 w 36576"/>
              <a:gd name="connsiteY0" fmla="*/ 0 h 231648"/>
              <a:gd name="connsiteX1" fmla="*/ 6096 w 36576"/>
              <a:gd name="connsiteY1" fmla="*/ 30480 h 231648"/>
              <a:gd name="connsiteX2" fmla="*/ 24384 w 36576"/>
              <a:gd name="connsiteY2" fmla="*/ 54864 h 231648"/>
              <a:gd name="connsiteX3" fmla="*/ 30480 w 36576"/>
              <a:gd name="connsiteY3" fmla="*/ 103632 h 231648"/>
              <a:gd name="connsiteX4" fmla="*/ 36576 w 36576"/>
              <a:gd name="connsiteY4" fmla="*/ 121920 h 231648"/>
              <a:gd name="connsiteX5" fmla="*/ 30480 w 36576"/>
              <a:gd name="connsiteY5" fmla="*/ 231648 h 23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576" h="231648">
                <a:moveTo>
                  <a:pt x="0" y="0"/>
                </a:moveTo>
                <a:cubicBezTo>
                  <a:pt x="2032" y="10160"/>
                  <a:pt x="1888" y="21012"/>
                  <a:pt x="6096" y="30480"/>
                </a:cubicBezTo>
                <a:cubicBezTo>
                  <a:pt x="10222" y="39764"/>
                  <a:pt x="21171" y="45225"/>
                  <a:pt x="24384" y="54864"/>
                </a:cubicBezTo>
                <a:cubicBezTo>
                  <a:pt x="29565" y="70406"/>
                  <a:pt x="27549" y="87514"/>
                  <a:pt x="30480" y="103632"/>
                </a:cubicBezTo>
                <a:cubicBezTo>
                  <a:pt x="31629" y="109954"/>
                  <a:pt x="34544" y="115824"/>
                  <a:pt x="36576" y="121920"/>
                </a:cubicBezTo>
                <a:lnTo>
                  <a:pt x="30480" y="231648"/>
                </a:lnTo>
              </a:path>
            </a:pathLst>
          </a:custGeom>
          <a:noFill/>
          <a:ln w="38100">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Graphic 50" descr="Car with solid fill"/>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9802962" flipH="1" flipV="1">
            <a:off x="4267200" y="2573261"/>
            <a:ext cx="914400" cy="914400"/>
          </a:xfrm>
          <a:prstGeom prst="rect">
            <a:avLst/>
          </a:prstGeom>
        </p:spPr>
      </p:pic>
      <p:cxnSp>
        <p:nvCxnSpPr>
          <p:cNvPr id="54" name="Straight Arrow Connector 53"/>
          <p:cNvCxnSpPr/>
          <p:nvPr/>
        </p:nvCxnSpPr>
        <p:spPr>
          <a:xfrm>
            <a:off x="4724400" y="3029567"/>
            <a:ext cx="0" cy="67515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a:off x="447445" y="3834384"/>
            <a:ext cx="687935" cy="0"/>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1274551" y="3021498"/>
            <a:ext cx="0" cy="742782"/>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4724400" y="2765417"/>
            <a:ext cx="863900" cy="256081"/>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H="1">
            <a:off x="3812119" y="3029567"/>
            <a:ext cx="892262" cy="263168"/>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H="1" flipV="1">
            <a:off x="4488941" y="2384406"/>
            <a:ext cx="235762" cy="650897"/>
          </a:xfrm>
          <a:prstGeom prst="straightConnector1">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8" name="Object 67"/>
          <p:cNvGraphicFramePr>
            <a:graphicFrameLocks noChangeAspect="1"/>
          </p:cNvGraphicFramePr>
          <p:nvPr/>
        </p:nvGraphicFramePr>
        <p:xfrm>
          <a:off x="1976134" y="3414897"/>
          <a:ext cx="271462" cy="431800"/>
        </p:xfrm>
        <a:graphic>
          <a:graphicData uri="http://schemas.openxmlformats.org/presentationml/2006/ole">
            <mc:AlternateContent xmlns:mc="http://schemas.openxmlformats.org/markup-compatibility/2006">
              <mc:Choice xmlns:v="urn:schemas-microsoft-com:vml" Requires="v">
                <p:oleObj spid="_x0000_s7171" name="Equation" r:id="rId6" imgW="3048000" imgH="4876800" progId="Equation.DSMT4">
                  <p:embed/>
                </p:oleObj>
              </mc:Choice>
              <mc:Fallback>
                <p:oleObj name="Equation" r:id="rId6" imgW="3048000" imgH="4876800" progId="Equation.DSMT4">
                  <p:embed/>
                  <p:pic>
                    <p:nvPicPr>
                      <p:cNvPr id="0" name="Object 67"/>
                      <p:cNvPicPr/>
                      <p:nvPr/>
                    </p:nvPicPr>
                    <p:blipFill>
                      <a:blip r:embed="rId7"/>
                      <a:stretch>
                        <a:fillRect/>
                      </a:stretch>
                    </p:blipFill>
                    <p:spPr>
                      <a:xfrm>
                        <a:off x="1976134" y="3414897"/>
                        <a:ext cx="271462" cy="431800"/>
                      </a:xfrm>
                      <a:prstGeom prst="rect">
                        <a:avLst/>
                      </a:prstGeom>
                    </p:spPr>
                  </p:pic>
                </p:oleObj>
              </mc:Fallback>
            </mc:AlternateContent>
          </a:graphicData>
        </a:graphic>
      </p:graphicFrame>
      <p:graphicFrame>
        <p:nvGraphicFramePr>
          <p:cNvPr id="69" name="Object 68"/>
          <p:cNvGraphicFramePr>
            <a:graphicFrameLocks noChangeAspect="1"/>
          </p:cNvGraphicFramePr>
          <p:nvPr/>
        </p:nvGraphicFramePr>
        <p:xfrm>
          <a:off x="152400" y="3277523"/>
          <a:ext cx="515937" cy="539750"/>
        </p:xfrm>
        <a:graphic>
          <a:graphicData uri="http://schemas.openxmlformats.org/presentationml/2006/ole">
            <mc:AlternateContent xmlns:mc="http://schemas.openxmlformats.org/markup-compatibility/2006">
              <mc:Choice xmlns:v="urn:schemas-microsoft-com:vml" Requires="v">
                <p:oleObj spid="_x0000_s7172" name="Equation" r:id="rId8" imgW="5791200" imgH="6096000" progId="Equation.DSMT4">
                  <p:embed/>
                </p:oleObj>
              </mc:Choice>
              <mc:Fallback>
                <p:oleObj name="Equation" r:id="rId8" imgW="5791200" imgH="6096000" progId="Equation.DSMT4">
                  <p:embed/>
                  <p:pic>
                    <p:nvPicPr>
                      <p:cNvPr id="0" name="Object 68"/>
                      <p:cNvPicPr/>
                      <p:nvPr/>
                    </p:nvPicPr>
                    <p:blipFill>
                      <a:blip r:embed="rId9"/>
                      <a:stretch>
                        <a:fillRect/>
                      </a:stretch>
                    </p:blipFill>
                    <p:spPr>
                      <a:xfrm>
                        <a:off x="152400" y="3277523"/>
                        <a:ext cx="515937" cy="539750"/>
                      </a:xfrm>
                      <a:prstGeom prst="rect">
                        <a:avLst/>
                      </a:prstGeom>
                    </p:spPr>
                  </p:pic>
                </p:oleObj>
              </mc:Fallback>
            </mc:AlternateContent>
          </a:graphicData>
        </a:graphic>
      </p:graphicFrame>
      <p:graphicFrame>
        <p:nvGraphicFramePr>
          <p:cNvPr id="70" name="Object 69"/>
          <p:cNvGraphicFramePr>
            <a:graphicFrameLocks noChangeAspect="1"/>
          </p:cNvGraphicFramePr>
          <p:nvPr/>
        </p:nvGraphicFramePr>
        <p:xfrm>
          <a:off x="1184151" y="2605478"/>
          <a:ext cx="298450" cy="431800"/>
        </p:xfrm>
        <a:graphic>
          <a:graphicData uri="http://schemas.openxmlformats.org/presentationml/2006/ole">
            <mc:AlternateContent xmlns:mc="http://schemas.openxmlformats.org/markup-compatibility/2006">
              <mc:Choice xmlns:v="urn:schemas-microsoft-com:vml" Requires="v">
                <p:oleObj spid="_x0000_s7173" name="Equation" r:id="rId10" imgW="3352800" imgH="4876800" progId="Equation.DSMT4">
                  <p:embed/>
                </p:oleObj>
              </mc:Choice>
              <mc:Fallback>
                <p:oleObj name="Equation" r:id="rId10" imgW="3352800" imgH="4876800" progId="Equation.DSMT4">
                  <p:embed/>
                  <p:pic>
                    <p:nvPicPr>
                      <p:cNvPr id="0" name="Object 69"/>
                      <p:cNvPicPr/>
                      <p:nvPr/>
                    </p:nvPicPr>
                    <p:blipFill>
                      <a:blip r:embed="rId11"/>
                      <a:stretch>
                        <a:fillRect/>
                      </a:stretch>
                    </p:blipFill>
                    <p:spPr>
                      <a:xfrm>
                        <a:off x="1184151" y="2605478"/>
                        <a:ext cx="298450" cy="431800"/>
                      </a:xfrm>
                      <a:prstGeom prst="rect">
                        <a:avLst/>
                      </a:prstGeom>
                    </p:spPr>
                  </p:pic>
                </p:oleObj>
              </mc:Fallback>
            </mc:AlternateContent>
          </a:graphicData>
        </a:graphic>
      </p:graphicFrame>
      <p:graphicFrame>
        <p:nvGraphicFramePr>
          <p:cNvPr id="71" name="Object 70"/>
          <p:cNvGraphicFramePr>
            <a:graphicFrameLocks noChangeAspect="1"/>
          </p:cNvGraphicFramePr>
          <p:nvPr/>
        </p:nvGraphicFramePr>
        <p:xfrm>
          <a:off x="5527445" y="2359343"/>
          <a:ext cx="352425" cy="431800"/>
        </p:xfrm>
        <a:graphic>
          <a:graphicData uri="http://schemas.openxmlformats.org/presentationml/2006/ole">
            <mc:AlternateContent xmlns:mc="http://schemas.openxmlformats.org/markup-compatibility/2006">
              <mc:Choice xmlns:v="urn:schemas-microsoft-com:vml" Requires="v">
                <p:oleObj spid="_x0000_s7174" name="Equation" r:id="rId12" imgW="3962400" imgH="4876800" progId="Equation.DSMT4">
                  <p:embed/>
                </p:oleObj>
              </mc:Choice>
              <mc:Fallback>
                <p:oleObj name="Equation" r:id="rId12" imgW="3962400" imgH="4876800" progId="Equation.DSMT4">
                  <p:embed/>
                  <p:pic>
                    <p:nvPicPr>
                      <p:cNvPr id="0" name="Object 70"/>
                      <p:cNvPicPr/>
                      <p:nvPr/>
                    </p:nvPicPr>
                    <p:blipFill>
                      <a:blip r:embed="rId13"/>
                      <a:stretch>
                        <a:fillRect/>
                      </a:stretch>
                    </p:blipFill>
                    <p:spPr>
                      <a:xfrm>
                        <a:off x="5527445" y="2359343"/>
                        <a:ext cx="352425" cy="431800"/>
                      </a:xfrm>
                      <a:prstGeom prst="rect">
                        <a:avLst/>
                      </a:prstGeom>
                    </p:spPr>
                  </p:pic>
                </p:oleObj>
              </mc:Fallback>
            </mc:AlternateContent>
          </a:graphicData>
        </a:graphic>
      </p:graphicFrame>
      <p:graphicFrame>
        <p:nvGraphicFramePr>
          <p:cNvPr id="72" name="Object 71"/>
          <p:cNvGraphicFramePr>
            <a:graphicFrameLocks noChangeAspect="1"/>
          </p:cNvGraphicFramePr>
          <p:nvPr/>
        </p:nvGraphicFramePr>
        <p:xfrm>
          <a:off x="3527682" y="2685871"/>
          <a:ext cx="596900" cy="539750"/>
        </p:xfrm>
        <a:graphic>
          <a:graphicData uri="http://schemas.openxmlformats.org/presentationml/2006/ole">
            <mc:AlternateContent xmlns:mc="http://schemas.openxmlformats.org/markup-compatibility/2006">
              <mc:Choice xmlns:v="urn:schemas-microsoft-com:vml" Requires="v">
                <p:oleObj spid="_x0000_s7175" name="Equation" r:id="rId14" imgW="6705600" imgH="6096000" progId="Equation.DSMT4">
                  <p:embed/>
                </p:oleObj>
              </mc:Choice>
              <mc:Fallback>
                <p:oleObj name="Equation" r:id="rId14" imgW="6705600" imgH="6096000" progId="Equation.DSMT4">
                  <p:embed/>
                  <p:pic>
                    <p:nvPicPr>
                      <p:cNvPr id="0" name="Object 71"/>
                      <p:cNvPicPr/>
                      <p:nvPr/>
                    </p:nvPicPr>
                    <p:blipFill>
                      <a:blip r:embed="rId15"/>
                      <a:stretch>
                        <a:fillRect/>
                      </a:stretch>
                    </p:blipFill>
                    <p:spPr>
                      <a:xfrm>
                        <a:off x="3527682" y="2685871"/>
                        <a:ext cx="596900" cy="539750"/>
                      </a:xfrm>
                      <a:prstGeom prst="rect">
                        <a:avLst/>
                      </a:prstGeom>
                    </p:spPr>
                  </p:pic>
                </p:oleObj>
              </mc:Fallback>
            </mc:AlternateContent>
          </a:graphicData>
        </a:graphic>
      </p:graphicFrame>
      <p:graphicFrame>
        <p:nvGraphicFramePr>
          <p:cNvPr id="73" name="Object 72"/>
          <p:cNvGraphicFramePr>
            <a:graphicFrameLocks noChangeAspect="1"/>
          </p:cNvGraphicFramePr>
          <p:nvPr/>
        </p:nvGraphicFramePr>
        <p:xfrm>
          <a:off x="4632793" y="3711578"/>
          <a:ext cx="271462" cy="431800"/>
        </p:xfrm>
        <a:graphic>
          <a:graphicData uri="http://schemas.openxmlformats.org/presentationml/2006/ole">
            <mc:AlternateContent xmlns:mc="http://schemas.openxmlformats.org/markup-compatibility/2006">
              <mc:Choice xmlns:v="urn:schemas-microsoft-com:vml" Requires="v">
                <p:oleObj spid="_x0000_s7176" name="Equation" r:id="rId16" imgW="3048000" imgH="4876800" progId="Equation.DSMT4">
                  <p:embed/>
                </p:oleObj>
              </mc:Choice>
              <mc:Fallback>
                <p:oleObj name="Equation" r:id="rId16" imgW="3048000" imgH="4876800" progId="Equation.DSMT4">
                  <p:embed/>
                  <p:pic>
                    <p:nvPicPr>
                      <p:cNvPr id="0" name="Object 72"/>
                      <p:cNvPicPr/>
                      <p:nvPr/>
                    </p:nvPicPr>
                    <p:blipFill>
                      <a:blip r:embed="rId5"/>
                      <a:stretch>
                        <a:fillRect/>
                      </a:stretch>
                    </p:blipFill>
                    <p:spPr>
                      <a:xfrm>
                        <a:off x="4632793" y="3711578"/>
                        <a:ext cx="271462" cy="431800"/>
                      </a:xfrm>
                      <a:prstGeom prst="rect">
                        <a:avLst/>
                      </a:prstGeom>
                    </p:spPr>
                  </p:pic>
                </p:oleObj>
              </mc:Fallback>
            </mc:AlternateContent>
          </a:graphicData>
        </a:graphic>
      </p:graphicFrame>
      <p:graphicFrame>
        <p:nvGraphicFramePr>
          <p:cNvPr id="74" name="Object 73"/>
          <p:cNvGraphicFramePr>
            <a:graphicFrameLocks noChangeAspect="1"/>
          </p:cNvGraphicFramePr>
          <p:nvPr/>
        </p:nvGraphicFramePr>
        <p:xfrm>
          <a:off x="4299234" y="1930694"/>
          <a:ext cx="379413" cy="431800"/>
        </p:xfrm>
        <a:graphic>
          <a:graphicData uri="http://schemas.openxmlformats.org/presentationml/2006/ole">
            <mc:AlternateContent xmlns:mc="http://schemas.openxmlformats.org/markup-compatibility/2006">
              <mc:Choice xmlns:v="urn:schemas-microsoft-com:vml" Requires="v">
                <p:oleObj spid="_x0000_s7177" name="Equation" r:id="rId17" imgW="4267200" imgH="4876800" progId="Equation.DSMT4">
                  <p:embed/>
                </p:oleObj>
              </mc:Choice>
              <mc:Fallback>
                <p:oleObj name="Equation" r:id="rId17" imgW="4267200" imgH="4876800" progId="Equation.DSMT4">
                  <p:embed/>
                  <p:pic>
                    <p:nvPicPr>
                      <p:cNvPr id="0" name="Object 73"/>
                      <p:cNvPicPr/>
                      <p:nvPr/>
                    </p:nvPicPr>
                    <p:blipFill>
                      <a:blip r:embed="rId18"/>
                      <a:stretch>
                        <a:fillRect/>
                      </a:stretch>
                    </p:blipFill>
                    <p:spPr>
                      <a:xfrm>
                        <a:off x="4299234" y="1930694"/>
                        <a:ext cx="379413" cy="431800"/>
                      </a:xfrm>
                      <a:prstGeom prst="rect">
                        <a:avLst/>
                      </a:prstGeom>
                    </p:spPr>
                  </p:pic>
                </p:oleObj>
              </mc:Fallback>
            </mc:AlternateContent>
          </a:graphicData>
        </a:graphic>
      </p:graphicFrame>
      <p:graphicFrame>
        <p:nvGraphicFramePr>
          <p:cNvPr id="75" name="Object 74"/>
          <p:cNvGraphicFramePr>
            <a:graphicFrameLocks noChangeAspect="1"/>
          </p:cNvGraphicFramePr>
          <p:nvPr/>
        </p:nvGraphicFramePr>
        <p:xfrm>
          <a:off x="3532402" y="3516918"/>
          <a:ext cx="677862" cy="458787"/>
        </p:xfrm>
        <a:graphic>
          <a:graphicData uri="http://schemas.openxmlformats.org/presentationml/2006/ole">
            <mc:AlternateContent xmlns:mc="http://schemas.openxmlformats.org/markup-compatibility/2006">
              <mc:Choice xmlns:v="urn:schemas-microsoft-com:vml" Requires="v">
                <p:oleObj spid="_x0000_s7178" name="Equation" r:id="rId19" imgW="7620000" imgH="5181600" progId="Equation.DSMT4">
                  <p:embed/>
                </p:oleObj>
              </mc:Choice>
              <mc:Fallback>
                <p:oleObj name="Equation" r:id="rId19" imgW="7620000" imgH="5181600" progId="Equation.DSMT4">
                  <p:embed/>
                  <p:pic>
                    <p:nvPicPr>
                      <p:cNvPr id="0" name="Object 74"/>
                      <p:cNvPicPr/>
                      <p:nvPr/>
                    </p:nvPicPr>
                    <p:blipFill>
                      <a:blip r:embed="rId20"/>
                      <a:stretch>
                        <a:fillRect/>
                      </a:stretch>
                    </p:blipFill>
                    <p:spPr>
                      <a:xfrm>
                        <a:off x="3532402" y="3516918"/>
                        <a:ext cx="677862" cy="458787"/>
                      </a:xfrm>
                      <a:prstGeom prst="rect">
                        <a:avLst/>
                      </a:prstGeom>
                    </p:spPr>
                  </p:pic>
                </p:oleObj>
              </mc:Fallback>
            </mc:AlternateContent>
          </a:graphicData>
        </a:graphic>
      </p:graphicFrame>
      <p:sp>
        <p:nvSpPr>
          <p:cNvPr id="76" name="Google Shape;1794;p49"/>
          <p:cNvSpPr txBox="1"/>
          <p:nvPr/>
        </p:nvSpPr>
        <p:spPr>
          <a:xfrm>
            <a:off x="152400" y="4643550"/>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Công suất lên dốc: </a:t>
            </a:r>
            <a:endParaRPr lang="en-US" sz="2500" kern="0">
              <a:solidFill>
                <a:srgbClr val="FFFF00"/>
              </a:solidFill>
              <a:latin typeface="Itim" panose="00000500000000000000" pitchFamily="2" charset="-34"/>
              <a:cs typeface="Itim" panose="00000500000000000000" pitchFamily="2" charset="-34"/>
            </a:endParaRPr>
          </a:p>
        </p:txBody>
      </p:sp>
      <p:sp>
        <p:nvSpPr>
          <p:cNvPr id="77" name="Google Shape;1794;p49"/>
          <p:cNvSpPr txBox="1"/>
          <p:nvPr/>
        </p:nvSpPr>
        <p:spPr>
          <a:xfrm>
            <a:off x="2176115" y="424770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graphicFrame>
        <p:nvGraphicFramePr>
          <p:cNvPr id="78" name="Object 77"/>
          <p:cNvGraphicFramePr>
            <a:graphicFrameLocks noChangeAspect="1"/>
          </p:cNvGraphicFramePr>
          <p:nvPr/>
        </p:nvGraphicFramePr>
        <p:xfrm>
          <a:off x="962555" y="5096589"/>
          <a:ext cx="1249363" cy="377825"/>
        </p:xfrm>
        <a:graphic>
          <a:graphicData uri="http://schemas.openxmlformats.org/presentationml/2006/ole">
            <mc:AlternateContent xmlns:mc="http://schemas.openxmlformats.org/markup-compatibility/2006">
              <mc:Choice xmlns:v="urn:schemas-microsoft-com:vml" Requires="v">
                <p:oleObj spid="_x0000_s7179" name="Equation" r:id="rId21" imgW="14020800" imgH="4267200" progId="Equation.DSMT4">
                  <p:embed/>
                </p:oleObj>
              </mc:Choice>
              <mc:Fallback>
                <p:oleObj name="Equation" r:id="rId21" imgW="14020800" imgH="4267200" progId="Equation.DSMT4">
                  <p:embed/>
                  <p:pic>
                    <p:nvPicPr>
                      <p:cNvPr id="0" name="Object 77"/>
                      <p:cNvPicPr/>
                      <p:nvPr/>
                    </p:nvPicPr>
                    <p:blipFill>
                      <a:blip r:embed="rId22"/>
                      <a:stretch>
                        <a:fillRect/>
                      </a:stretch>
                    </p:blipFill>
                    <p:spPr>
                      <a:xfrm>
                        <a:off x="962555" y="5096589"/>
                        <a:ext cx="1249363" cy="377825"/>
                      </a:xfrm>
                      <a:prstGeom prst="rect">
                        <a:avLst/>
                      </a:prstGeom>
                    </p:spPr>
                  </p:pic>
                </p:oleObj>
              </mc:Fallback>
            </mc:AlternateContent>
          </a:graphicData>
        </a:graphic>
      </p:graphicFrame>
      <p:cxnSp>
        <p:nvCxnSpPr>
          <p:cNvPr id="80" name="Straight Arrow Connector 79"/>
          <p:cNvCxnSpPr/>
          <p:nvPr/>
        </p:nvCxnSpPr>
        <p:spPr>
          <a:xfrm flipH="1">
            <a:off x="791412" y="5456622"/>
            <a:ext cx="906295" cy="189586"/>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1" name="Object 80"/>
          <p:cNvGraphicFramePr>
            <a:graphicFrameLocks noChangeAspect="1"/>
          </p:cNvGraphicFramePr>
          <p:nvPr/>
        </p:nvGraphicFramePr>
        <p:xfrm>
          <a:off x="374800" y="5575582"/>
          <a:ext cx="4405313" cy="512763"/>
        </p:xfrm>
        <a:graphic>
          <a:graphicData uri="http://schemas.openxmlformats.org/presentationml/2006/ole">
            <mc:AlternateContent xmlns:mc="http://schemas.openxmlformats.org/markup-compatibility/2006">
              <mc:Choice xmlns:v="urn:schemas-microsoft-com:vml" Requires="v">
                <p:oleObj spid="_x0000_s7180" name="Equation" r:id="rId23" imgW="49377600" imgH="5791200" progId="Equation.DSMT4">
                  <p:embed/>
                </p:oleObj>
              </mc:Choice>
              <mc:Fallback>
                <p:oleObj name="Equation" r:id="rId23" imgW="49377600" imgH="5791200" progId="Equation.DSMT4">
                  <p:embed/>
                  <p:pic>
                    <p:nvPicPr>
                      <p:cNvPr id="0" name="Object 80"/>
                      <p:cNvPicPr/>
                      <p:nvPr/>
                    </p:nvPicPr>
                    <p:blipFill>
                      <a:blip r:embed="rId24"/>
                      <a:stretch>
                        <a:fillRect/>
                      </a:stretch>
                    </p:blipFill>
                    <p:spPr>
                      <a:xfrm>
                        <a:off x="374800" y="5575582"/>
                        <a:ext cx="4405313" cy="512763"/>
                      </a:xfrm>
                      <a:prstGeom prst="rect">
                        <a:avLst/>
                      </a:prstGeom>
                    </p:spPr>
                  </p:pic>
                </p:oleObj>
              </mc:Fallback>
            </mc:AlternateContent>
          </a:graphicData>
        </a:graphic>
      </p:graphicFrame>
      <p:cxnSp>
        <p:nvCxnSpPr>
          <p:cNvPr id="82" name="Straight Arrow Connector 81"/>
          <p:cNvCxnSpPr/>
          <p:nvPr/>
        </p:nvCxnSpPr>
        <p:spPr>
          <a:xfrm>
            <a:off x="4724400" y="3018622"/>
            <a:ext cx="262330" cy="612175"/>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H="1">
            <a:off x="4429355" y="3022319"/>
            <a:ext cx="281626" cy="92104"/>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4763444" y="3635877"/>
            <a:ext cx="218206" cy="61970"/>
          </a:xfrm>
          <a:prstGeom prst="line">
            <a:avLst/>
          </a:prstGeom>
          <a:ln w="12700">
            <a:solidFill>
              <a:srgbClr val="FFFF00"/>
            </a:solidFill>
            <a:prstDash val="dash"/>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4462071" y="3160238"/>
            <a:ext cx="206505" cy="537261"/>
          </a:xfrm>
          <a:prstGeom prst="line">
            <a:avLst/>
          </a:prstGeom>
          <a:ln w="12700">
            <a:solidFill>
              <a:srgbClr val="FFFF00"/>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96" name="Object 95"/>
          <p:cNvGraphicFramePr>
            <a:graphicFrameLocks noChangeAspect="1"/>
          </p:cNvGraphicFramePr>
          <p:nvPr/>
        </p:nvGraphicFramePr>
        <p:xfrm>
          <a:off x="4992212" y="3379968"/>
          <a:ext cx="381000" cy="566738"/>
        </p:xfrm>
        <a:graphic>
          <a:graphicData uri="http://schemas.openxmlformats.org/presentationml/2006/ole">
            <mc:AlternateContent xmlns:mc="http://schemas.openxmlformats.org/markup-compatibility/2006">
              <mc:Choice xmlns:v="urn:schemas-microsoft-com:vml" Requires="v">
                <p:oleObj spid="_x0000_s7181" name="Equation" r:id="rId25" imgW="4267200" imgH="6400800" progId="Equation.DSMT4">
                  <p:embed/>
                </p:oleObj>
              </mc:Choice>
              <mc:Fallback>
                <p:oleObj name="Equation" r:id="rId25" imgW="4267200" imgH="6400800" progId="Equation.DSMT4">
                  <p:embed/>
                  <p:pic>
                    <p:nvPicPr>
                      <p:cNvPr id="0" name="Object 95"/>
                      <p:cNvPicPr/>
                      <p:nvPr/>
                    </p:nvPicPr>
                    <p:blipFill>
                      <a:blip r:embed="rId26"/>
                      <a:stretch>
                        <a:fillRect/>
                      </a:stretch>
                    </p:blipFill>
                    <p:spPr>
                      <a:xfrm>
                        <a:off x="4992212" y="3379968"/>
                        <a:ext cx="381000" cy="566738"/>
                      </a:xfrm>
                      <a:prstGeom prst="rect">
                        <a:avLst/>
                      </a:prstGeom>
                    </p:spPr>
                  </p:pic>
                </p:oleObj>
              </mc:Fallback>
            </mc:AlternateContent>
          </a:graphicData>
        </a:graphic>
      </p:graphicFrame>
      <p:graphicFrame>
        <p:nvGraphicFramePr>
          <p:cNvPr id="97" name="Object 96"/>
          <p:cNvGraphicFramePr>
            <a:graphicFrameLocks noChangeAspect="1"/>
          </p:cNvGraphicFramePr>
          <p:nvPr/>
        </p:nvGraphicFramePr>
        <p:xfrm>
          <a:off x="4230711" y="2534916"/>
          <a:ext cx="381000" cy="539750"/>
        </p:xfrm>
        <a:graphic>
          <a:graphicData uri="http://schemas.openxmlformats.org/presentationml/2006/ole">
            <mc:AlternateContent xmlns:mc="http://schemas.openxmlformats.org/markup-compatibility/2006">
              <mc:Choice xmlns:v="urn:schemas-microsoft-com:vml" Requires="v">
                <p:oleObj spid="_x0000_s7182" name="Equation" r:id="rId27" imgW="4267200" imgH="6096000" progId="Equation.DSMT4">
                  <p:embed/>
                </p:oleObj>
              </mc:Choice>
              <mc:Fallback>
                <p:oleObj name="Equation" r:id="rId27" imgW="4267200" imgH="6096000" progId="Equation.DSMT4">
                  <p:embed/>
                  <p:pic>
                    <p:nvPicPr>
                      <p:cNvPr id="0" name="Object 96"/>
                      <p:cNvPicPr/>
                      <p:nvPr/>
                    </p:nvPicPr>
                    <p:blipFill>
                      <a:blip r:embed="rId28"/>
                      <a:stretch>
                        <a:fillRect/>
                      </a:stretch>
                    </p:blipFill>
                    <p:spPr>
                      <a:xfrm>
                        <a:off x="4230711" y="2534916"/>
                        <a:ext cx="381000" cy="539750"/>
                      </a:xfrm>
                      <a:prstGeom prst="rect">
                        <a:avLst/>
                      </a:prstGeom>
                    </p:spPr>
                  </p:pic>
                </p:oleObj>
              </mc:Fallback>
            </mc:AlternateContent>
          </a:graphicData>
        </a:graphic>
      </p:graphicFrame>
      <p:graphicFrame>
        <p:nvGraphicFramePr>
          <p:cNvPr id="101" name="Object 100"/>
          <p:cNvGraphicFramePr>
            <a:graphicFrameLocks noChangeAspect="1"/>
          </p:cNvGraphicFramePr>
          <p:nvPr/>
        </p:nvGraphicFramePr>
        <p:xfrm>
          <a:off x="100422" y="6037359"/>
          <a:ext cx="3209925" cy="836612"/>
        </p:xfrm>
        <a:graphic>
          <a:graphicData uri="http://schemas.openxmlformats.org/presentationml/2006/ole">
            <mc:AlternateContent xmlns:mc="http://schemas.openxmlformats.org/markup-compatibility/2006">
              <mc:Choice xmlns:v="urn:schemas-microsoft-com:vml" Requires="v">
                <p:oleObj spid="_x0000_s7183" name="Equation" r:id="rId29" imgW="35966400" imgH="9448800" progId="Equation.DSMT4">
                  <p:embed/>
                </p:oleObj>
              </mc:Choice>
              <mc:Fallback>
                <p:oleObj name="Equation" r:id="rId29" imgW="35966400" imgH="9448800" progId="Equation.DSMT4">
                  <p:embed/>
                  <p:pic>
                    <p:nvPicPr>
                      <p:cNvPr id="0" name="Object 100"/>
                      <p:cNvPicPr/>
                      <p:nvPr/>
                    </p:nvPicPr>
                    <p:blipFill>
                      <a:blip r:embed="rId30"/>
                      <a:stretch>
                        <a:fillRect/>
                      </a:stretch>
                    </p:blipFill>
                    <p:spPr>
                      <a:xfrm>
                        <a:off x="100422" y="6037359"/>
                        <a:ext cx="3209925" cy="836612"/>
                      </a:xfrm>
                      <a:prstGeom prst="rect">
                        <a:avLst/>
                      </a:prstGeom>
                    </p:spPr>
                  </p:pic>
                </p:oleObj>
              </mc:Fallback>
            </mc:AlternateContent>
          </a:graphicData>
        </a:graphic>
      </p:graphicFrame>
      <p:cxnSp>
        <p:nvCxnSpPr>
          <p:cNvPr id="103" name="Straight Arrow Connector 102"/>
          <p:cNvCxnSpPr/>
          <p:nvPr/>
        </p:nvCxnSpPr>
        <p:spPr>
          <a:xfrm flipH="1">
            <a:off x="1910514" y="5981190"/>
            <a:ext cx="402701" cy="344884"/>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05" name="Google Shape;1794;p49"/>
          <p:cNvSpPr txBox="1"/>
          <p:nvPr/>
        </p:nvSpPr>
        <p:spPr>
          <a:xfrm>
            <a:off x="8119715" y="1769969"/>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06" name="Google Shape;1794;p49"/>
          <p:cNvSpPr txBox="1"/>
          <p:nvPr/>
        </p:nvSpPr>
        <p:spPr>
          <a:xfrm>
            <a:off x="6096000" y="2165811"/>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Lực kéo trên đoạn đường dốc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Công suất khi lên dốc là: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110" name="Object 109"/>
          <p:cNvGraphicFramePr>
            <a:graphicFrameLocks noChangeAspect="1"/>
          </p:cNvGraphicFramePr>
          <p:nvPr/>
        </p:nvGraphicFramePr>
        <p:xfrm>
          <a:off x="3799310" y="6021388"/>
          <a:ext cx="2255838" cy="836612"/>
        </p:xfrm>
        <a:graphic>
          <a:graphicData uri="http://schemas.openxmlformats.org/presentationml/2006/ole">
            <mc:AlternateContent xmlns:mc="http://schemas.openxmlformats.org/markup-compatibility/2006">
              <mc:Choice xmlns:v="urn:schemas-microsoft-com:vml" Requires="v">
                <p:oleObj spid="_x0000_s7184" name="Equation" r:id="rId31" imgW="25298400" imgH="9448800" progId="Equation.DSMT4">
                  <p:embed/>
                </p:oleObj>
              </mc:Choice>
              <mc:Fallback>
                <p:oleObj name="Equation" r:id="rId31" imgW="25298400" imgH="9448800" progId="Equation.DSMT4">
                  <p:embed/>
                  <p:pic>
                    <p:nvPicPr>
                      <p:cNvPr id="0" name="Object 109"/>
                      <p:cNvPicPr/>
                      <p:nvPr/>
                    </p:nvPicPr>
                    <p:blipFill>
                      <a:blip r:embed="rId32"/>
                      <a:stretch>
                        <a:fillRect/>
                      </a:stretch>
                    </p:blipFill>
                    <p:spPr>
                      <a:xfrm>
                        <a:off x="3799310" y="6021388"/>
                        <a:ext cx="2255838" cy="836612"/>
                      </a:xfrm>
                      <a:prstGeom prst="rect">
                        <a:avLst/>
                      </a:prstGeom>
                    </p:spPr>
                  </p:pic>
                </p:oleObj>
              </mc:Fallback>
            </mc:AlternateContent>
          </a:graphicData>
        </a:graphic>
      </p:graphicFrame>
      <p:cxnSp>
        <p:nvCxnSpPr>
          <p:cNvPr id="114" name="Straight Arrow Connector 113"/>
          <p:cNvCxnSpPr/>
          <p:nvPr/>
        </p:nvCxnSpPr>
        <p:spPr>
          <a:xfrm>
            <a:off x="3283603" y="6204975"/>
            <a:ext cx="483055" cy="17112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19" name="Object 118"/>
          <p:cNvGraphicFramePr>
            <a:graphicFrameLocks noChangeAspect="1"/>
          </p:cNvGraphicFramePr>
          <p:nvPr/>
        </p:nvGraphicFramePr>
        <p:xfrm>
          <a:off x="6676802" y="2762357"/>
          <a:ext cx="5140325" cy="2536825"/>
        </p:xfrm>
        <a:graphic>
          <a:graphicData uri="http://schemas.openxmlformats.org/presentationml/2006/ole">
            <mc:AlternateContent xmlns:mc="http://schemas.openxmlformats.org/markup-compatibility/2006">
              <mc:Choice xmlns:v="urn:schemas-microsoft-com:vml" Requires="v">
                <p:oleObj spid="_x0000_s7185" name="Equation" r:id="rId33" imgW="57607200" imgH="28651200" progId="Equation.DSMT4">
                  <p:embed/>
                </p:oleObj>
              </mc:Choice>
              <mc:Fallback>
                <p:oleObj name="Equation" r:id="rId33" imgW="57607200" imgH="28651200" progId="Equation.DSMT4">
                  <p:embed/>
                  <p:pic>
                    <p:nvPicPr>
                      <p:cNvPr id="0" name="Object 118"/>
                      <p:cNvPicPr/>
                      <p:nvPr/>
                    </p:nvPicPr>
                    <p:blipFill>
                      <a:blip r:embed="rId34"/>
                      <a:stretch>
                        <a:fillRect/>
                      </a:stretch>
                    </p:blipFill>
                    <p:spPr>
                      <a:xfrm>
                        <a:off x="6676802" y="2762357"/>
                        <a:ext cx="5140325" cy="2536825"/>
                      </a:xfrm>
                      <a:prstGeom prst="rect">
                        <a:avLst/>
                      </a:prstGeom>
                    </p:spPr>
                  </p:pic>
                </p:oleObj>
              </mc:Fallback>
            </mc:AlternateContent>
          </a:graphicData>
        </a:graphic>
      </p:graphicFrame>
      <p:graphicFrame>
        <p:nvGraphicFramePr>
          <p:cNvPr id="47" name="Object 46"/>
          <p:cNvGraphicFramePr>
            <a:graphicFrameLocks noChangeAspect="1"/>
          </p:cNvGraphicFramePr>
          <p:nvPr/>
        </p:nvGraphicFramePr>
        <p:xfrm>
          <a:off x="7156226" y="5836345"/>
          <a:ext cx="4181475" cy="539750"/>
        </p:xfrm>
        <a:graphic>
          <a:graphicData uri="http://schemas.openxmlformats.org/presentationml/2006/ole">
            <mc:AlternateContent xmlns:mc="http://schemas.openxmlformats.org/markup-compatibility/2006">
              <mc:Choice xmlns:v="urn:schemas-microsoft-com:vml" Requires="v">
                <p:oleObj spid="_x0000_s7186" name="Equation" r:id="rId35" imgW="46939200" imgH="6096000" progId="Equation.DSMT4">
                  <p:embed/>
                </p:oleObj>
              </mc:Choice>
              <mc:Fallback>
                <p:oleObj name="Equation" r:id="rId35" imgW="46939200" imgH="6096000" progId="Equation.DSMT4">
                  <p:embed/>
                  <p:pic>
                    <p:nvPicPr>
                      <p:cNvPr id="0" name="Object 46"/>
                      <p:cNvPicPr/>
                      <p:nvPr/>
                    </p:nvPicPr>
                    <p:blipFill>
                      <a:blip r:embed="rId36"/>
                      <a:stretch>
                        <a:fillRect/>
                      </a:stretch>
                    </p:blipFill>
                    <p:spPr>
                      <a:xfrm>
                        <a:off x="7156226" y="5836345"/>
                        <a:ext cx="4181475" cy="53975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1_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3428</Words>
  <Application>WPS Presentation</Application>
  <PresentationFormat>Widescreen</PresentationFormat>
  <Paragraphs>168</Paragraphs>
  <Slides>14</Slides>
  <Notes>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53</vt:i4>
      </vt:variant>
      <vt:variant>
        <vt:lpstr>幻灯片标题</vt:lpstr>
      </vt:variant>
      <vt:variant>
        <vt:i4>14</vt:i4>
      </vt:variant>
    </vt:vector>
  </HeadingPairs>
  <TitlesOfParts>
    <vt:vector size="85" baseType="lpstr">
      <vt:lpstr>Arial</vt:lpstr>
      <vt:lpstr>SimSun</vt:lpstr>
      <vt:lpstr>Wingdings</vt:lpstr>
      <vt:lpstr>Amatic SC</vt:lpstr>
      <vt:lpstr>Thonburi</vt:lpstr>
      <vt:lpstr>Quicksand Light</vt:lpstr>
      <vt:lpstr>Arial</vt:lpstr>
      <vt:lpstr>Bebas Neue</vt:lpstr>
      <vt:lpstr>Quicksand</vt:lpstr>
      <vt:lpstr>Itim</vt:lpstr>
      <vt:lpstr>Arial Unicode MS</vt:lpstr>
      <vt:lpstr>Microsoft YaHei</vt:lpstr>
      <vt:lpstr>汉仪旗黑</vt:lpstr>
      <vt:lpstr>宋体-简</vt:lpstr>
      <vt:lpstr>Calibri Light</vt:lpstr>
      <vt:lpstr>Helvetica Neue</vt:lpstr>
      <vt:lpstr>Calibri</vt:lpstr>
      <vt:lpstr>1_Art_mountaineering</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Khái niệm công suất </vt:lpstr>
      <vt:lpstr>Công suất là đại lượng đặc trưng cho tốc độ sinh công (khả năng thực hiện công nhanh hay chậm) </vt:lpstr>
      <vt:lpstr>Công thức tính công suất </vt:lpstr>
      <vt:lpstr>Công suất được đo bằng công sinh ra trong một giây </vt:lpstr>
      <vt:lpstr>PowerPoint 演示文稿</vt:lpstr>
      <vt:lpstr>Liên hệ giữa công suất với lực và tốc độ </vt:lpstr>
      <vt:lpstr>Liên hệ giữa công suất với lực và tốc độ (khi vật chuyển động cùng hướng với lực) </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1</cp:revision>
  <dcterms:created xsi:type="dcterms:W3CDTF">2025-09-16T04:45:02Z</dcterms:created>
  <dcterms:modified xsi:type="dcterms:W3CDTF">2025-09-16T04:45:02Z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FCD5218C6129C6814EEBC868D55842ED_42</vt:lpwstr>
  </property>
  <property fmtid="{D5CDD505-2E9C-101B-9397-08002B2CF9AE}" pid="3" name="KSOProductBuildVer">
    <vt:lpwstr>1033-12.1.22553.22553</vt:lpwstr>
  </property>
</Properties>
</file>