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gif" ContentType="image/gi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675" r:id="rId4"/>
    <p:sldId id="899" r:id="rId5"/>
    <p:sldId id="880" r:id="rId7"/>
    <p:sldId id="908" r:id="rId8"/>
    <p:sldId id="909" r:id="rId9"/>
    <p:sldId id="910" r:id="rId10"/>
    <p:sldId id="900" r:id="rId11"/>
    <p:sldId id="901" r:id="rId12"/>
    <p:sldId id="902" r:id="rId13"/>
    <p:sldId id="894" r:id="rId14"/>
    <p:sldId id="885" r:id="rId15"/>
    <p:sldId id="903" r:id="rId16"/>
    <p:sldId id="905" r:id="rId17"/>
    <p:sldId id="906" r:id="rId18"/>
    <p:sldId id="895" r:id="rId19"/>
    <p:sldId id="904" r:id="rId20"/>
    <p:sldId id="90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0E261E"/>
    <a:srgbClr val="009AE5"/>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6" autoAdjust="0"/>
    <p:restoredTop sz="93970" autoAdjust="0"/>
  </p:normalViewPr>
  <p:slideViewPr>
    <p:cSldViewPr snapToGrid="0">
      <p:cViewPr varScale="1">
        <p:scale>
          <a:sx n="70" d="100"/>
          <a:sy n="70" d="100"/>
        </p:scale>
        <p:origin x="702" y="60"/>
      </p:cViewPr>
      <p:guideLst/>
    </p:cSldViewPr>
  </p:slideViewPr>
  <p:outlineViewPr>
    <p:cViewPr>
      <p:scale>
        <a:sx n="33" d="100"/>
        <a:sy n="33" d="100"/>
      </p:scale>
      <p:origin x="0" y="-490"/>
    </p:cViewPr>
  </p:outlineViewPr>
  <p:notesTextViewPr>
    <p:cViewPr>
      <p:scale>
        <a:sx n="1" d="1"/>
        <a:sy n="1" d="1"/>
      </p:scale>
      <p:origin x="0" y="0"/>
    </p:cViewPr>
  </p:notesTextViewPr>
  <p:sorterViewPr>
    <p:cViewPr>
      <p:scale>
        <a:sx n="100" d="100"/>
        <a:sy n="100" d="100"/>
      </p:scale>
      <p:origin x="0" y="-44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11.wmf"/><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7" Type="http://schemas.openxmlformats.org/officeDocument/2006/relationships/image" Target="../media/image24.wmf"/><Relationship Id="rId6" Type="http://schemas.openxmlformats.org/officeDocument/2006/relationships/image" Target="../media/image23.wmf"/><Relationship Id="rId5" Type="http://schemas.openxmlformats.org/officeDocument/2006/relationships/image" Target="../media/image22.wmf"/><Relationship Id="rId4" Type="http://schemas.openxmlformats.org/officeDocument/2006/relationships/image" Target="../media/image21.wmf"/><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32.wmf"/><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40.wmf"/><Relationship Id="rId3" Type="http://schemas.openxmlformats.org/officeDocument/2006/relationships/image" Target="../media/image39.wmf"/><Relationship Id="rId2" Type="http://schemas.openxmlformats.org/officeDocument/2006/relationships/image" Target="../media/image36.wmf"/><Relationship Id="rId1"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3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95D4B9-0F66-430E-BE66-B9ABD378C14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437F0-3CB8-4907-9E53-8CCCF8E80CC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2256367" y="4411663"/>
            <a:ext cx="24892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p>
              <a:endParaRPr lang="en-US"/>
            </a:p>
          </p:txBody>
        </p:sp>
      </p:grpSp>
      <p:sp>
        <p:nvSpPr>
          <p:cNvPr id="2051" name="未知"/>
          <p:cNvSpPr>
            <a:spLocks noChangeAspect="1"/>
          </p:cNvSpPr>
          <p:nvPr/>
        </p:nvSpPr>
        <p:spPr>
          <a:xfrm>
            <a:off x="3043767" y="2293938"/>
            <a:ext cx="9196917" cy="4591050"/>
          </a:xfrm>
          <a:custGeom>
            <a:avLst/>
            <a:gdLst/>
            <a:ahLst/>
            <a:cxnLst>
              <a:cxn ang="0">
                <a:pos x="0" y="4572133"/>
              </a:cxn>
              <a:cxn ang="0">
                <a:pos x="5786074" y="0"/>
              </a:cxn>
              <a:cxn ang="0">
                <a:pos x="6882360" y="14878"/>
              </a:cxn>
              <a:cxn ang="0">
                <a:pos x="6897688" y="4591050"/>
              </a:cxn>
              <a:cxn ang="0">
                <a:pos x="0" y="4572133"/>
              </a:cxn>
            </a:cxnLst>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p>
            <a:endParaRPr lang="en-US"/>
          </a:p>
        </p:txBody>
      </p:sp>
      <p:sp>
        <p:nvSpPr>
          <p:cNvPr id="2061" name="Rectangle 13"/>
          <p:cNvSpPr>
            <a:spLocks noGrp="1" noChangeArrowheads="1"/>
          </p:cNvSpPr>
          <p:nvPr>
            <p:ph type="ctrTitle" sz="quarter"/>
          </p:nvPr>
        </p:nvSpPr>
        <p:spPr>
          <a:xfrm>
            <a:off x="529167" y="2133600"/>
            <a:ext cx="11231033" cy="1470025"/>
          </a:xfrm>
        </p:spPr>
        <p:txBody>
          <a:bodyPr/>
          <a:lstStyle>
            <a:lvl1pPr algn="ctr">
              <a:defRPr/>
            </a:lvl1pPr>
          </a:lstStyle>
          <a:p>
            <a:pPr lvl="0"/>
            <a:r>
              <a:rPr lang="en-US" altLang="zh-CN" noProof="0" smtClean="0"/>
              <a:t>Click to edit Master title style</a:t>
            </a:r>
            <a:endParaRPr lang="en-US" altLang="zh-CN" noProof="0" smtClean="0"/>
          </a:p>
        </p:txBody>
      </p:sp>
      <p:sp>
        <p:nvSpPr>
          <p:cNvPr id="2062" name="Rectangle 14"/>
          <p:cNvSpPr>
            <a:spLocks noGrp="1" noChangeArrowheads="1"/>
          </p:cNvSpPr>
          <p:nvPr>
            <p:ph type="subTitle" sz="quarter" idx="1"/>
          </p:nvPr>
        </p:nvSpPr>
        <p:spPr>
          <a:xfrm>
            <a:off x="1828800" y="3886200"/>
            <a:ext cx="8534400" cy="1198563"/>
          </a:xfrm>
        </p:spPr>
        <p:txBody>
          <a:bodyPr anchor="ctr" anchorCtr="1"/>
          <a:lstStyle>
            <a:lvl1pPr marL="0" indent="0">
              <a:buFontTx/>
              <a:buNone/>
              <a:defRPr/>
            </a:lvl1pPr>
          </a:lstStyle>
          <a:p>
            <a:pPr lvl="0"/>
            <a:r>
              <a:rPr lang="en-US" altLang="zh-CN" noProof="0" smtClean="0"/>
              <a:t>Click to edit Master subtitle style</a:t>
            </a:r>
            <a:endParaRPr lang="en-US" altLang="zh-CN" noProof="0" smtClean="0"/>
          </a:p>
        </p:txBody>
      </p:sp>
      <p:sp>
        <p:nvSpPr>
          <p:cNvPr id="29" name="Rectangle 15"/>
          <p:cNvSpPr>
            <a:spLocks noGrp="1" noChangeArrowheads="1"/>
          </p:cNvSpPr>
          <p:nvPr>
            <p:ph type="dt" sz="quarter"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0" name="Rectangle 1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1" name="Rectangle 1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0EB2F9E-C9E0-4EA3-A9E2-0DF5F691060E}"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chemeClr val="bg1"/>
            </a:gs>
          </a:gsLst>
          <a:lin ang="5400000" scaled="1"/>
          <a:tileRect/>
        </a:gradFill>
        <a:effectLst/>
      </p:bgPr>
    </p:bg>
    <p:spTree>
      <p:nvGrpSpPr>
        <p:cNvPr id="1" name=""/>
        <p:cNvGrpSpPr/>
        <p:nvPr/>
      </p:nvGrpSpPr>
      <p:grpSpPr/>
      <p:grpSp>
        <p:nvGrpSpPr>
          <p:cNvPr id="1026" name="Group 2"/>
          <p:cNvGrpSpPr>
            <a:grpSpLocks noChangeAspect="1"/>
          </p:cNvGrpSpPr>
          <p:nvPr/>
        </p:nvGrpSpPr>
        <p:grpSpPr>
          <a:xfrm>
            <a:off x="7016751" y="4076700"/>
            <a:ext cx="1862667"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p>
              <a:endParaRPr lang="en-US"/>
            </a:p>
          </p:txBody>
        </p:sp>
      </p:grpSp>
      <p:sp>
        <p:nvSpPr>
          <p:cNvPr id="1027" name="未知"/>
          <p:cNvSpPr>
            <a:spLocks noChangeAspect="1"/>
          </p:cNvSpPr>
          <p:nvPr/>
        </p:nvSpPr>
        <p:spPr>
          <a:xfrm>
            <a:off x="2840567" y="4749800"/>
            <a:ext cx="9351433" cy="2135188"/>
          </a:xfrm>
          <a:custGeom>
            <a:avLst/>
            <a:gdLst/>
            <a:ahLst/>
            <a:cxnLst>
              <a:cxn ang="0">
                <a:pos x="0" y="2115714"/>
              </a:cxn>
              <a:cxn ang="0">
                <a:pos x="7013575" y="0"/>
              </a:cxn>
              <a:cxn ang="0">
                <a:pos x="7013575" y="2135188"/>
              </a:cxn>
              <a:cxn ang="0">
                <a:pos x="0" y="2115714"/>
              </a:cxn>
            </a:cxnLst>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p>
            <a:endParaRPr lang="en-US"/>
          </a:p>
        </p:txBody>
      </p:sp>
      <p:sp>
        <p:nvSpPr>
          <p:cNvPr id="1028" name="Rectangle 13"/>
          <p:cNvSpPr>
            <a:spLocks noGrp="1"/>
          </p:cNvSpPr>
          <p:nvPr>
            <p:ph type="title"/>
          </p:nvPr>
        </p:nvSpPr>
        <p:spPr>
          <a:xfrm>
            <a:off x="609600" y="274638"/>
            <a:ext cx="109728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14"/>
          <p:cNvSpPr>
            <a:spLocks noGrp="1"/>
          </p:cNvSpPr>
          <p:nvPr>
            <p:ph type="body" idx="1"/>
          </p:nvPr>
        </p:nvSpPr>
        <p:spPr>
          <a:xfrm>
            <a:off x="609600" y="1600200"/>
            <a:ext cx="109728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1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 name="Rectangle 1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Rectangle 1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704020202020204" pitchFamily="34" charset="0"/>
          <a:ea typeface="SimSun" pitchFamily="2" charset="-122"/>
        </a:defRPr>
      </a:lvl2pPr>
      <a:lvl3pPr algn="l" rtl="0" fontAlgn="base">
        <a:spcBef>
          <a:spcPct val="0"/>
        </a:spcBef>
        <a:spcAft>
          <a:spcPct val="0"/>
        </a:spcAft>
        <a:defRPr sz="3600">
          <a:solidFill>
            <a:schemeClr val="tx1"/>
          </a:solidFill>
          <a:latin typeface="Arial" panose="020B0704020202020204" pitchFamily="34" charset="0"/>
          <a:ea typeface="SimSun" pitchFamily="2" charset="-122"/>
        </a:defRPr>
      </a:lvl3pPr>
      <a:lvl4pPr algn="l" rtl="0" fontAlgn="base">
        <a:spcBef>
          <a:spcPct val="0"/>
        </a:spcBef>
        <a:spcAft>
          <a:spcPct val="0"/>
        </a:spcAft>
        <a:defRPr sz="3600">
          <a:solidFill>
            <a:schemeClr val="tx1"/>
          </a:solidFill>
          <a:latin typeface="Arial" panose="020B0704020202020204" pitchFamily="34" charset="0"/>
          <a:ea typeface="SimSun" pitchFamily="2" charset="-122"/>
        </a:defRPr>
      </a:lvl4pPr>
      <a:lvl5pPr algn="l" rtl="0" fontAlgn="base">
        <a:spcBef>
          <a:spcPct val="0"/>
        </a:spcBef>
        <a:spcAft>
          <a:spcPct val="0"/>
        </a:spcAft>
        <a:defRPr sz="3600">
          <a:solidFill>
            <a:schemeClr val="tx1"/>
          </a:solidFill>
          <a:latin typeface="Arial" panose="020B0704020202020204" pitchFamily="34" charset="0"/>
          <a:ea typeface="SimSun" pitchFamily="2" charset="-122"/>
        </a:defRPr>
      </a:lvl5pPr>
      <a:lvl6pPr marL="457200" algn="l" rtl="0" fontAlgn="base">
        <a:spcBef>
          <a:spcPct val="0"/>
        </a:spcBef>
        <a:spcAft>
          <a:spcPct val="0"/>
        </a:spcAft>
        <a:defRPr sz="3600">
          <a:solidFill>
            <a:schemeClr val="tx1"/>
          </a:solidFill>
          <a:latin typeface="Arial" panose="020B0704020202020204" pitchFamily="34" charset="0"/>
          <a:ea typeface="SimSun" pitchFamily="2" charset="-122"/>
        </a:defRPr>
      </a:lvl6pPr>
      <a:lvl7pPr marL="914400" algn="l" rtl="0" fontAlgn="base">
        <a:spcBef>
          <a:spcPct val="0"/>
        </a:spcBef>
        <a:spcAft>
          <a:spcPct val="0"/>
        </a:spcAft>
        <a:defRPr sz="3600">
          <a:solidFill>
            <a:schemeClr val="tx1"/>
          </a:solidFill>
          <a:latin typeface="Arial" panose="020B0704020202020204" pitchFamily="34" charset="0"/>
          <a:ea typeface="SimSun" pitchFamily="2" charset="-122"/>
        </a:defRPr>
      </a:lvl7pPr>
      <a:lvl8pPr marL="1371600" algn="l" rtl="0" fontAlgn="base">
        <a:spcBef>
          <a:spcPct val="0"/>
        </a:spcBef>
        <a:spcAft>
          <a:spcPct val="0"/>
        </a:spcAft>
        <a:defRPr sz="3600">
          <a:solidFill>
            <a:schemeClr val="tx1"/>
          </a:solidFill>
          <a:latin typeface="Arial" panose="020B0704020202020204" pitchFamily="34" charset="0"/>
          <a:ea typeface="SimSun" pitchFamily="2" charset="-122"/>
        </a:defRPr>
      </a:lvl8pPr>
      <a:lvl9pPr marL="1828800" algn="l" rtl="0" fontAlgn="base">
        <a:spcBef>
          <a:spcPct val="0"/>
        </a:spcBef>
        <a:spcAft>
          <a:spcPct val="0"/>
        </a:spcAft>
        <a:defRPr sz="3600">
          <a:solidFill>
            <a:schemeClr val="tx1"/>
          </a:solidFill>
          <a:latin typeface="Arial" panose="020B0704020202020204" pitchFamily="34" charset="0"/>
          <a:ea typeface="SimSun"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image" Target="../media/image4.png"/><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9.wmf"/><Relationship Id="rId7" Type="http://schemas.openxmlformats.org/officeDocument/2006/relationships/oleObject" Target="../embeddings/oleObject4.bin"/><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5.wmf"/><Relationship Id="rId16" Type="http://schemas.openxmlformats.org/officeDocument/2006/relationships/notesSlide" Target="../notesSlides/notesSlide2.xml"/><Relationship Id="rId15" Type="http://schemas.openxmlformats.org/officeDocument/2006/relationships/vmlDrawing" Target="../drawings/vmlDrawing2.vml"/><Relationship Id="rId14" Type="http://schemas.openxmlformats.org/officeDocument/2006/relationships/slideLayout" Target="../slideLayouts/slideLayout2.xml"/><Relationship Id="rId13" Type="http://schemas.openxmlformats.org/officeDocument/2006/relationships/image" Target="../media/image11.wmf"/><Relationship Id="rId12" Type="http://schemas.openxmlformats.org/officeDocument/2006/relationships/oleObject" Target="../embeddings/oleObject7.bin"/><Relationship Id="rId11" Type="http://schemas.openxmlformats.org/officeDocument/2006/relationships/oleObject" Target="../embeddings/oleObject6.bin"/><Relationship Id="rId10" Type="http://schemas.openxmlformats.org/officeDocument/2006/relationships/image" Target="../media/image10.wmf"/><Relationship Id="rId1"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jpe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jpe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jpe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9.bin"/><Relationship Id="rId3" Type="http://schemas.openxmlformats.org/officeDocument/2006/relationships/image" Target="../media/image16.wmf"/><Relationship Id="rId2" Type="http://schemas.openxmlformats.org/officeDocument/2006/relationships/oleObject" Target="../embeddings/oleObject8.bin"/><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9" Type="http://schemas.openxmlformats.org/officeDocument/2006/relationships/image" Target="../media/image21.wmf"/><Relationship Id="rId8" Type="http://schemas.openxmlformats.org/officeDocument/2006/relationships/oleObject" Target="../embeddings/oleObject13.bin"/><Relationship Id="rId7" Type="http://schemas.openxmlformats.org/officeDocument/2006/relationships/image" Target="../media/image20.wmf"/><Relationship Id="rId6" Type="http://schemas.openxmlformats.org/officeDocument/2006/relationships/oleObject" Target="../embeddings/oleObject12.bin"/><Relationship Id="rId5" Type="http://schemas.openxmlformats.org/officeDocument/2006/relationships/image" Target="../media/image19.wmf"/><Relationship Id="rId4" Type="http://schemas.openxmlformats.org/officeDocument/2006/relationships/oleObject" Target="../embeddings/oleObject11.bin"/><Relationship Id="rId3" Type="http://schemas.openxmlformats.org/officeDocument/2006/relationships/image" Target="../media/image18.wmf"/><Relationship Id="rId2" Type="http://schemas.openxmlformats.org/officeDocument/2006/relationships/oleObject" Target="../embeddings/oleObject10.bin"/><Relationship Id="rId17" Type="http://schemas.openxmlformats.org/officeDocument/2006/relationships/vmlDrawing" Target="../drawings/vmlDrawing4.vml"/><Relationship Id="rId16" Type="http://schemas.openxmlformats.org/officeDocument/2006/relationships/slideLayout" Target="../slideLayouts/slideLayout2.xml"/><Relationship Id="rId15" Type="http://schemas.openxmlformats.org/officeDocument/2006/relationships/image" Target="../media/image24.wmf"/><Relationship Id="rId14" Type="http://schemas.openxmlformats.org/officeDocument/2006/relationships/oleObject" Target="../embeddings/oleObject16.bin"/><Relationship Id="rId13" Type="http://schemas.openxmlformats.org/officeDocument/2006/relationships/image" Target="../media/image23.wmf"/><Relationship Id="rId12" Type="http://schemas.openxmlformats.org/officeDocument/2006/relationships/oleObject" Target="../embeddings/oleObject15.bin"/><Relationship Id="rId11" Type="http://schemas.openxmlformats.org/officeDocument/2006/relationships/image" Target="../media/image22.wmf"/><Relationship Id="rId10" Type="http://schemas.openxmlformats.org/officeDocument/2006/relationships/oleObject" Target="../embeddings/oleObject14.bin"/><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GIF"/><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28.wmf"/><Relationship Id="rId3" Type="http://schemas.openxmlformats.org/officeDocument/2006/relationships/oleObject" Target="../embeddings/oleObject17.bin"/><Relationship Id="rId2" Type="http://schemas.microsoft.com/office/2007/relationships/hdphoto" Target="../media/image27.wdp"/><Relationship Id="rId1" Type="http://schemas.openxmlformats.org/officeDocument/2006/relationships/image" Target="../media/image26.pn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2.wmf"/><Relationship Id="rId7" Type="http://schemas.openxmlformats.org/officeDocument/2006/relationships/oleObject" Target="../embeddings/oleObject21.bin"/><Relationship Id="rId6" Type="http://schemas.openxmlformats.org/officeDocument/2006/relationships/image" Target="../media/image31.wmf"/><Relationship Id="rId5" Type="http://schemas.openxmlformats.org/officeDocument/2006/relationships/oleObject" Target="../embeddings/oleObject20.bin"/><Relationship Id="rId4" Type="http://schemas.openxmlformats.org/officeDocument/2006/relationships/image" Target="../media/image30.wmf"/><Relationship Id="rId3" Type="http://schemas.openxmlformats.org/officeDocument/2006/relationships/oleObject" Target="../embeddings/oleObject19.bin"/><Relationship Id="rId2" Type="http://schemas.openxmlformats.org/officeDocument/2006/relationships/image" Target="../media/image29.wmf"/><Relationship Id="rId11" Type="http://schemas.openxmlformats.org/officeDocument/2006/relationships/notesSlide" Target="../notesSlides/notesSlide4.xml"/><Relationship Id="rId10" Type="http://schemas.openxmlformats.org/officeDocument/2006/relationships/vmlDrawing" Target="../drawings/vmlDrawing6.vml"/><Relationship Id="rId1" Type="http://schemas.openxmlformats.org/officeDocument/2006/relationships/oleObject" Target="../embeddings/oleObject18.bin"/></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GIF"/><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7" Type="http://schemas.openxmlformats.org/officeDocument/2006/relationships/vmlDrawing" Target="../drawings/vmlDrawing7.vml"/><Relationship Id="rId6" Type="http://schemas.openxmlformats.org/officeDocument/2006/relationships/slideLayout" Target="../slideLayouts/slideLayout2.xml"/><Relationship Id="rId5" Type="http://schemas.openxmlformats.org/officeDocument/2006/relationships/image" Target="../media/image36.wmf"/><Relationship Id="rId4" Type="http://schemas.openxmlformats.org/officeDocument/2006/relationships/oleObject" Target="../embeddings/oleObject23.bin"/><Relationship Id="rId3" Type="http://schemas.openxmlformats.org/officeDocument/2006/relationships/image" Target="../media/image35.wmf"/><Relationship Id="rId2" Type="http://schemas.openxmlformats.org/officeDocument/2006/relationships/oleObject" Target="../embeddings/oleObject22.bin"/><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27.bin"/><Relationship Id="rId8" Type="http://schemas.openxmlformats.org/officeDocument/2006/relationships/image" Target="../media/image39.wmf"/><Relationship Id="rId7" Type="http://schemas.openxmlformats.org/officeDocument/2006/relationships/oleObject" Target="../embeddings/oleObject26.bin"/><Relationship Id="rId6" Type="http://schemas.openxmlformats.org/officeDocument/2006/relationships/image" Target="../media/image36.wmf"/><Relationship Id="rId5" Type="http://schemas.openxmlformats.org/officeDocument/2006/relationships/oleObject" Target="../embeddings/oleObject25.bin"/><Relationship Id="rId4" Type="http://schemas.openxmlformats.org/officeDocument/2006/relationships/image" Target="../media/image38.wmf"/><Relationship Id="rId3" Type="http://schemas.openxmlformats.org/officeDocument/2006/relationships/oleObject" Target="../embeddings/oleObject24.bin"/><Relationship Id="rId2" Type="http://schemas.openxmlformats.org/officeDocument/2006/relationships/image" Target="../media/image37.png"/><Relationship Id="rId12" Type="http://schemas.openxmlformats.org/officeDocument/2006/relationships/vmlDrawing" Target="../drawings/vmlDrawing8.vml"/><Relationship Id="rId11" Type="http://schemas.openxmlformats.org/officeDocument/2006/relationships/slideLayout" Target="../slideLayouts/slideLayout2.xml"/><Relationship Id="rId10" Type="http://schemas.openxmlformats.org/officeDocument/2006/relationships/image" Target="../media/image40.wmf"/><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oleObject" Target="../embeddings/oleObject29.bin"/><Relationship Id="rId4" Type="http://schemas.openxmlformats.org/officeDocument/2006/relationships/image" Target="../media/image39.wmf"/><Relationship Id="rId3" Type="http://schemas.openxmlformats.org/officeDocument/2006/relationships/oleObject" Target="../embeddings/oleObject28.bin"/><Relationship Id="rId2" Type="http://schemas.openxmlformats.org/officeDocument/2006/relationships/image" Target="../media/image41.png"/><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276;p33"/>
          <p:cNvSpPr txBox="1"/>
          <p:nvPr/>
        </p:nvSpPr>
        <p:spPr>
          <a:xfrm>
            <a:off x="152400" y="1178355"/>
            <a:ext cx="11887200" cy="2922305"/>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rgbClr val="191919"/>
              </a:buClr>
              <a:buSzPts val="5200"/>
              <a:buFont typeface="Amatic SC"/>
              <a:buNone/>
              <a:defRPr sz="11065" b="1" i="0" u="none" strike="noStrike" cap="none">
                <a:solidFill>
                  <a:srgbClr val="191919"/>
                </a:solidFill>
                <a:latin typeface="Amatic SC"/>
                <a:ea typeface="Amatic SC"/>
                <a:cs typeface="Amatic SC"/>
                <a:sym typeface="Amatic SC"/>
              </a:defRPr>
            </a:lvl1pPr>
            <a:lvl2pPr marR="0" lvl="1"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2pPr>
            <a:lvl3pPr marR="0" lvl="2"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3pPr>
            <a:lvl4pPr marR="0" lvl="3"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4pPr>
            <a:lvl5pPr marR="0" lvl="4"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5pPr>
            <a:lvl6pPr marR="0" lvl="5"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6pPr>
            <a:lvl7pPr marR="0" lvl="6"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7pPr>
            <a:lvl8pPr marR="0" lvl="7"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8pPr>
            <a:lvl9pPr marR="0" lvl="8"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9pPr>
          </a:lstStyle>
          <a:p>
            <a:pPr marL="0" marR="0" lvl="0" indent="0" algn="ctr" defTabSz="914400" rtl="0" eaLnBrk="1" fontAlgn="auto" latinLnBrk="0" hangingPunct="1">
              <a:lnSpc>
                <a:spcPct val="90000"/>
              </a:lnSpc>
              <a:spcBef>
                <a:spcPts val="0"/>
              </a:spcBef>
              <a:spcAft>
                <a:spcPts val="0"/>
              </a:spcAft>
              <a:buClr>
                <a:srgbClr val="191919"/>
              </a:buClr>
              <a:buSzPts val="5200"/>
              <a:buFont typeface="Amatic SC"/>
              <a:buNone/>
              <a:defRPr/>
            </a:pPr>
            <a:r>
              <a:rPr kumimoji="0" lang="en-US" sz="10000" b="1" i="0" u="none" strike="noStrike" kern="0" cap="none" spc="0" normalizeH="0" baseline="0" noProof="0">
                <a:ln>
                  <a:noFill/>
                </a:ln>
                <a:solidFill>
                  <a:srgbClr val="FFFF00"/>
                </a:solidFill>
                <a:effectLst/>
                <a:uLnTx/>
                <a:uFillTx/>
                <a:latin typeface="Itim" panose="00000500000000000000" pitchFamily="2" charset="-34"/>
                <a:cs typeface="Itim" panose="00000500000000000000" pitchFamily="2" charset="-34"/>
                <a:sym typeface="Amatic SC"/>
              </a:rPr>
              <a:t>Bài 25. Động năng – Thế năng </a:t>
            </a:r>
            <a:endParaRPr kumimoji="0" lang="en-US" sz="10000" b="1" i="0" u="none" strike="noStrike" kern="0" cap="none" spc="0" normalizeH="0" baseline="0" noProof="0">
              <a:ln>
                <a:noFill/>
              </a:ln>
              <a:solidFill>
                <a:srgbClr val="FFFF00"/>
              </a:solidFill>
              <a:effectLst/>
              <a:uLnTx/>
              <a:uFillTx/>
              <a:latin typeface="Itim" panose="00000500000000000000" pitchFamily="2" charset="-34"/>
              <a:cs typeface="Itim" panose="00000500000000000000" pitchFamily="2" charset="-34"/>
              <a:sym typeface="Amatic SC"/>
            </a:endParaRPr>
          </a:p>
        </p:txBody>
      </p:sp>
      <p:cxnSp>
        <p:nvCxnSpPr>
          <p:cNvPr id="196" name="Google Shape;338;p33"/>
          <p:cNvCxnSpPr/>
          <p:nvPr/>
        </p:nvCxnSpPr>
        <p:spPr>
          <a:xfrm>
            <a:off x="4509800" y="4194147"/>
            <a:ext cx="3172400" cy="0"/>
          </a:xfrm>
          <a:prstGeom prst="straightConnector1">
            <a:avLst/>
          </a:prstGeom>
          <a:noFill/>
          <a:ln w="19050" cap="flat" cmpd="sng">
            <a:solidFill>
              <a:srgbClr val="FF8956"/>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3240349"/>
            <a:ext cx="11887200" cy="913819"/>
          </a:xfrm>
          <a:prstGeom prst="rect">
            <a:avLst/>
          </a:prstGeom>
        </p:spPr>
        <p:txBody>
          <a:bodyPr spcFirstLastPara="1" wrap="square" lIns="121900" tIns="121900" rIns="121900" bIns="121900" anchor="b" anchorCtr="0">
            <a:noAutofit/>
          </a:bodyPr>
          <a:lstStyle/>
          <a:p>
            <a:pPr algn="ctr"/>
            <a:r>
              <a:rPr lang="en-GB" sz="5000">
                <a:solidFill>
                  <a:srgbClr val="FFFF00"/>
                </a:solidFill>
                <a:latin typeface="Itim" panose="00000500000000000000" pitchFamily="2" charset="-34"/>
                <a:cs typeface="Itim" panose="00000500000000000000" pitchFamily="2" charset="-34"/>
              </a:rPr>
              <a:t>Động năng </a:t>
            </a:r>
            <a:endParaRPr sz="5000">
              <a:solidFill>
                <a:srgbClr val="FFFF00"/>
              </a:solidFill>
              <a:latin typeface="Itim" panose="00000500000000000000" pitchFamily="2" charset="-34"/>
              <a:cs typeface="Itim" panose="00000500000000000000" pitchFamily="2" charset="-34"/>
            </a:endParaRPr>
          </a:p>
        </p:txBody>
      </p:sp>
      <p:sp>
        <p:nvSpPr>
          <p:cNvPr id="3" name="Google Shape;2366;p54"/>
          <p:cNvSpPr txBox="1"/>
          <p:nvPr/>
        </p:nvSpPr>
        <p:spPr>
          <a:xfrm>
            <a:off x="4951200" y="1970203"/>
            <a:ext cx="2289600" cy="132622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r>
              <a:rPr lang="en-GB" sz="10000" kern="0">
                <a:solidFill>
                  <a:schemeClr val="accent5">
                    <a:lumMod val="75000"/>
                  </a:schemeClr>
                </a:solidFill>
                <a:latin typeface="Itim" panose="00000500000000000000" pitchFamily="2" charset="-34"/>
                <a:cs typeface="Itim" panose="00000500000000000000" pitchFamily="2" charset="-34"/>
              </a:rPr>
              <a:t>01</a:t>
            </a:r>
            <a:endParaRPr lang="en-GB" sz="10000" kern="0">
              <a:solidFill>
                <a:schemeClr val="accent5">
                  <a:lumMod val="75000"/>
                </a:schemeClr>
              </a:solidFill>
              <a:latin typeface="Itim" panose="00000500000000000000" pitchFamily="2" charset="-34"/>
              <a:cs typeface="Itim" panose="00000500000000000000" pitchFamily="2" charset="-34"/>
            </a:endParaRPr>
          </a:p>
        </p:txBody>
      </p:sp>
      <p:cxnSp>
        <p:nvCxnSpPr>
          <p:cNvPr id="4" name="Google Shape;2368;p54"/>
          <p:cNvCxnSpPr/>
          <p:nvPr/>
        </p:nvCxnSpPr>
        <p:spPr>
          <a:xfrm>
            <a:off x="5121400" y="4269648"/>
            <a:ext cx="1949200" cy="0"/>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Động năng là năng lượng mà vật có được do chuyển động </a:t>
            </a:r>
            <a:endParaRPr sz="3000" b="0">
              <a:solidFill>
                <a:srgbClr val="FFFF00"/>
              </a:solidFill>
              <a:latin typeface="Itim" panose="00000500000000000000" pitchFamily="2" charset="-34"/>
              <a:cs typeface="Itim" panose="00000500000000000000" pitchFamily="2" charset="-34"/>
            </a:endParaRPr>
          </a:p>
        </p:txBody>
      </p:sp>
      <p:graphicFrame>
        <p:nvGraphicFramePr>
          <p:cNvPr id="5" name="Object 4"/>
          <p:cNvGraphicFramePr>
            <a:graphicFrameLocks noChangeAspect="1"/>
          </p:cNvGraphicFramePr>
          <p:nvPr/>
        </p:nvGraphicFramePr>
        <p:xfrm>
          <a:off x="4808537" y="897055"/>
          <a:ext cx="2574925" cy="1366837"/>
        </p:xfrm>
        <a:graphic>
          <a:graphicData uri="http://schemas.openxmlformats.org/presentationml/2006/ole">
            <mc:AlternateContent xmlns:mc="http://schemas.openxmlformats.org/markup-compatibility/2006">
              <mc:Choice xmlns:v="urn:schemas-microsoft-com:vml" Requires="v">
                <p:oleObj spid="_x0000_s1026" name="Equation" r:id="rId1" imgW="17678400" imgH="9448800" progId="Equation.DSMT4">
                  <p:embed/>
                </p:oleObj>
              </mc:Choice>
              <mc:Fallback>
                <p:oleObj name="Equation" r:id="rId1" imgW="17678400" imgH="9448800" progId="Equation.DSMT4">
                  <p:embed/>
                  <p:pic>
                    <p:nvPicPr>
                      <p:cNvPr id="0" name="Object 4"/>
                      <p:cNvPicPr/>
                      <p:nvPr/>
                    </p:nvPicPr>
                    <p:blipFill>
                      <a:blip r:embed="rId2"/>
                      <a:stretch>
                        <a:fillRect/>
                      </a:stretch>
                    </p:blipFill>
                    <p:spPr>
                      <a:xfrm>
                        <a:off x="4808537" y="897055"/>
                        <a:ext cx="2574925" cy="1366837"/>
                      </a:xfrm>
                      <a:prstGeom prst="rect">
                        <a:avLst/>
                      </a:prstGeom>
                    </p:spPr>
                  </p:pic>
                </p:oleObj>
              </mc:Fallback>
            </mc:AlternateContent>
          </a:graphicData>
        </a:graphic>
      </p:graphicFrame>
      <p:pic>
        <p:nvPicPr>
          <p:cNvPr id="13" name="Picture 12"/>
          <p:cNvPicPr>
            <a:picLocks noChangeAspect="1"/>
          </p:cNvPicPr>
          <p:nvPr/>
        </p:nvPicPr>
        <p:blipFill rotWithShape="1">
          <a:blip r:embed="rId3">
            <a:extLst>
              <a:ext uri="{BEBA8EAE-BF5A-486C-A8C5-ECC9F3942E4B}">
                <a14:imgProps xmlns:a14="http://schemas.microsoft.com/office/drawing/2010/main">
                  <a14:imgLayer r:embed="rId4">
                    <a14:imgEffect>
                      <a14:backgroundRemoval t="4028" b="95024" l="3058" r="96403">
                        <a14:foregroundMark x1="50540" y1="7109" x2="8813" y2="21564"/>
                        <a14:foregroundMark x1="8813" y1="21564" x2="5216" y2="52133"/>
                        <a14:foregroundMark x1="5216" y1="52133" x2="7554" y2="73460"/>
                        <a14:foregroundMark x1="7554" y1="73460" x2="12590" y2="85545"/>
                        <a14:foregroundMark x1="12590" y1="85545" x2="30396" y2="93602"/>
                        <a14:foregroundMark x1="30396" y1="93602" x2="77698" y2="91706"/>
                        <a14:foregroundMark x1="77698" y1="91706" x2="87050" y2="82464"/>
                        <a14:foregroundMark x1="87050" y1="82464" x2="93345" y2="45024"/>
                        <a14:foregroundMark x1="93345" y1="45024" x2="85432" y2="18957"/>
                        <a14:foregroundMark x1="85432" y1="18957" x2="57194" y2="5924"/>
                        <a14:foregroundMark x1="57194" y1="5924" x2="43705" y2="5213"/>
                        <a14:foregroundMark x1="43705" y1="5213" x2="42986" y2="6161"/>
                        <a14:foregroundMark x1="18885" y1="7583" x2="4856" y2="13744"/>
                        <a14:foregroundMark x1="4856" y1="13744" x2="7014" y2="27488"/>
                        <a14:foregroundMark x1="7014" y1="27488" x2="9173" y2="28910"/>
                        <a14:foregroundMark x1="10791" y1="4502" x2="3058" y2="11137"/>
                        <a14:foregroundMark x1="3058" y1="11137" x2="3957" y2="16114"/>
                        <a14:foregroundMark x1="4676" y1="72512" x2="10072" y2="94076"/>
                        <a14:foregroundMark x1="10072" y1="94076" x2="19784" y2="95024"/>
                        <a14:foregroundMark x1="85791" y1="96682" x2="92266" y2="82701"/>
                        <a14:foregroundMark x1="92266" y1="82701" x2="92446" y2="67773"/>
                        <a14:foregroundMark x1="83453" y1="43602" x2="72842" y2="43128"/>
                        <a14:foregroundMark x1="72842" y1="43128" x2="75360" y2="59953"/>
                        <a14:foregroundMark x1="75360" y1="59953" x2="82014" y2="45261"/>
                        <a14:foregroundMark x1="82014" y1="45261" x2="80755" y2="42180"/>
                        <a14:foregroundMark x1="88309" y1="96919" x2="96403" y2="81043"/>
                        <a14:foregroundMark x1="96403" y1="81043" x2="95683" y2="78910"/>
                        <a14:foregroundMark x1="72662" y1="9242" x2="81835" y2="9242"/>
                        <a14:foregroundMark x1="81835" y1="9242" x2="92086" y2="13270"/>
                        <a14:foregroundMark x1="92086" y1="13270" x2="93885" y2="31280"/>
                      </a14:backgroundRemoval>
                    </a14:imgEffect>
                  </a14:imgLayer>
                </a14:imgProps>
              </a:ext>
            </a:extLst>
          </a:blip>
          <a:srcRect l="2344" t="3680" r="3125" b="4710"/>
          <a:stretch>
            <a:fillRect/>
          </a:stretch>
        </p:blipFill>
        <p:spPr>
          <a:xfrm>
            <a:off x="927904" y="2615835"/>
            <a:ext cx="4972690" cy="3657600"/>
          </a:xfrm>
          <a:prstGeom prst="rect">
            <a:avLst/>
          </a:prstGeom>
        </p:spPr>
      </p:pic>
      <p:pic>
        <p:nvPicPr>
          <p:cNvPr id="14" name="Picture 13"/>
          <p:cNvPicPr>
            <a:picLocks noChangeAspect="1"/>
          </p:cNvPicPr>
          <p:nvPr/>
        </p:nvPicPr>
        <p:blipFill rotWithShape="1">
          <a:blip r:embed="rId5"/>
          <a:srcRect r="36801"/>
          <a:stretch>
            <a:fillRect/>
          </a:stretch>
        </p:blipFill>
        <p:spPr>
          <a:xfrm>
            <a:off x="6483752" y="2615835"/>
            <a:ext cx="4962525" cy="3657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Mối liên hệ giữa động năng và công của lực </a:t>
            </a:r>
            <a:endParaRPr sz="3000" b="0">
              <a:solidFill>
                <a:srgbClr val="FFFF00"/>
              </a:solidFill>
              <a:latin typeface="Itim" panose="00000500000000000000" pitchFamily="2" charset="-34"/>
              <a:cs typeface="Itim" panose="00000500000000000000" pitchFamily="2" charset="-34"/>
            </a:endParaRPr>
          </a:p>
        </p:txBody>
      </p:sp>
      <p:sp>
        <p:nvSpPr>
          <p:cNvPr id="20" name="Google Shape;1794;p49"/>
          <p:cNvSpPr txBox="1"/>
          <p:nvPr/>
        </p:nvSpPr>
        <p:spPr>
          <a:xfrm>
            <a:off x="6016544" y="2740788"/>
            <a:ext cx="5897482"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Nếu ban đầu vật đứng yên thì: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00B0F0"/>
                </a:solidFill>
                <a:latin typeface="Itim" panose="00000500000000000000" pitchFamily="2" charset="-34"/>
                <a:cs typeface="Itim" panose="00000500000000000000" pitchFamily="2" charset="-34"/>
              </a:rPr>
              <a:t>=&gt; Động năng của vật có giá trị bằng công của lực tác dụng lên vật </a:t>
            </a:r>
            <a:endParaRPr lang="en-US" sz="2500" kern="0">
              <a:solidFill>
                <a:srgbClr val="00B0F0"/>
              </a:solidFill>
              <a:latin typeface="Itim" panose="00000500000000000000" pitchFamily="2" charset="-34"/>
              <a:cs typeface="Itim" panose="00000500000000000000" pitchFamily="2" charset="-34"/>
            </a:endParaRPr>
          </a:p>
        </p:txBody>
      </p:sp>
      <p:graphicFrame>
        <p:nvGraphicFramePr>
          <p:cNvPr id="6" name="Object 5"/>
          <p:cNvGraphicFramePr>
            <a:graphicFrameLocks noChangeAspect="1"/>
          </p:cNvGraphicFramePr>
          <p:nvPr/>
        </p:nvGraphicFramePr>
        <p:xfrm>
          <a:off x="1547813" y="2714625"/>
          <a:ext cx="3179762" cy="3265488"/>
        </p:xfrm>
        <a:graphic>
          <a:graphicData uri="http://schemas.openxmlformats.org/presentationml/2006/ole">
            <mc:AlternateContent xmlns:mc="http://schemas.openxmlformats.org/markup-compatibility/2006">
              <mc:Choice xmlns:v="urn:schemas-microsoft-com:vml" Requires="v">
                <p:oleObj spid="_x0000_s2050" name="Equation" r:id="rId1" imgW="35661600" imgH="36880800" progId="Equation.DSMT4">
                  <p:embed/>
                </p:oleObj>
              </mc:Choice>
              <mc:Fallback>
                <p:oleObj name="Equation" r:id="rId1" imgW="35661600" imgH="36880800" progId="Equation.DSMT4">
                  <p:embed/>
                  <p:pic>
                    <p:nvPicPr>
                      <p:cNvPr id="0" name="Object 5"/>
                      <p:cNvPicPr/>
                      <p:nvPr/>
                    </p:nvPicPr>
                    <p:blipFill>
                      <a:blip r:embed="rId2"/>
                      <a:stretch>
                        <a:fillRect/>
                      </a:stretch>
                    </p:blipFill>
                    <p:spPr>
                      <a:xfrm>
                        <a:off x="1547813" y="2714625"/>
                        <a:ext cx="3179762" cy="3265488"/>
                      </a:xfrm>
                      <a:prstGeom prst="rect">
                        <a:avLst/>
                      </a:prstGeom>
                    </p:spPr>
                  </p:pic>
                </p:oleObj>
              </mc:Fallback>
            </mc:AlternateContent>
          </a:graphicData>
        </a:graphic>
      </p:graphicFrame>
      <p:pic>
        <p:nvPicPr>
          <p:cNvPr id="7" name="Graphic 6" descr="Car with solid fill"/>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flipH="1" flipV="1">
            <a:off x="3137117" y="1463951"/>
            <a:ext cx="914400" cy="914400"/>
          </a:xfrm>
          <a:prstGeom prst="rect">
            <a:avLst/>
          </a:prstGeom>
        </p:spPr>
      </p:pic>
      <p:cxnSp>
        <p:nvCxnSpPr>
          <p:cNvPr id="11" name="Straight Connector 10"/>
          <p:cNvCxnSpPr/>
          <p:nvPr/>
        </p:nvCxnSpPr>
        <p:spPr>
          <a:xfrm>
            <a:off x="3137117" y="2155370"/>
            <a:ext cx="5671218" cy="0"/>
          </a:xfrm>
          <a:prstGeom prst="line">
            <a:avLst/>
          </a:prstGeom>
          <a:ln w="38100">
            <a:solidFill>
              <a:srgbClr val="F8F8F8"/>
            </a:solidFill>
          </a:ln>
        </p:spPr>
        <p:style>
          <a:lnRef idx="1">
            <a:schemeClr val="accent1"/>
          </a:lnRef>
          <a:fillRef idx="0">
            <a:schemeClr val="accent1"/>
          </a:fillRef>
          <a:effectRef idx="0">
            <a:schemeClr val="accent1"/>
          </a:effectRef>
          <a:fontRef idx="minor">
            <a:schemeClr val="tx1"/>
          </a:fontRef>
        </p:style>
      </p:cxnSp>
      <p:graphicFrame>
        <p:nvGraphicFramePr>
          <p:cNvPr id="18" name="Object 17"/>
          <p:cNvGraphicFramePr>
            <a:graphicFrameLocks noChangeAspect="1"/>
          </p:cNvGraphicFramePr>
          <p:nvPr/>
        </p:nvGraphicFramePr>
        <p:xfrm>
          <a:off x="3310755" y="1110678"/>
          <a:ext cx="381000" cy="485775"/>
        </p:xfrm>
        <a:graphic>
          <a:graphicData uri="http://schemas.openxmlformats.org/presentationml/2006/ole">
            <mc:AlternateContent xmlns:mc="http://schemas.openxmlformats.org/markup-compatibility/2006">
              <mc:Choice xmlns:v="urn:schemas-microsoft-com:vml" Requires="v">
                <p:oleObj spid="_x0000_s2051" name="Equation" r:id="rId5" imgW="4267200" imgH="5486400" progId="Equation.DSMT4">
                  <p:embed/>
                </p:oleObj>
              </mc:Choice>
              <mc:Fallback>
                <p:oleObj name="Equation" r:id="rId5" imgW="4267200" imgH="5486400" progId="Equation.DSMT4">
                  <p:embed/>
                  <p:pic>
                    <p:nvPicPr>
                      <p:cNvPr id="0" name="Object 17"/>
                      <p:cNvPicPr/>
                      <p:nvPr/>
                    </p:nvPicPr>
                    <p:blipFill>
                      <a:blip r:embed="rId6"/>
                      <a:stretch>
                        <a:fillRect/>
                      </a:stretch>
                    </p:blipFill>
                    <p:spPr>
                      <a:xfrm>
                        <a:off x="3310755" y="1110678"/>
                        <a:ext cx="381000" cy="485775"/>
                      </a:xfrm>
                      <a:prstGeom prst="rect">
                        <a:avLst/>
                      </a:prstGeom>
                    </p:spPr>
                  </p:pic>
                </p:oleObj>
              </mc:Fallback>
            </mc:AlternateContent>
          </a:graphicData>
        </a:graphic>
      </p:graphicFrame>
      <p:pic>
        <p:nvPicPr>
          <p:cNvPr id="10" name="Graphic 9" descr="Car with solid fill"/>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flipH="1" flipV="1">
            <a:off x="7124538" y="1455945"/>
            <a:ext cx="914400" cy="914400"/>
          </a:xfrm>
          <a:prstGeom prst="rect">
            <a:avLst/>
          </a:prstGeom>
        </p:spPr>
      </p:pic>
      <p:cxnSp>
        <p:nvCxnSpPr>
          <p:cNvPr id="12" name="Straight Arrow Connector 11"/>
          <p:cNvCxnSpPr/>
          <p:nvPr/>
        </p:nvCxnSpPr>
        <p:spPr>
          <a:xfrm flipV="1">
            <a:off x="7986228" y="1894533"/>
            <a:ext cx="611457" cy="10606"/>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3" name="Object 12"/>
          <p:cNvGraphicFramePr>
            <a:graphicFrameLocks noChangeAspect="1"/>
          </p:cNvGraphicFramePr>
          <p:nvPr/>
        </p:nvGraphicFramePr>
        <p:xfrm>
          <a:off x="8155431" y="1411539"/>
          <a:ext cx="273050" cy="431800"/>
        </p:xfrm>
        <a:graphic>
          <a:graphicData uri="http://schemas.openxmlformats.org/presentationml/2006/ole">
            <mc:AlternateContent xmlns:mc="http://schemas.openxmlformats.org/markup-compatibility/2006">
              <mc:Choice xmlns:v="urn:schemas-microsoft-com:vml" Requires="v">
                <p:oleObj spid="_x0000_s2052" name="Equation" r:id="rId7" imgW="3048000" imgH="4876800" progId="Equation.DSMT4">
                  <p:embed/>
                </p:oleObj>
              </mc:Choice>
              <mc:Fallback>
                <p:oleObj name="Equation" r:id="rId7" imgW="3048000" imgH="4876800" progId="Equation.DSMT4">
                  <p:embed/>
                  <p:pic>
                    <p:nvPicPr>
                      <p:cNvPr id="0" name="Object 12"/>
                      <p:cNvPicPr/>
                      <p:nvPr/>
                    </p:nvPicPr>
                    <p:blipFill>
                      <a:blip r:embed="rId8"/>
                      <a:stretch>
                        <a:fillRect/>
                      </a:stretch>
                    </p:blipFill>
                    <p:spPr>
                      <a:xfrm>
                        <a:off x="8155431" y="1411539"/>
                        <a:ext cx="273050" cy="431800"/>
                      </a:xfrm>
                      <a:prstGeom prst="rect">
                        <a:avLst/>
                      </a:prstGeom>
                    </p:spPr>
                  </p:pic>
                </p:oleObj>
              </mc:Fallback>
            </mc:AlternateContent>
          </a:graphicData>
        </a:graphic>
      </p:graphicFrame>
      <p:graphicFrame>
        <p:nvGraphicFramePr>
          <p:cNvPr id="14" name="Object 13"/>
          <p:cNvGraphicFramePr>
            <a:graphicFrameLocks noChangeAspect="1"/>
          </p:cNvGraphicFramePr>
          <p:nvPr/>
        </p:nvGraphicFramePr>
        <p:xfrm>
          <a:off x="7459500" y="1224551"/>
          <a:ext cx="244475" cy="269875"/>
        </p:xfrm>
        <a:graphic>
          <a:graphicData uri="http://schemas.openxmlformats.org/presentationml/2006/ole">
            <mc:AlternateContent xmlns:mc="http://schemas.openxmlformats.org/markup-compatibility/2006">
              <mc:Choice xmlns:v="urn:schemas-microsoft-com:vml" Requires="v">
                <p:oleObj spid="_x0000_s2053" name="Equation" r:id="rId9" imgW="2743200" imgH="3048000" progId="Equation.DSMT4">
                  <p:embed/>
                </p:oleObj>
              </mc:Choice>
              <mc:Fallback>
                <p:oleObj name="Equation" r:id="rId9" imgW="2743200" imgH="3048000" progId="Equation.DSMT4">
                  <p:embed/>
                  <p:pic>
                    <p:nvPicPr>
                      <p:cNvPr id="0" name="Object 13"/>
                      <p:cNvPicPr/>
                      <p:nvPr/>
                    </p:nvPicPr>
                    <p:blipFill>
                      <a:blip r:embed="rId10"/>
                      <a:stretch>
                        <a:fillRect/>
                      </a:stretch>
                    </p:blipFill>
                    <p:spPr>
                      <a:xfrm>
                        <a:off x="7459500" y="1224551"/>
                        <a:ext cx="244475" cy="269875"/>
                      </a:xfrm>
                      <a:prstGeom prst="rect">
                        <a:avLst/>
                      </a:prstGeom>
                    </p:spPr>
                  </p:pic>
                </p:oleObj>
              </mc:Fallback>
            </mc:AlternateContent>
          </a:graphicData>
        </a:graphic>
      </p:graphicFrame>
      <p:cxnSp>
        <p:nvCxnSpPr>
          <p:cNvPr id="17" name="Straight Arrow Connector 16"/>
          <p:cNvCxnSpPr/>
          <p:nvPr/>
        </p:nvCxnSpPr>
        <p:spPr>
          <a:xfrm flipV="1">
            <a:off x="3998807" y="1936323"/>
            <a:ext cx="611457" cy="10606"/>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Object 20"/>
          <p:cNvGraphicFramePr>
            <a:graphicFrameLocks noChangeAspect="1"/>
          </p:cNvGraphicFramePr>
          <p:nvPr/>
        </p:nvGraphicFramePr>
        <p:xfrm>
          <a:off x="4168010" y="1453329"/>
          <a:ext cx="273050" cy="431800"/>
        </p:xfrm>
        <a:graphic>
          <a:graphicData uri="http://schemas.openxmlformats.org/presentationml/2006/ole">
            <mc:AlternateContent xmlns:mc="http://schemas.openxmlformats.org/markup-compatibility/2006">
              <mc:Choice xmlns:v="urn:schemas-microsoft-com:vml" Requires="v">
                <p:oleObj spid="_x0000_s2054" name="Equation" r:id="rId11" imgW="3048000" imgH="4876800" progId="Equation.DSMT4">
                  <p:embed/>
                </p:oleObj>
              </mc:Choice>
              <mc:Fallback>
                <p:oleObj name="Equation" r:id="rId11" imgW="3048000" imgH="4876800" progId="Equation.DSMT4">
                  <p:embed/>
                  <p:pic>
                    <p:nvPicPr>
                      <p:cNvPr id="0" name="Object 20"/>
                      <p:cNvPicPr/>
                      <p:nvPr/>
                    </p:nvPicPr>
                    <p:blipFill>
                      <a:blip r:embed="rId8"/>
                      <a:stretch>
                        <a:fillRect/>
                      </a:stretch>
                    </p:blipFill>
                    <p:spPr>
                      <a:xfrm>
                        <a:off x="4168010" y="1453329"/>
                        <a:ext cx="273050" cy="431800"/>
                      </a:xfrm>
                      <a:prstGeom prst="rect">
                        <a:avLst/>
                      </a:prstGeom>
                    </p:spPr>
                  </p:pic>
                </p:oleObj>
              </mc:Fallback>
            </mc:AlternateContent>
          </a:graphicData>
        </a:graphic>
      </p:graphicFrame>
      <p:graphicFrame>
        <p:nvGraphicFramePr>
          <p:cNvPr id="22" name="Object 21"/>
          <p:cNvGraphicFramePr>
            <a:graphicFrameLocks noChangeAspect="1"/>
          </p:cNvGraphicFramePr>
          <p:nvPr/>
        </p:nvGraphicFramePr>
        <p:xfrm>
          <a:off x="7678770" y="3382740"/>
          <a:ext cx="2446337" cy="485775"/>
        </p:xfrm>
        <a:graphic>
          <a:graphicData uri="http://schemas.openxmlformats.org/presentationml/2006/ole">
            <mc:AlternateContent xmlns:mc="http://schemas.openxmlformats.org/markup-compatibility/2006">
              <mc:Choice xmlns:v="urn:schemas-microsoft-com:vml" Requires="v">
                <p:oleObj spid="_x0000_s2055" name="Equation" r:id="rId12" imgW="27432000" imgH="5486400" progId="Equation.DSMT4">
                  <p:embed/>
                </p:oleObj>
              </mc:Choice>
              <mc:Fallback>
                <p:oleObj name="Equation" r:id="rId12" imgW="27432000" imgH="5486400" progId="Equation.DSMT4">
                  <p:embed/>
                  <p:pic>
                    <p:nvPicPr>
                      <p:cNvPr id="0" name="Object 21"/>
                      <p:cNvPicPr/>
                      <p:nvPr/>
                    </p:nvPicPr>
                    <p:blipFill>
                      <a:blip r:embed="rId13"/>
                      <a:stretch>
                        <a:fillRect/>
                      </a:stretch>
                    </p:blipFill>
                    <p:spPr>
                      <a:xfrm>
                        <a:off x="7678770" y="3382740"/>
                        <a:ext cx="2446337" cy="48577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1. Năng lượng của các con sóng trong hình tồn tại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dưới dạng nào?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Tại sao sóng thần lại có sức tàn phá mạnh hơn rất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nhiều so với sóng thông thường?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Tại sao sóng thần chỉ gây ra sự tàn phá khi xô vào vật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cản?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1794;p49"/>
          <p:cNvSpPr txBox="1"/>
          <p:nvPr/>
        </p:nvSpPr>
        <p:spPr>
          <a:xfrm>
            <a:off x="5147915" y="3271438"/>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2" name="Google Shape;1794;p49"/>
          <p:cNvSpPr txBox="1"/>
          <p:nvPr/>
        </p:nvSpPr>
        <p:spPr>
          <a:xfrm>
            <a:off x="152400" y="366728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Năng lượng của các con sóng tồn tại dưới dạng động năng và thế năng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Vì sóng thần có tốc độ truyền rất lớn và dâng cao tới vài chục mét nên nó có động năng cực lớn =&gt; sức tàn phát mạnh hơn rất nhiều so với sóng thông thường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Vì khi gặp vật cản, động năng của sóng chuyển hóa thành công cơ học, gây ra tác dụng lực rất lớn vào vật cản làm cho vật cản bị biến dạng </a:t>
            </a:r>
            <a:endParaRPr lang="en-US" sz="2500" kern="0">
              <a:solidFill>
                <a:srgbClr val="F8F8F8"/>
              </a:solidFill>
              <a:latin typeface="Itim" panose="00000500000000000000" pitchFamily="2" charset="-34"/>
              <a:cs typeface="Itim" panose="00000500000000000000" pitchFamily="2" charset="-34"/>
            </a:endParaRPr>
          </a:p>
        </p:txBody>
      </p:sp>
      <p:pic>
        <p:nvPicPr>
          <p:cNvPr id="1026" name="Picture 2" descr="Nhìn lại thảm họa động đất - sóng thần làm nghiêng trục Trái Đất 10 năm  trước - Báo Người lao độ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24800" y="177470"/>
            <a:ext cx="4114800" cy="2743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2. Khi đang bay, năng lượng của thiên thạch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tồn tại dưới dạng nào?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Tại sao năng lượng của thiên thạch lại rất lớn so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với năng lượng của các vật thường gặp?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Khi va vào Trái Đất, năng lượng của thiên thạch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được chuyển hóa thành những dạng năng lượng nào?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1794;p49"/>
          <p:cNvSpPr txBox="1"/>
          <p:nvPr/>
        </p:nvSpPr>
        <p:spPr>
          <a:xfrm>
            <a:off x="5147915" y="3271438"/>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2" name="Google Shape;1794;p49"/>
          <p:cNvSpPr txBox="1"/>
          <p:nvPr/>
        </p:nvSpPr>
        <p:spPr>
          <a:xfrm>
            <a:off x="152400" y="366728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Khi đang bay, năng lượng của thiên thạch tồn tại dưới dạng động năng và thế năng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Vì thiên thạch có khối lượng rất lớn và bay với tốc độ rất nhanh nên động năng của nó rất lớn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Khi va vào Trái Đất, năng lượng của thiên thạch được chuyển hóa thành động năng (gây ra sự phá vỡ các vật), năng lượng âm (tiếng nổ), quang năng, nhiệt năng </a:t>
            </a:r>
            <a:endParaRPr lang="en-US" sz="2500" kern="0">
              <a:solidFill>
                <a:srgbClr val="F8F8F8"/>
              </a:solidFill>
              <a:latin typeface="Itim" panose="00000500000000000000" pitchFamily="2" charset="-34"/>
              <a:cs typeface="Itim" panose="00000500000000000000" pitchFamily="2" charset="-34"/>
            </a:endParaRPr>
          </a:p>
        </p:txBody>
      </p:sp>
      <p:pic>
        <p:nvPicPr>
          <p:cNvPr id="2050" name="Picture 2" descr="Thiên thạch có thể đâm vào Trái Đất năm 20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177470"/>
            <a:ext cx="4572000" cy="2743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3. Khi sóng đổ vào bờ nó sinh công và có thể xô đổ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các vật trên bờ. Tuy nhiên, với vận động viên lướt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sóng thì không bị ảnh hưởng. Tại sao?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1794;p49"/>
          <p:cNvSpPr txBox="1"/>
          <p:nvPr/>
        </p:nvSpPr>
        <p:spPr>
          <a:xfrm>
            <a:off x="5147915" y="3271438"/>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2" name="Google Shape;1794;p49"/>
          <p:cNvSpPr txBox="1"/>
          <p:nvPr/>
        </p:nvSpPr>
        <p:spPr>
          <a:xfrm>
            <a:off x="152400" y="366728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Vì vận động viên lướt sóng di chuyển gần như vuông góc với lực mà sóng tác dụng nên lực mà sóng gây ra sẽ không ảnh hưởng tới vận động viên </a:t>
            </a:r>
            <a:endParaRPr lang="en-US" sz="2500" kern="0">
              <a:solidFill>
                <a:srgbClr val="F8F8F8"/>
              </a:solidFill>
              <a:latin typeface="Itim" panose="00000500000000000000" pitchFamily="2" charset="-34"/>
              <a:cs typeface="Itim" panose="00000500000000000000" pitchFamily="2" charset="-34"/>
            </a:endParaRPr>
          </a:p>
        </p:txBody>
      </p:sp>
      <p:pic>
        <p:nvPicPr>
          <p:cNvPr id="3074" name="Picture 2" descr="Surfers only spend 8 percent of the time riding wave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93685" y="177470"/>
            <a:ext cx="4145915" cy="2743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4. Một vận động viên quần vợt thực hiện cú giao bóng kỉ lục, quả bóng đạt tới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tốc độ 196 km/h. Biết khối lượng quả bóng là 60 g. Tính động năng của quả bóng?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1794;p49"/>
          <p:cNvSpPr txBox="1"/>
          <p:nvPr/>
        </p:nvSpPr>
        <p:spPr>
          <a:xfrm>
            <a:off x="152400" y="1781292"/>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 Động năng: </a:t>
            </a:r>
            <a:endParaRPr lang="en-US" sz="2500" kern="0">
              <a:solidFill>
                <a:srgbClr val="FFFF00"/>
              </a:solidFill>
              <a:latin typeface="Itim" panose="00000500000000000000" pitchFamily="2" charset="-34"/>
              <a:cs typeface="Itim" panose="00000500000000000000" pitchFamily="2" charset="-34"/>
            </a:endParaRPr>
          </a:p>
        </p:txBody>
      </p:sp>
      <p:sp>
        <p:nvSpPr>
          <p:cNvPr id="16" name="Google Shape;1794;p49"/>
          <p:cNvSpPr txBox="1"/>
          <p:nvPr/>
        </p:nvSpPr>
        <p:spPr>
          <a:xfrm>
            <a:off x="8119715" y="1385450"/>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7" name="Google Shape;1794;p49"/>
          <p:cNvSpPr txBox="1"/>
          <p:nvPr/>
        </p:nvSpPr>
        <p:spPr>
          <a:xfrm>
            <a:off x="6096000" y="1781292"/>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Đổi: 196 km/h = 54,44 m/s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Động năng của quả bóng là: </a:t>
            </a:r>
            <a:endParaRPr lang="en-US" sz="2500" kern="0">
              <a:solidFill>
                <a:srgbClr val="F8F8F8"/>
              </a:solidFill>
              <a:latin typeface="Itim" panose="00000500000000000000" pitchFamily="2" charset="-34"/>
              <a:cs typeface="Itim" panose="00000500000000000000" pitchFamily="2" charset="-34"/>
            </a:endParaRPr>
          </a:p>
        </p:txBody>
      </p:sp>
      <p:sp>
        <p:nvSpPr>
          <p:cNvPr id="18" name="Google Shape;1794;p49"/>
          <p:cNvSpPr txBox="1"/>
          <p:nvPr/>
        </p:nvSpPr>
        <p:spPr>
          <a:xfrm>
            <a:off x="2176115" y="1385450"/>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graphicFrame>
        <p:nvGraphicFramePr>
          <p:cNvPr id="21" name="Object 20"/>
          <p:cNvGraphicFramePr>
            <a:graphicFrameLocks noChangeAspect="1"/>
          </p:cNvGraphicFramePr>
          <p:nvPr/>
        </p:nvGraphicFramePr>
        <p:xfrm>
          <a:off x="6515893" y="2917820"/>
          <a:ext cx="5103813" cy="836613"/>
        </p:xfrm>
        <a:graphic>
          <a:graphicData uri="http://schemas.openxmlformats.org/presentationml/2006/ole">
            <mc:AlternateContent xmlns:mc="http://schemas.openxmlformats.org/markup-compatibility/2006">
              <mc:Choice xmlns:v="urn:schemas-microsoft-com:vml" Requires="v">
                <p:oleObj spid="_x0000_s3074" name="Equation" r:id="rId2" imgW="57302400" imgH="9448800" progId="Equation.DSMT4">
                  <p:embed/>
                </p:oleObj>
              </mc:Choice>
              <mc:Fallback>
                <p:oleObj name="Equation" r:id="rId2" imgW="57302400" imgH="9448800" progId="Equation.DSMT4">
                  <p:embed/>
                  <p:pic>
                    <p:nvPicPr>
                      <p:cNvPr id="0" name="Object 20"/>
                      <p:cNvPicPr/>
                      <p:nvPr/>
                    </p:nvPicPr>
                    <p:blipFill>
                      <a:blip r:embed="rId3"/>
                      <a:stretch>
                        <a:fillRect/>
                      </a:stretch>
                    </p:blipFill>
                    <p:spPr>
                      <a:xfrm>
                        <a:off x="6515893" y="2917820"/>
                        <a:ext cx="5103813" cy="836613"/>
                      </a:xfrm>
                      <a:prstGeom prst="rect">
                        <a:avLst/>
                      </a:prstGeom>
                    </p:spPr>
                  </p:pic>
                </p:oleObj>
              </mc:Fallback>
            </mc:AlternateContent>
          </a:graphicData>
        </a:graphic>
      </p:graphicFrame>
      <p:graphicFrame>
        <p:nvGraphicFramePr>
          <p:cNvPr id="23" name="Object 22"/>
          <p:cNvGraphicFramePr>
            <a:graphicFrameLocks noChangeAspect="1"/>
          </p:cNvGraphicFramePr>
          <p:nvPr/>
        </p:nvGraphicFramePr>
        <p:xfrm>
          <a:off x="1905453" y="2400780"/>
          <a:ext cx="1573213" cy="836612"/>
        </p:xfrm>
        <a:graphic>
          <a:graphicData uri="http://schemas.openxmlformats.org/presentationml/2006/ole">
            <mc:AlternateContent xmlns:mc="http://schemas.openxmlformats.org/markup-compatibility/2006">
              <mc:Choice xmlns:v="urn:schemas-microsoft-com:vml" Requires="v">
                <p:oleObj spid="_x0000_s3075" name="Equation" r:id="rId4" imgW="17678400" imgH="9448800" progId="Equation.DSMT4">
                  <p:embed/>
                </p:oleObj>
              </mc:Choice>
              <mc:Fallback>
                <p:oleObj name="Equation" r:id="rId4" imgW="17678400" imgH="9448800" progId="Equation.DSMT4">
                  <p:embed/>
                  <p:pic>
                    <p:nvPicPr>
                      <p:cNvPr id="0" name="Object 22"/>
                      <p:cNvPicPr/>
                      <p:nvPr/>
                    </p:nvPicPr>
                    <p:blipFill>
                      <a:blip r:embed="rId5"/>
                      <a:stretch>
                        <a:fillRect/>
                      </a:stretch>
                    </p:blipFill>
                    <p:spPr>
                      <a:xfrm>
                        <a:off x="1905453" y="2400780"/>
                        <a:ext cx="1573213" cy="836612"/>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5. Một vật có khối lượng 10 kg đang chuyển động với tốc độ 5 km/h trên mặt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bàn nằm ngang. Do có ma sát, vật chuyển động chậm dần đều và đi được 1 m thì dừng lại. Tính hệ số ma sát giữa vật và mặt bàn. Lấy gia tốc g = 9,8 m/s</a:t>
            </a:r>
            <a:r>
              <a:rPr lang="en-US" sz="2500" kern="0" baseline="30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10" name="Google Shape;1794;p49"/>
          <p:cNvSpPr txBox="1"/>
          <p:nvPr/>
        </p:nvSpPr>
        <p:spPr>
          <a:xfrm>
            <a:off x="152400" y="4056059"/>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 Ta có: </a:t>
            </a:r>
            <a:endParaRPr lang="en-US" sz="2500" kern="0">
              <a:solidFill>
                <a:srgbClr val="FFFF00"/>
              </a:solidFill>
              <a:latin typeface="Itim" panose="00000500000000000000" pitchFamily="2" charset="-34"/>
              <a:cs typeface="Itim" panose="00000500000000000000" pitchFamily="2" charset="-34"/>
            </a:endParaRPr>
          </a:p>
        </p:txBody>
      </p:sp>
      <p:sp>
        <p:nvSpPr>
          <p:cNvPr id="11" name="Google Shape;1794;p49"/>
          <p:cNvSpPr txBox="1"/>
          <p:nvPr/>
        </p:nvSpPr>
        <p:spPr>
          <a:xfrm>
            <a:off x="8119715" y="1532408"/>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2" name="Google Shape;1794;p49"/>
          <p:cNvSpPr txBox="1"/>
          <p:nvPr/>
        </p:nvSpPr>
        <p:spPr>
          <a:xfrm>
            <a:off x="6096000" y="1928250"/>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Đổi: 5 km/h = 1,38 m/s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Ta có: </a:t>
            </a:r>
            <a:endParaRPr lang="en-US" sz="2500" kern="0">
              <a:solidFill>
                <a:srgbClr val="F8F8F8"/>
              </a:solidFill>
              <a:latin typeface="Itim" panose="00000500000000000000" pitchFamily="2" charset="-34"/>
              <a:cs typeface="Itim" panose="00000500000000000000" pitchFamily="2" charset="-34"/>
            </a:endParaRPr>
          </a:p>
        </p:txBody>
      </p:sp>
      <p:sp>
        <p:nvSpPr>
          <p:cNvPr id="13" name="Google Shape;1794;p49"/>
          <p:cNvSpPr txBox="1"/>
          <p:nvPr/>
        </p:nvSpPr>
        <p:spPr>
          <a:xfrm>
            <a:off x="2176115" y="3660217"/>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graphicFrame>
        <p:nvGraphicFramePr>
          <p:cNvPr id="22" name="Object 21"/>
          <p:cNvGraphicFramePr>
            <a:graphicFrameLocks noChangeAspect="1"/>
          </p:cNvGraphicFramePr>
          <p:nvPr/>
        </p:nvGraphicFramePr>
        <p:xfrm>
          <a:off x="885825" y="4179888"/>
          <a:ext cx="3805238" cy="2185987"/>
        </p:xfrm>
        <a:graphic>
          <a:graphicData uri="http://schemas.openxmlformats.org/presentationml/2006/ole">
            <mc:AlternateContent xmlns:mc="http://schemas.openxmlformats.org/markup-compatibility/2006">
              <mc:Choice xmlns:v="urn:schemas-microsoft-com:vml" Requires="v">
                <p:oleObj spid="_x0000_s4098" name="Equation" r:id="rId2" imgW="42672000" imgH="24688800" progId="Equation.DSMT4">
                  <p:embed/>
                </p:oleObj>
              </mc:Choice>
              <mc:Fallback>
                <p:oleObj name="Equation" r:id="rId2" imgW="42672000" imgH="24688800" progId="Equation.DSMT4">
                  <p:embed/>
                  <p:pic>
                    <p:nvPicPr>
                      <p:cNvPr id="0" name="Object 21"/>
                      <p:cNvPicPr/>
                      <p:nvPr/>
                    </p:nvPicPr>
                    <p:blipFill>
                      <a:blip r:embed="rId3"/>
                      <a:stretch>
                        <a:fillRect/>
                      </a:stretch>
                    </p:blipFill>
                    <p:spPr>
                      <a:xfrm>
                        <a:off x="885825" y="4179888"/>
                        <a:ext cx="3805238" cy="2185987"/>
                      </a:xfrm>
                      <a:prstGeom prst="rect">
                        <a:avLst/>
                      </a:prstGeom>
                    </p:spPr>
                  </p:pic>
                </p:oleObj>
              </mc:Fallback>
            </mc:AlternateContent>
          </a:graphicData>
        </a:graphic>
      </p:graphicFrame>
      <p:sp>
        <p:nvSpPr>
          <p:cNvPr id="2" name="Oval 1"/>
          <p:cNvSpPr/>
          <p:nvPr/>
        </p:nvSpPr>
        <p:spPr>
          <a:xfrm>
            <a:off x="2774778" y="2452469"/>
            <a:ext cx="457200" cy="457200"/>
          </a:xfrm>
          <a:prstGeom prst="ellipse">
            <a:avLst/>
          </a:prstGeom>
          <a:solidFill>
            <a:srgbClr val="00B0F0"/>
          </a:solidFill>
          <a:ln>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5" name="Object 24"/>
          <p:cNvGraphicFramePr>
            <a:graphicFrameLocks noChangeAspect="1"/>
          </p:cNvGraphicFramePr>
          <p:nvPr/>
        </p:nvGraphicFramePr>
        <p:xfrm>
          <a:off x="6473031" y="2943823"/>
          <a:ext cx="5189538" cy="3508375"/>
        </p:xfrm>
        <a:graphic>
          <a:graphicData uri="http://schemas.openxmlformats.org/presentationml/2006/ole">
            <mc:AlternateContent xmlns:mc="http://schemas.openxmlformats.org/markup-compatibility/2006">
              <mc:Choice xmlns:v="urn:schemas-microsoft-com:vml" Requires="v">
                <p:oleObj spid="_x0000_s4099" name="Equation" r:id="rId4" imgW="58216800" imgH="39624000" progId="Equation.DSMT4">
                  <p:embed/>
                </p:oleObj>
              </mc:Choice>
              <mc:Fallback>
                <p:oleObj name="Equation" r:id="rId4" imgW="58216800" imgH="39624000" progId="Equation.DSMT4">
                  <p:embed/>
                  <p:pic>
                    <p:nvPicPr>
                      <p:cNvPr id="0" name="Object 24"/>
                      <p:cNvPicPr/>
                      <p:nvPr/>
                    </p:nvPicPr>
                    <p:blipFill>
                      <a:blip r:embed="rId5"/>
                      <a:stretch>
                        <a:fillRect/>
                      </a:stretch>
                    </p:blipFill>
                    <p:spPr>
                      <a:xfrm>
                        <a:off x="6473031" y="2943823"/>
                        <a:ext cx="5189538" cy="3508375"/>
                      </a:xfrm>
                      <a:prstGeom prst="rect">
                        <a:avLst/>
                      </a:prstGeom>
                    </p:spPr>
                  </p:pic>
                </p:oleObj>
              </mc:Fallback>
            </mc:AlternateContent>
          </a:graphicData>
        </a:graphic>
      </p:graphicFrame>
      <p:cxnSp>
        <p:nvCxnSpPr>
          <p:cNvPr id="27" name="Straight Arrow Connector 26"/>
          <p:cNvCxnSpPr/>
          <p:nvPr/>
        </p:nvCxnSpPr>
        <p:spPr>
          <a:xfrm flipV="1">
            <a:off x="2979013" y="2671001"/>
            <a:ext cx="1259010" cy="21838"/>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3008931" y="2670480"/>
            <a:ext cx="0" cy="726899"/>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9" name="Object 28"/>
          <p:cNvGraphicFramePr>
            <a:graphicFrameLocks noChangeAspect="1"/>
          </p:cNvGraphicFramePr>
          <p:nvPr/>
        </p:nvGraphicFramePr>
        <p:xfrm>
          <a:off x="3155663" y="3181479"/>
          <a:ext cx="271462" cy="431800"/>
        </p:xfrm>
        <a:graphic>
          <a:graphicData uri="http://schemas.openxmlformats.org/presentationml/2006/ole">
            <mc:AlternateContent xmlns:mc="http://schemas.openxmlformats.org/markup-compatibility/2006">
              <mc:Choice xmlns:v="urn:schemas-microsoft-com:vml" Requires="v">
                <p:oleObj spid="_x0000_s4100" name="Equation" r:id="rId6" imgW="3048000" imgH="4876800" progId="Equation.DSMT4">
                  <p:embed/>
                </p:oleObj>
              </mc:Choice>
              <mc:Fallback>
                <p:oleObj name="Equation" r:id="rId6" imgW="3048000" imgH="4876800" progId="Equation.DSMT4">
                  <p:embed/>
                  <p:pic>
                    <p:nvPicPr>
                      <p:cNvPr id="0" name="Object 28"/>
                      <p:cNvPicPr/>
                      <p:nvPr/>
                    </p:nvPicPr>
                    <p:blipFill>
                      <a:blip r:embed="rId7"/>
                      <a:stretch>
                        <a:fillRect/>
                      </a:stretch>
                    </p:blipFill>
                    <p:spPr>
                      <a:xfrm>
                        <a:off x="3155663" y="3181479"/>
                        <a:ext cx="271462" cy="431800"/>
                      </a:xfrm>
                      <a:prstGeom prst="rect">
                        <a:avLst/>
                      </a:prstGeom>
                    </p:spPr>
                  </p:pic>
                </p:oleObj>
              </mc:Fallback>
            </mc:AlternateContent>
          </a:graphicData>
        </a:graphic>
      </p:graphicFrame>
      <p:cxnSp>
        <p:nvCxnSpPr>
          <p:cNvPr id="30" name="Straight Connector 29"/>
          <p:cNvCxnSpPr/>
          <p:nvPr/>
        </p:nvCxnSpPr>
        <p:spPr>
          <a:xfrm>
            <a:off x="1188878" y="2916452"/>
            <a:ext cx="3369974" cy="0"/>
          </a:xfrm>
          <a:prstGeom prst="line">
            <a:avLst/>
          </a:prstGeom>
          <a:ln w="38100">
            <a:solidFill>
              <a:srgbClr val="F8F8F8"/>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a:off x="2176115" y="2692839"/>
            <a:ext cx="827854" cy="0"/>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3003969" y="1979447"/>
            <a:ext cx="0" cy="742782"/>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3" name="Object 32"/>
          <p:cNvGraphicFramePr>
            <a:graphicFrameLocks noChangeAspect="1"/>
          </p:cNvGraphicFramePr>
          <p:nvPr/>
        </p:nvGraphicFramePr>
        <p:xfrm>
          <a:off x="3917185" y="2153293"/>
          <a:ext cx="244475" cy="431800"/>
        </p:xfrm>
        <a:graphic>
          <a:graphicData uri="http://schemas.openxmlformats.org/presentationml/2006/ole">
            <mc:AlternateContent xmlns:mc="http://schemas.openxmlformats.org/markup-compatibility/2006">
              <mc:Choice xmlns:v="urn:schemas-microsoft-com:vml" Requires="v">
                <p:oleObj spid="_x0000_s4101" name="Equation" r:id="rId8" imgW="2743200" imgH="4876800" progId="Equation.DSMT4">
                  <p:embed/>
                </p:oleObj>
              </mc:Choice>
              <mc:Fallback>
                <p:oleObj name="Equation" r:id="rId8" imgW="2743200" imgH="4876800" progId="Equation.DSMT4">
                  <p:embed/>
                  <p:pic>
                    <p:nvPicPr>
                      <p:cNvPr id="0" name="Object 32"/>
                      <p:cNvPicPr/>
                      <p:nvPr/>
                    </p:nvPicPr>
                    <p:blipFill>
                      <a:blip r:embed="rId9"/>
                      <a:stretch>
                        <a:fillRect/>
                      </a:stretch>
                    </p:blipFill>
                    <p:spPr>
                      <a:xfrm>
                        <a:off x="3917185" y="2153293"/>
                        <a:ext cx="244475" cy="431800"/>
                      </a:xfrm>
                      <a:prstGeom prst="rect">
                        <a:avLst/>
                      </a:prstGeom>
                    </p:spPr>
                  </p:pic>
                </p:oleObj>
              </mc:Fallback>
            </mc:AlternateContent>
          </a:graphicData>
        </a:graphic>
      </p:graphicFrame>
      <p:graphicFrame>
        <p:nvGraphicFramePr>
          <p:cNvPr id="34" name="Object 33"/>
          <p:cNvGraphicFramePr>
            <a:graphicFrameLocks noChangeAspect="1"/>
          </p:cNvGraphicFramePr>
          <p:nvPr/>
        </p:nvGraphicFramePr>
        <p:xfrm>
          <a:off x="1872194" y="2126363"/>
          <a:ext cx="515937" cy="539750"/>
        </p:xfrm>
        <a:graphic>
          <a:graphicData uri="http://schemas.openxmlformats.org/presentationml/2006/ole">
            <mc:AlternateContent xmlns:mc="http://schemas.openxmlformats.org/markup-compatibility/2006">
              <mc:Choice xmlns:v="urn:schemas-microsoft-com:vml" Requires="v">
                <p:oleObj spid="_x0000_s4102" name="Equation" r:id="rId10" imgW="5791200" imgH="6096000" progId="Equation.DSMT4">
                  <p:embed/>
                </p:oleObj>
              </mc:Choice>
              <mc:Fallback>
                <p:oleObj name="Equation" r:id="rId10" imgW="5791200" imgH="6096000" progId="Equation.DSMT4">
                  <p:embed/>
                  <p:pic>
                    <p:nvPicPr>
                      <p:cNvPr id="0" name="Object 33"/>
                      <p:cNvPicPr/>
                      <p:nvPr/>
                    </p:nvPicPr>
                    <p:blipFill>
                      <a:blip r:embed="rId11"/>
                      <a:stretch>
                        <a:fillRect/>
                      </a:stretch>
                    </p:blipFill>
                    <p:spPr>
                      <a:xfrm>
                        <a:off x="1872194" y="2126363"/>
                        <a:ext cx="515937" cy="539750"/>
                      </a:xfrm>
                      <a:prstGeom prst="rect">
                        <a:avLst/>
                      </a:prstGeom>
                    </p:spPr>
                  </p:pic>
                </p:oleObj>
              </mc:Fallback>
            </mc:AlternateContent>
          </a:graphicData>
        </a:graphic>
      </p:graphicFrame>
      <p:graphicFrame>
        <p:nvGraphicFramePr>
          <p:cNvPr id="35" name="Object 34"/>
          <p:cNvGraphicFramePr>
            <a:graphicFrameLocks noChangeAspect="1"/>
          </p:cNvGraphicFramePr>
          <p:nvPr/>
        </p:nvGraphicFramePr>
        <p:xfrm>
          <a:off x="2913569" y="1563427"/>
          <a:ext cx="298450" cy="431800"/>
        </p:xfrm>
        <a:graphic>
          <a:graphicData uri="http://schemas.openxmlformats.org/presentationml/2006/ole">
            <mc:AlternateContent xmlns:mc="http://schemas.openxmlformats.org/markup-compatibility/2006">
              <mc:Choice xmlns:v="urn:schemas-microsoft-com:vml" Requires="v">
                <p:oleObj spid="_x0000_s4103" name="Equation" r:id="rId12" imgW="3352800" imgH="4876800" progId="Equation.DSMT4">
                  <p:embed/>
                </p:oleObj>
              </mc:Choice>
              <mc:Fallback>
                <p:oleObj name="Equation" r:id="rId12" imgW="3352800" imgH="4876800" progId="Equation.DSMT4">
                  <p:embed/>
                  <p:pic>
                    <p:nvPicPr>
                      <p:cNvPr id="0" name="Object 34"/>
                      <p:cNvPicPr/>
                      <p:nvPr/>
                    </p:nvPicPr>
                    <p:blipFill>
                      <a:blip r:embed="rId13"/>
                      <a:stretch>
                        <a:fillRect/>
                      </a:stretch>
                    </p:blipFill>
                    <p:spPr>
                      <a:xfrm>
                        <a:off x="2913569" y="1563427"/>
                        <a:ext cx="298450" cy="431800"/>
                      </a:xfrm>
                      <a:prstGeom prst="rect">
                        <a:avLst/>
                      </a:prstGeom>
                    </p:spPr>
                  </p:pic>
                </p:oleObj>
              </mc:Fallback>
            </mc:AlternateContent>
          </a:graphicData>
        </a:graphic>
      </p:graphicFrame>
      <p:graphicFrame>
        <p:nvGraphicFramePr>
          <p:cNvPr id="21" name="Object 20"/>
          <p:cNvGraphicFramePr>
            <a:graphicFrameLocks noChangeAspect="1"/>
          </p:cNvGraphicFramePr>
          <p:nvPr/>
        </p:nvGraphicFramePr>
        <p:xfrm>
          <a:off x="2926902" y="6375062"/>
          <a:ext cx="1631950" cy="404812"/>
        </p:xfrm>
        <a:graphic>
          <a:graphicData uri="http://schemas.openxmlformats.org/presentationml/2006/ole">
            <mc:AlternateContent xmlns:mc="http://schemas.openxmlformats.org/markup-compatibility/2006">
              <mc:Choice xmlns:v="urn:schemas-microsoft-com:vml" Requires="v">
                <p:oleObj spid="_x0000_s4104" name="Equation" r:id="rId14" imgW="18288000" imgH="4572000" progId="Equation.DSMT4">
                  <p:embed/>
                </p:oleObj>
              </mc:Choice>
              <mc:Fallback>
                <p:oleObj name="Equation" r:id="rId14" imgW="18288000" imgH="4572000" progId="Equation.DSMT4">
                  <p:embed/>
                  <p:pic>
                    <p:nvPicPr>
                      <p:cNvPr id="0" name="Object 20"/>
                      <p:cNvPicPr/>
                      <p:nvPr/>
                    </p:nvPicPr>
                    <p:blipFill>
                      <a:blip r:embed="rId15"/>
                      <a:stretch>
                        <a:fillRect/>
                      </a:stretch>
                    </p:blipFill>
                    <p:spPr>
                      <a:xfrm>
                        <a:off x="2926902" y="6375062"/>
                        <a:ext cx="1631950" cy="404812"/>
                      </a:xfrm>
                      <a:prstGeom prst="rect">
                        <a:avLst/>
                      </a:prstGeom>
                    </p:spPr>
                  </p:pic>
                </p:oleObj>
              </mc:Fallback>
            </mc:AlternateContent>
          </a:graphicData>
        </a:graphic>
      </p:graphicFrame>
      <p:cxnSp>
        <p:nvCxnSpPr>
          <p:cNvPr id="23" name="Straight Arrow Connector 22"/>
          <p:cNvCxnSpPr/>
          <p:nvPr/>
        </p:nvCxnSpPr>
        <p:spPr>
          <a:xfrm>
            <a:off x="3061563" y="6146292"/>
            <a:ext cx="0" cy="22877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par>
                                <p:cTn id="23" presetID="10"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par>
                                <p:cTn id="42" presetID="10" presetClass="entr" presetSubtype="0"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500"/>
                                        <p:tgtEl>
                                          <p:spTgt spid="23"/>
                                        </p:tgtEl>
                                      </p:cBhvr>
                                    </p:animEffect>
                                  </p:childTnLst>
                                </p:cTn>
                              </p:par>
                              <p:par>
                                <p:cTn id="45" presetID="10"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500"/>
                                        <p:tgtEl>
                                          <p:spTgt spid="12"/>
                                        </p:tgtEl>
                                      </p:cBhvr>
                                    </p:animEffect>
                                  </p:childTnLst>
                                </p:cTn>
                              </p:par>
                              <p:par>
                                <p:cTn id="61" presetID="10"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6. Thả một quả bóng từ độ cao h xuống sàn nhà. Động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năng của quả bóng được chuyển hóa thành những dạng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năng lượng nào ngay khi quả bóng chạm vào sàn nhà?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Chart, bubble chart&#10;&#10;Description automatically generated"/>
          <p:cNvPicPr>
            <a:picLocks noChangeAspect="1"/>
          </p:cNvPicPr>
          <p:nvPr/>
        </p:nvPicPr>
        <p:blipFill rotWithShape="1">
          <a:blip r:embed="rId2">
            <a:extLst>
              <a:ext uri="{28A0092B-C50C-407E-A947-70E740481C1C}">
                <a14:useLocalDpi xmlns:a14="http://schemas.microsoft.com/office/drawing/2010/main" val="0"/>
              </a:ext>
            </a:extLst>
          </a:blip>
          <a:srcRect l="22424" r="20378" b="16804"/>
          <a:stretch>
            <a:fillRect/>
          </a:stretch>
        </p:blipFill>
        <p:spPr>
          <a:xfrm>
            <a:off x="8686799" y="235176"/>
            <a:ext cx="3352801" cy="3657600"/>
          </a:xfrm>
          <a:prstGeom prst="rect">
            <a:avLst/>
          </a:prstGeom>
        </p:spPr>
      </p:pic>
      <p:sp>
        <p:nvSpPr>
          <p:cNvPr id="11" name="Google Shape;1794;p49"/>
          <p:cNvSpPr txBox="1"/>
          <p:nvPr/>
        </p:nvSpPr>
        <p:spPr>
          <a:xfrm>
            <a:off x="3505202" y="1639281"/>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2" name="Google Shape;1794;p49"/>
          <p:cNvSpPr txBox="1"/>
          <p:nvPr/>
        </p:nvSpPr>
        <p:spPr>
          <a:xfrm>
            <a:off x="152400" y="2035123"/>
            <a:ext cx="8534399"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Động năng của quả bóng được chuyển hóa thành nhiệt năng và năng lượng âm thanh </a:t>
            </a:r>
            <a:endParaRPr lang="en-US" sz="2500" kern="0">
              <a:solidFill>
                <a:srgbClr val="F8F8F8"/>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3240349"/>
            <a:ext cx="11887200" cy="913819"/>
          </a:xfrm>
          <a:prstGeom prst="rect">
            <a:avLst/>
          </a:prstGeom>
        </p:spPr>
        <p:txBody>
          <a:bodyPr spcFirstLastPara="1" wrap="square" lIns="121900" tIns="121900" rIns="121900" bIns="121900" anchor="b" anchorCtr="0">
            <a:noAutofit/>
          </a:bodyPr>
          <a:lstStyle/>
          <a:p>
            <a:pPr algn="ctr"/>
            <a:r>
              <a:rPr lang="en-GB" sz="5000">
                <a:solidFill>
                  <a:srgbClr val="FFFF00"/>
                </a:solidFill>
                <a:latin typeface="Itim" panose="00000500000000000000" pitchFamily="2" charset="-34"/>
                <a:cs typeface="Itim" panose="00000500000000000000" pitchFamily="2" charset="-34"/>
              </a:rPr>
              <a:t>Thế năng </a:t>
            </a:r>
            <a:endParaRPr sz="5000">
              <a:solidFill>
                <a:srgbClr val="FFFF00"/>
              </a:solidFill>
              <a:latin typeface="Itim" panose="00000500000000000000" pitchFamily="2" charset="-34"/>
              <a:cs typeface="Itim" panose="00000500000000000000" pitchFamily="2" charset="-34"/>
            </a:endParaRPr>
          </a:p>
        </p:txBody>
      </p:sp>
      <p:sp>
        <p:nvSpPr>
          <p:cNvPr id="3" name="Google Shape;2366;p54"/>
          <p:cNvSpPr txBox="1"/>
          <p:nvPr/>
        </p:nvSpPr>
        <p:spPr>
          <a:xfrm>
            <a:off x="4951200" y="1970203"/>
            <a:ext cx="2289600" cy="132622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r>
              <a:rPr lang="en-GB" sz="10000" kern="0">
                <a:solidFill>
                  <a:schemeClr val="accent5">
                    <a:lumMod val="75000"/>
                  </a:schemeClr>
                </a:solidFill>
                <a:latin typeface="Itim" panose="00000500000000000000" pitchFamily="2" charset="-34"/>
                <a:cs typeface="Itim" panose="00000500000000000000" pitchFamily="2" charset="-34"/>
              </a:rPr>
              <a:t>02</a:t>
            </a:r>
            <a:endParaRPr lang="en-GB" sz="10000" kern="0">
              <a:solidFill>
                <a:schemeClr val="accent5">
                  <a:lumMod val="75000"/>
                </a:schemeClr>
              </a:solidFill>
              <a:latin typeface="Itim" panose="00000500000000000000" pitchFamily="2" charset="-34"/>
              <a:cs typeface="Itim" panose="00000500000000000000" pitchFamily="2" charset="-34"/>
            </a:endParaRPr>
          </a:p>
        </p:txBody>
      </p:sp>
      <p:cxnSp>
        <p:nvCxnSpPr>
          <p:cNvPr id="4" name="Google Shape;2368;p54"/>
          <p:cNvCxnSpPr/>
          <p:nvPr/>
        </p:nvCxnSpPr>
        <p:spPr>
          <a:xfrm>
            <a:off x="5121400" y="4269648"/>
            <a:ext cx="1949200" cy="0"/>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Thế năng trọng trường là năng lượng mà vật lưu trữ được khi ở một độ cao h so với mặt đất (hoặc mốc thế năng) </a:t>
            </a:r>
            <a:endParaRPr sz="3000" b="0">
              <a:solidFill>
                <a:srgbClr val="FFFF00"/>
              </a:solidFill>
              <a:latin typeface="Itim" panose="00000500000000000000" pitchFamily="2" charset="-34"/>
              <a:cs typeface="Itim" panose="00000500000000000000" pitchFamily="2" charset="-34"/>
            </a:endParaRPr>
          </a:p>
        </p:txBody>
      </p:sp>
      <p:pic>
        <p:nvPicPr>
          <p:cNvPr id="6" name="Picture 5"/>
          <p:cNvPicPr>
            <a:picLocks noChangeAspect="1"/>
          </p:cNvPicPr>
          <p:nvPr/>
        </p:nvPicPr>
        <p:blipFill rotWithShape="1">
          <a:blip r:embed="rId1">
            <a:extLst>
              <a:ext uri="{BEBA8EAE-BF5A-486C-A8C5-ECC9F3942E4B}">
                <a14:imgProps xmlns:a14="http://schemas.microsoft.com/office/drawing/2010/main">
                  <a14:imgLayer r:embed="rId2">
                    <a14:imgEffect>
                      <a14:backgroundRemoval t="2820" b="94143" l="3082" r="96918">
                        <a14:foregroundMark x1="57192" y1="26464" x2="77226" y2="52711"/>
                        <a14:foregroundMark x1="43836" y1="49675" x2="51541" y2="56399"/>
                        <a14:foregroundMark x1="47945" y1="48807" x2="44178" y2="49241"/>
                        <a14:foregroundMark x1="43493" y1="49892" x2="42637" y2="52061"/>
                        <a14:foregroundMark x1="48973" y1="41432" x2="38527" y2="49675"/>
                        <a14:foregroundMark x1="38527" y1="49675" x2="53425" y2="63991"/>
                        <a14:foregroundMark x1="53425" y1="63991" x2="54623" y2="45553"/>
                        <a14:foregroundMark x1="54623" y1="45553" x2="41952" y2="37093"/>
                        <a14:foregroundMark x1="41952" y1="37093" x2="40411" y2="37093"/>
                        <a14:foregroundMark x1="81164" y1="22343" x2="64897" y2="55748"/>
                        <a14:foregroundMark x1="64897" y1="55748" x2="91952" y2="69631"/>
                        <a14:foregroundMark x1="91952" y1="69631" x2="89555" y2="32755"/>
                        <a14:foregroundMark x1="89555" y1="32755" x2="84760" y2="19306"/>
                        <a14:foregroundMark x1="84760" y1="19306" x2="84247" y2="19089"/>
                        <a14:foregroundMark x1="53767" y1="6074" x2="87500" y2="7592"/>
                        <a14:foregroundMark x1="87500" y1="7592" x2="94178" y2="21475"/>
                        <a14:foregroundMark x1="94178" y1="21475" x2="94349" y2="83731"/>
                        <a14:foregroundMark x1="94349" y1="83731" x2="86130" y2="95445"/>
                        <a14:foregroundMark x1="86130" y1="95445" x2="20034" y2="97614"/>
                        <a14:foregroundMark x1="20034" y1="97614" x2="7877" y2="92625"/>
                        <a14:foregroundMark x1="7877" y1="92625" x2="6678" y2="16486"/>
                        <a14:foregroundMark x1="6678" y1="16486" x2="55822" y2="2820"/>
                        <a14:foregroundMark x1="55822" y1="2820" x2="58219" y2="6941"/>
                        <a14:foregroundMark x1="22089" y1="16920" x2="7877" y2="48807"/>
                        <a14:foregroundMark x1="67123" y1="13666" x2="73973" y2="37961"/>
                        <a14:foregroundMark x1="57877" y1="32755" x2="65411" y2="47939"/>
                        <a14:foregroundMark x1="82534" y1="40347" x2="86644" y2="60304"/>
                        <a14:foregroundMark x1="91610" y1="7158" x2="94349" y2="20607"/>
                        <a14:foregroundMark x1="94521" y1="4772" x2="97089" y2="19740"/>
                        <a14:foregroundMark x1="97089" y1="19740" x2="97089" y2="19740"/>
                        <a14:foregroundMark x1="15925" y1="7592" x2="4795" y2="9328"/>
                        <a14:foregroundMark x1="4110" y1="15184" x2="4795" y2="47722"/>
                        <a14:foregroundMark x1="4452" y1="52711" x2="6336" y2="88720"/>
                        <a14:foregroundMark x1="3938" y1="61822" x2="3253" y2="82863"/>
                        <a14:foregroundMark x1="19521" y1="28200" x2="12671" y2="60521"/>
                        <a14:foregroundMark x1="22432" y1="20174" x2="48801" y2="14751"/>
                        <a14:foregroundMark x1="48801" y1="14751" x2="58904" y2="16703"/>
                        <a14:foregroundMark x1="34075" y1="5423" x2="4281" y2="6725"/>
                        <a14:foregroundMark x1="4281" y1="6725" x2="9075" y2="6941"/>
                        <a14:foregroundMark x1="14555" y1="95662" x2="38870" y2="94143"/>
                        <a14:foregroundMark x1="38870" y1="94143" x2="39555" y2="94143"/>
                        <a14:foregroundMark x1="60788" y1="13666" x2="62842" y2="30369"/>
                        <a14:foregroundMark x1="50514" y1="24946" x2="37842" y2="32104"/>
                        <a14:foregroundMark x1="78082" y1="12581" x2="88185" y2="19089"/>
                        <a14:foregroundMark x1="35959" y1="61388" x2="38699" y2="70499"/>
                      </a14:backgroundRemoval>
                    </a14:imgEffect>
                  </a14:imgLayer>
                </a14:imgProps>
              </a:ext>
            </a:extLst>
          </a:blip>
          <a:srcRect l="1658" t="3752" r="2397" b="2607"/>
          <a:stretch>
            <a:fillRect/>
          </a:stretch>
        </p:blipFill>
        <p:spPr>
          <a:xfrm>
            <a:off x="3128835" y="2220687"/>
            <a:ext cx="5934325" cy="4572000"/>
          </a:xfrm>
          <a:prstGeom prst="rect">
            <a:avLst/>
          </a:prstGeom>
        </p:spPr>
      </p:pic>
      <p:graphicFrame>
        <p:nvGraphicFramePr>
          <p:cNvPr id="9" name="Object 8"/>
          <p:cNvGraphicFramePr>
            <a:graphicFrameLocks noChangeAspect="1"/>
          </p:cNvGraphicFramePr>
          <p:nvPr/>
        </p:nvGraphicFramePr>
        <p:xfrm>
          <a:off x="4364036" y="1345974"/>
          <a:ext cx="3463925" cy="793750"/>
        </p:xfrm>
        <a:graphic>
          <a:graphicData uri="http://schemas.openxmlformats.org/presentationml/2006/ole">
            <mc:AlternateContent xmlns:mc="http://schemas.openxmlformats.org/markup-compatibility/2006">
              <mc:Choice xmlns:v="urn:schemas-microsoft-com:vml" Requires="v">
                <p:oleObj spid="_x0000_s5122" name="Equation" r:id="rId3" imgW="23774400" imgH="5486400" progId="Equation.DSMT4">
                  <p:embed/>
                </p:oleObj>
              </mc:Choice>
              <mc:Fallback>
                <p:oleObj name="Equation" r:id="rId3" imgW="23774400" imgH="5486400" progId="Equation.DSMT4">
                  <p:embed/>
                  <p:pic>
                    <p:nvPicPr>
                      <p:cNvPr id="0" name="Object 8"/>
                      <p:cNvPicPr/>
                      <p:nvPr/>
                    </p:nvPicPr>
                    <p:blipFill>
                      <a:blip r:embed="rId4"/>
                      <a:stretch>
                        <a:fillRect/>
                      </a:stretch>
                    </p:blipFill>
                    <p:spPr>
                      <a:xfrm>
                        <a:off x="4364036" y="1345974"/>
                        <a:ext cx="3463925" cy="79375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Mối liên hệ giữa thế năng và công của lực thế </a:t>
            </a:r>
            <a:endParaRPr sz="3000" b="0">
              <a:solidFill>
                <a:srgbClr val="FFFF00"/>
              </a:solidFill>
              <a:latin typeface="Itim" panose="00000500000000000000" pitchFamily="2" charset="-34"/>
              <a:cs typeface="Itim" panose="00000500000000000000" pitchFamily="2" charset="-34"/>
            </a:endParaRPr>
          </a:p>
        </p:txBody>
      </p:sp>
      <p:cxnSp>
        <p:nvCxnSpPr>
          <p:cNvPr id="4" name="Straight Connector 3"/>
          <p:cNvCxnSpPr/>
          <p:nvPr/>
        </p:nvCxnSpPr>
        <p:spPr>
          <a:xfrm>
            <a:off x="353550" y="4630203"/>
            <a:ext cx="2283969"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flipV="1">
            <a:off x="1395654" y="2412623"/>
            <a:ext cx="0" cy="599483"/>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Object 6"/>
          <p:cNvGraphicFramePr>
            <a:graphicFrameLocks noChangeAspect="1"/>
          </p:cNvGraphicFramePr>
          <p:nvPr/>
        </p:nvGraphicFramePr>
        <p:xfrm>
          <a:off x="1572204" y="2192128"/>
          <a:ext cx="273050" cy="431800"/>
        </p:xfrm>
        <a:graphic>
          <a:graphicData uri="http://schemas.openxmlformats.org/presentationml/2006/ole">
            <mc:AlternateContent xmlns:mc="http://schemas.openxmlformats.org/markup-compatibility/2006">
              <mc:Choice xmlns:v="urn:schemas-microsoft-com:vml" Requires="v">
                <p:oleObj spid="_x0000_s6146" name="Equation" r:id="rId1" imgW="3048000" imgH="4876800" progId="Equation.DSMT4">
                  <p:embed/>
                </p:oleObj>
              </mc:Choice>
              <mc:Fallback>
                <p:oleObj name="Equation" r:id="rId1" imgW="3048000" imgH="4876800" progId="Equation.DSMT4">
                  <p:embed/>
                  <p:pic>
                    <p:nvPicPr>
                      <p:cNvPr id="0" name="Object 6"/>
                      <p:cNvPicPr/>
                      <p:nvPr/>
                    </p:nvPicPr>
                    <p:blipFill>
                      <a:blip r:embed="rId2"/>
                      <a:stretch>
                        <a:fillRect/>
                      </a:stretch>
                    </p:blipFill>
                    <p:spPr>
                      <a:xfrm>
                        <a:off x="1572204" y="2192128"/>
                        <a:ext cx="273050" cy="431800"/>
                      </a:xfrm>
                      <a:prstGeom prst="rect">
                        <a:avLst/>
                      </a:prstGeom>
                    </p:spPr>
                  </p:pic>
                </p:oleObj>
              </mc:Fallback>
            </mc:AlternateContent>
          </a:graphicData>
        </a:graphic>
      </p:graphicFrame>
      <p:sp>
        <p:nvSpPr>
          <p:cNvPr id="8" name="Oval 7"/>
          <p:cNvSpPr/>
          <p:nvPr/>
        </p:nvSpPr>
        <p:spPr>
          <a:xfrm>
            <a:off x="1142900" y="1388448"/>
            <a:ext cx="457200" cy="457200"/>
          </a:xfrm>
          <a:prstGeom prst="ellipse">
            <a:avLst/>
          </a:prstGeom>
          <a:solidFill>
            <a:srgbClr val="0070C0"/>
          </a:solidFill>
          <a:ln>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1794;p49"/>
          <p:cNvSpPr txBox="1"/>
          <p:nvPr/>
        </p:nvSpPr>
        <p:spPr>
          <a:xfrm>
            <a:off x="1828700" y="1364002"/>
            <a:ext cx="571069"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B</a:t>
            </a:r>
            <a:endParaRPr lang="en-US" sz="2500" kern="0">
              <a:solidFill>
                <a:srgbClr val="F8F8F8"/>
              </a:solidFill>
              <a:latin typeface="Itim" panose="00000500000000000000" pitchFamily="2" charset="-34"/>
              <a:cs typeface="Itim" panose="00000500000000000000" pitchFamily="2" charset="-34"/>
            </a:endParaRPr>
          </a:p>
        </p:txBody>
      </p:sp>
      <p:sp>
        <p:nvSpPr>
          <p:cNvPr id="10" name="Oval 9"/>
          <p:cNvSpPr/>
          <p:nvPr/>
        </p:nvSpPr>
        <p:spPr>
          <a:xfrm>
            <a:off x="1142900" y="3000982"/>
            <a:ext cx="457200" cy="457200"/>
          </a:xfrm>
          <a:prstGeom prst="ellipse">
            <a:avLst/>
          </a:prstGeom>
          <a:solidFill>
            <a:srgbClr val="0070C0"/>
          </a:solidFill>
          <a:ln>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oogle Shape;1794;p49"/>
          <p:cNvSpPr txBox="1"/>
          <p:nvPr/>
        </p:nvSpPr>
        <p:spPr>
          <a:xfrm>
            <a:off x="1779037" y="2932849"/>
            <a:ext cx="571069"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A</a:t>
            </a:r>
            <a:endParaRPr lang="en-US" sz="2500" kern="0">
              <a:solidFill>
                <a:srgbClr val="F8F8F8"/>
              </a:solidFill>
              <a:latin typeface="Itim" panose="00000500000000000000" pitchFamily="2" charset="-34"/>
              <a:cs typeface="Itim" panose="00000500000000000000" pitchFamily="2" charset="-34"/>
            </a:endParaRPr>
          </a:p>
        </p:txBody>
      </p:sp>
      <p:sp>
        <p:nvSpPr>
          <p:cNvPr id="12" name="Left Brace 11"/>
          <p:cNvSpPr/>
          <p:nvPr/>
        </p:nvSpPr>
        <p:spPr>
          <a:xfrm>
            <a:off x="685508" y="1584603"/>
            <a:ext cx="241980" cy="3016105"/>
          </a:xfrm>
          <a:prstGeom prst="leftBrace">
            <a:avLst>
              <a:gd name="adj1" fmla="val 77408"/>
              <a:gd name="adj2" fmla="val 50000"/>
            </a:avLst>
          </a:prstGeom>
          <a:ln w="38100">
            <a:solidFill>
              <a:srgbClr val="F8F8F8"/>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Google Shape;1794;p49"/>
          <p:cNvSpPr txBox="1"/>
          <p:nvPr/>
        </p:nvSpPr>
        <p:spPr>
          <a:xfrm>
            <a:off x="94985" y="2856802"/>
            <a:ext cx="571069"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h</a:t>
            </a:r>
            <a:r>
              <a:rPr lang="en-US" sz="2500" kern="0" baseline="-25000">
                <a:solidFill>
                  <a:srgbClr val="F8F8F8"/>
                </a:solidFill>
                <a:latin typeface="Itim" panose="00000500000000000000" pitchFamily="2" charset="-34"/>
                <a:cs typeface="Itim" panose="00000500000000000000" pitchFamily="2" charset="-34"/>
              </a:rPr>
              <a:t>B</a:t>
            </a:r>
            <a:endParaRPr lang="en-US" sz="2500" kern="0" baseline="-25000">
              <a:solidFill>
                <a:srgbClr val="F8F8F8"/>
              </a:solidFill>
              <a:latin typeface="Itim" panose="00000500000000000000" pitchFamily="2" charset="-34"/>
              <a:cs typeface="Itim" panose="00000500000000000000" pitchFamily="2" charset="-34"/>
            </a:endParaRPr>
          </a:p>
        </p:txBody>
      </p:sp>
      <p:sp>
        <p:nvSpPr>
          <p:cNvPr id="15" name="Left Brace 14"/>
          <p:cNvSpPr/>
          <p:nvPr/>
        </p:nvSpPr>
        <p:spPr>
          <a:xfrm rot="10800000">
            <a:off x="1721288" y="3227124"/>
            <a:ext cx="132771" cy="1373583"/>
          </a:xfrm>
          <a:prstGeom prst="leftBrace">
            <a:avLst>
              <a:gd name="adj1" fmla="val 77408"/>
              <a:gd name="adj2" fmla="val 50000"/>
            </a:avLst>
          </a:prstGeom>
          <a:ln w="38100">
            <a:solidFill>
              <a:srgbClr val="F8F8F8"/>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Google Shape;1794;p49"/>
          <p:cNvSpPr txBox="1"/>
          <p:nvPr/>
        </p:nvSpPr>
        <p:spPr>
          <a:xfrm>
            <a:off x="1957974" y="3648135"/>
            <a:ext cx="571069"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h</a:t>
            </a:r>
            <a:r>
              <a:rPr lang="en-US" sz="2500" kern="0" baseline="-25000">
                <a:solidFill>
                  <a:srgbClr val="F8F8F8"/>
                </a:solidFill>
                <a:latin typeface="Itim" panose="00000500000000000000" pitchFamily="2" charset="-34"/>
                <a:cs typeface="Itim" panose="00000500000000000000" pitchFamily="2" charset="-34"/>
              </a:rPr>
              <a:t>A</a:t>
            </a:r>
            <a:endParaRPr lang="en-US" sz="2500" kern="0" baseline="-25000">
              <a:solidFill>
                <a:srgbClr val="F8F8F8"/>
              </a:solidFill>
              <a:latin typeface="Itim" panose="00000500000000000000" pitchFamily="2" charset="-34"/>
              <a:cs typeface="Itim" panose="00000500000000000000" pitchFamily="2" charset="-34"/>
            </a:endParaRPr>
          </a:p>
        </p:txBody>
      </p:sp>
      <p:graphicFrame>
        <p:nvGraphicFramePr>
          <p:cNvPr id="17" name="Object 16"/>
          <p:cNvGraphicFramePr>
            <a:graphicFrameLocks noChangeAspect="1"/>
          </p:cNvGraphicFramePr>
          <p:nvPr/>
        </p:nvGraphicFramePr>
        <p:xfrm>
          <a:off x="3189288" y="1357313"/>
          <a:ext cx="2906712" cy="3427412"/>
        </p:xfrm>
        <a:graphic>
          <a:graphicData uri="http://schemas.openxmlformats.org/presentationml/2006/ole">
            <mc:AlternateContent xmlns:mc="http://schemas.openxmlformats.org/markup-compatibility/2006">
              <mc:Choice xmlns:v="urn:schemas-microsoft-com:vml" Requires="v">
                <p:oleObj spid="_x0000_s6147" name="Equation" r:id="rId3" imgW="32613600" imgH="38709600" progId="Equation.DSMT4">
                  <p:embed/>
                </p:oleObj>
              </mc:Choice>
              <mc:Fallback>
                <p:oleObj name="Equation" r:id="rId3" imgW="32613600" imgH="38709600" progId="Equation.DSMT4">
                  <p:embed/>
                  <p:pic>
                    <p:nvPicPr>
                      <p:cNvPr id="0" name="Object 16"/>
                      <p:cNvPicPr/>
                      <p:nvPr/>
                    </p:nvPicPr>
                    <p:blipFill>
                      <a:blip r:embed="rId4"/>
                      <a:stretch>
                        <a:fillRect/>
                      </a:stretch>
                    </p:blipFill>
                    <p:spPr>
                      <a:xfrm>
                        <a:off x="3189288" y="1357313"/>
                        <a:ext cx="2906712" cy="3427412"/>
                      </a:xfrm>
                      <a:prstGeom prst="rect">
                        <a:avLst/>
                      </a:prstGeom>
                    </p:spPr>
                  </p:pic>
                </p:oleObj>
              </mc:Fallback>
            </mc:AlternateContent>
          </a:graphicData>
        </a:graphic>
      </p:graphicFrame>
      <p:sp>
        <p:nvSpPr>
          <p:cNvPr id="19" name="Google Shape;1794;p49"/>
          <p:cNvSpPr txBox="1"/>
          <p:nvPr/>
        </p:nvSpPr>
        <p:spPr>
          <a:xfrm>
            <a:off x="6756244" y="1315108"/>
            <a:ext cx="5157781"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Nếu ban đầu vật được nâng lên từ mặt đất thì: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00B0F0"/>
                </a:solidFill>
                <a:latin typeface="Itim" panose="00000500000000000000" pitchFamily="2" charset="-34"/>
                <a:cs typeface="Itim" panose="00000500000000000000" pitchFamily="2" charset="-34"/>
              </a:rPr>
              <a:t>=&gt; Thế năng của vật có giá trị bằng công của lực để đưa vật từ mốc thế năng đến độ cao h </a:t>
            </a:r>
            <a:endParaRPr lang="en-US" sz="2500" kern="0">
              <a:solidFill>
                <a:srgbClr val="00B0F0"/>
              </a:solidFill>
              <a:latin typeface="Itim" panose="00000500000000000000" pitchFamily="2" charset="-34"/>
              <a:cs typeface="Itim" panose="00000500000000000000" pitchFamily="2" charset="-34"/>
            </a:endParaRPr>
          </a:p>
        </p:txBody>
      </p:sp>
      <p:graphicFrame>
        <p:nvGraphicFramePr>
          <p:cNvPr id="20" name="Object 19"/>
          <p:cNvGraphicFramePr>
            <a:graphicFrameLocks noChangeAspect="1"/>
          </p:cNvGraphicFramePr>
          <p:nvPr/>
        </p:nvGraphicFramePr>
        <p:xfrm>
          <a:off x="8084978" y="2350078"/>
          <a:ext cx="2500312" cy="485775"/>
        </p:xfrm>
        <a:graphic>
          <a:graphicData uri="http://schemas.openxmlformats.org/presentationml/2006/ole">
            <mc:AlternateContent xmlns:mc="http://schemas.openxmlformats.org/markup-compatibility/2006">
              <mc:Choice xmlns:v="urn:schemas-microsoft-com:vml" Requires="v">
                <p:oleObj spid="_x0000_s6148" name="Equation" r:id="rId5" imgW="28041600" imgH="5486400" progId="Equation.DSMT4">
                  <p:embed/>
                </p:oleObj>
              </mc:Choice>
              <mc:Fallback>
                <p:oleObj name="Equation" r:id="rId5" imgW="28041600" imgH="5486400" progId="Equation.DSMT4">
                  <p:embed/>
                  <p:pic>
                    <p:nvPicPr>
                      <p:cNvPr id="0" name="Object 19"/>
                      <p:cNvPicPr/>
                      <p:nvPr/>
                    </p:nvPicPr>
                    <p:blipFill>
                      <a:blip r:embed="rId6"/>
                      <a:stretch>
                        <a:fillRect/>
                      </a:stretch>
                    </p:blipFill>
                    <p:spPr>
                      <a:xfrm>
                        <a:off x="8084978" y="2350078"/>
                        <a:ext cx="2500312" cy="485775"/>
                      </a:xfrm>
                      <a:prstGeom prst="rect">
                        <a:avLst/>
                      </a:prstGeom>
                    </p:spPr>
                  </p:pic>
                </p:oleObj>
              </mc:Fallback>
            </mc:AlternateContent>
          </a:graphicData>
        </a:graphic>
      </p:graphicFrame>
      <p:cxnSp>
        <p:nvCxnSpPr>
          <p:cNvPr id="18" name="Straight Arrow Connector 17"/>
          <p:cNvCxnSpPr/>
          <p:nvPr/>
        </p:nvCxnSpPr>
        <p:spPr>
          <a:xfrm>
            <a:off x="1395654" y="3227124"/>
            <a:ext cx="0" cy="783358"/>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Object 20"/>
          <p:cNvGraphicFramePr>
            <a:graphicFrameLocks noChangeAspect="1"/>
          </p:cNvGraphicFramePr>
          <p:nvPr/>
        </p:nvGraphicFramePr>
        <p:xfrm>
          <a:off x="1464264" y="3679330"/>
          <a:ext cx="273050" cy="431800"/>
        </p:xfrm>
        <a:graphic>
          <a:graphicData uri="http://schemas.openxmlformats.org/presentationml/2006/ole">
            <mc:AlternateContent xmlns:mc="http://schemas.openxmlformats.org/markup-compatibility/2006">
              <mc:Choice xmlns:v="urn:schemas-microsoft-com:vml" Requires="v">
                <p:oleObj spid="_x0000_s6149" name="Equation" r:id="rId7" imgW="3048000" imgH="4876800" progId="Equation.DSMT4">
                  <p:embed/>
                </p:oleObj>
              </mc:Choice>
              <mc:Fallback>
                <p:oleObj name="Equation" r:id="rId7" imgW="3048000" imgH="4876800" progId="Equation.DSMT4">
                  <p:embed/>
                  <p:pic>
                    <p:nvPicPr>
                      <p:cNvPr id="0" name="Object 20"/>
                      <p:cNvPicPr/>
                      <p:nvPr/>
                    </p:nvPicPr>
                    <p:blipFill>
                      <a:blip r:embed="rId8"/>
                      <a:stretch>
                        <a:fillRect/>
                      </a:stretch>
                    </p:blipFill>
                    <p:spPr>
                      <a:xfrm>
                        <a:off x="1464264" y="3679330"/>
                        <a:ext cx="273050" cy="43180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7. Máy đóng cọc hoạt động như sau: Búa máy được nâng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lên đến một độ cao nhất định rồi thả rơi xuống cọc cần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đóng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a) Khi búa đang ở một độ cao nhất định thì năng lượng của nó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tồn tại dưới dạng nào? Năng lượng đó do đâu mà có?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Trong quá trình rơi, năng lượng của búa chuyển từ dạng nào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sang dạng nào?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c) Khi chạm vào đầu cọc thì búa sinh công để làm gì?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1794;p49"/>
          <p:cNvSpPr txBox="1"/>
          <p:nvPr/>
        </p:nvSpPr>
        <p:spPr>
          <a:xfrm>
            <a:off x="5147915" y="3598713"/>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2" name="Google Shape;1794;p49"/>
          <p:cNvSpPr txBox="1"/>
          <p:nvPr/>
        </p:nvSpPr>
        <p:spPr>
          <a:xfrm>
            <a:off x="152400" y="3994555"/>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a) Khi búa đang ở một độ cao nhất định thì năng lượng của nó tồn tại dưới dạng thế năng trọng trường. Năng lượng này do Trái Đất gây ra khi vật ở độ cao nào đó so với mặt đất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Trong quá trình rơi, thế năng chuyển hóa thành động năng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c) Khi chạm vào đầu cọc thì búa sinh công để làm cọc lún xuống đất </a:t>
            </a:r>
            <a:endParaRPr lang="en-US" sz="2500" kern="0">
              <a:solidFill>
                <a:srgbClr val="F8F8F8"/>
              </a:solidFill>
              <a:latin typeface="Itim" panose="00000500000000000000" pitchFamily="2" charset="-34"/>
              <a:cs typeface="Itim" panose="00000500000000000000" pitchFamily="2" charset="-34"/>
            </a:endParaRPr>
          </a:p>
        </p:txBody>
      </p:sp>
      <p:pic>
        <p:nvPicPr>
          <p:cNvPr id="6146" name="Picture 2" descr="Best Geotechnical GIFs | Gfyca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77130" y="177470"/>
            <a:ext cx="2862470" cy="3657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8. Hình dưới mô tả một cuốn sách được đặt trên giá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sách. Hãy so sánh thế năng của cuốn sách trong hai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trường hợp: gốc thế năng là sàn nhà và gốc thế năng là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mặt bàn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1794;p49"/>
          <p:cNvSpPr txBox="1"/>
          <p:nvPr/>
        </p:nvSpPr>
        <p:spPr>
          <a:xfrm>
            <a:off x="5147915" y="3598713"/>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2" name="Google Shape;1794;p49"/>
          <p:cNvSpPr txBox="1"/>
          <p:nvPr/>
        </p:nvSpPr>
        <p:spPr>
          <a:xfrm>
            <a:off x="152400" y="3994555"/>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Gốc thế năng là sàn nhà: W</a:t>
            </a:r>
            <a:r>
              <a:rPr lang="en-US" sz="2500" kern="0" baseline="-25000">
                <a:solidFill>
                  <a:srgbClr val="F8F8F8"/>
                </a:solidFill>
                <a:latin typeface="Itim" panose="00000500000000000000" pitchFamily="2" charset="-34"/>
                <a:cs typeface="Itim" panose="00000500000000000000" pitchFamily="2" charset="-34"/>
              </a:rPr>
              <a:t>t1</a:t>
            </a:r>
            <a:r>
              <a:rPr lang="en-US" sz="2500" kern="0">
                <a:solidFill>
                  <a:srgbClr val="F8F8F8"/>
                </a:solidFill>
                <a:latin typeface="Itim" panose="00000500000000000000" pitchFamily="2" charset="-34"/>
                <a:cs typeface="Itim" panose="00000500000000000000" pitchFamily="2" charset="-34"/>
              </a:rPr>
              <a:t> = mgh</a:t>
            </a:r>
            <a:r>
              <a:rPr lang="en-US" sz="2500" kern="0" baseline="-25000">
                <a:solidFill>
                  <a:srgbClr val="F8F8F8"/>
                </a:solidFill>
                <a:latin typeface="Itim" panose="00000500000000000000" pitchFamily="2" charset="-34"/>
                <a:cs typeface="Itim" panose="00000500000000000000" pitchFamily="2" charset="-34"/>
              </a:rPr>
              <a:t>1</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Gốc thế năng là mặt bàn: W</a:t>
            </a:r>
            <a:r>
              <a:rPr lang="en-US" sz="2500" kern="0" baseline="-25000">
                <a:solidFill>
                  <a:srgbClr val="F8F8F8"/>
                </a:solidFill>
                <a:latin typeface="Itim" panose="00000500000000000000" pitchFamily="2" charset="-34"/>
                <a:cs typeface="Itim" panose="00000500000000000000" pitchFamily="2" charset="-34"/>
              </a:rPr>
              <a:t>t2</a:t>
            </a:r>
            <a:r>
              <a:rPr lang="en-US" sz="2500" kern="0">
                <a:solidFill>
                  <a:srgbClr val="F8F8F8"/>
                </a:solidFill>
                <a:latin typeface="Itim" panose="00000500000000000000" pitchFamily="2" charset="-34"/>
                <a:cs typeface="Itim" panose="00000500000000000000" pitchFamily="2" charset="-34"/>
              </a:rPr>
              <a:t> = mgh</a:t>
            </a:r>
            <a:r>
              <a:rPr lang="en-US" sz="2500" kern="0" baseline="-25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Do h</a:t>
            </a:r>
            <a:r>
              <a:rPr lang="en-US" sz="2500" kern="0" baseline="-25000">
                <a:solidFill>
                  <a:srgbClr val="F8F8F8"/>
                </a:solidFill>
                <a:latin typeface="Itim" panose="00000500000000000000" pitchFamily="2" charset="-34"/>
                <a:cs typeface="Itim" panose="00000500000000000000" pitchFamily="2" charset="-34"/>
              </a:rPr>
              <a:t>1</a:t>
            </a:r>
            <a:r>
              <a:rPr lang="en-US" sz="2500" kern="0">
                <a:solidFill>
                  <a:srgbClr val="F8F8F8"/>
                </a:solidFill>
                <a:latin typeface="Itim" panose="00000500000000000000" pitchFamily="2" charset="-34"/>
                <a:cs typeface="Itim" panose="00000500000000000000" pitchFamily="2" charset="-34"/>
              </a:rPr>
              <a:t> &gt; h</a:t>
            </a:r>
            <a:r>
              <a:rPr lang="en-US" sz="2500" kern="0" baseline="-25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nên W</a:t>
            </a:r>
            <a:r>
              <a:rPr lang="en-US" sz="2500" kern="0" baseline="-25000">
                <a:solidFill>
                  <a:srgbClr val="F8F8F8"/>
                </a:solidFill>
                <a:latin typeface="Itim" panose="00000500000000000000" pitchFamily="2" charset="-34"/>
                <a:cs typeface="Itim" panose="00000500000000000000" pitchFamily="2" charset="-34"/>
              </a:rPr>
              <a:t>t1</a:t>
            </a:r>
            <a:r>
              <a:rPr lang="en-US" sz="2500" kern="0">
                <a:solidFill>
                  <a:srgbClr val="F8F8F8"/>
                </a:solidFill>
                <a:latin typeface="Itim" panose="00000500000000000000" pitchFamily="2" charset="-34"/>
                <a:cs typeface="Itim" panose="00000500000000000000" pitchFamily="2" charset="-34"/>
              </a:rPr>
              <a:t> &gt; W</a:t>
            </a:r>
            <a:r>
              <a:rPr lang="en-US" sz="2500" kern="0" baseline="-25000">
                <a:solidFill>
                  <a:srgbClr val="F8F8F8"/>
                </a:solidFill>
                <a:latin typeface="Itim" panose="00000500000000000000" pitchFamily="2" charset="-34"/>
                <a:cs typeface="Itim" panose="00000500000000000000" pitchFamily="2" charset="-34"/>
              </a:rPr>
              <a:t>t2</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F8F8F8"/>
              </a:solidFill>
              <a:latin typeface="Itim" panose="00000500000000000000" pitchFamily="2" charset="-34"/>
              <a:cs typeface="Itim" panose="00000500000000000000" pitchFamily="2" charset="-34"/>
            </a:endParaRPr>
          </a:p>
        </p:txBody>
      </p:sp>
      <p:pic>
        <p:nvPicPr>
          <p:cNvPr id="3" name="Picture 2"/>
          <p:cNvPicPr>
            <a:picLocks noChangeAspect="1"/>
          </p:cNvPicPr>
          <p:nvPr/>
        </p:nvPicPr>
        <p:blipFill>
          <a:blip r:embed="rId2"/>
          <a:stretch>
            <a:fillRect/>
          </a:stretch>
        </p:blipFill>
        <p:spPr>
          <a:xfrm>
            <a:off x="8226234" y="226457"/>
            <a:ext cx="3813366" cy="3657600"/>
          </a:xfrm>
          <a:prstGeom prst="rect">
            <a:avLst/>
          </a:prstGeom>
        </p:spPr>
      </p:pic>
      <p:sp>
        <p:nvSpPr>
          <p:cNvPr id="10" name="Left Brace 9"/>
          <p:cNvSpPr/>
          <p:nvPr/>
        </p:nvSpPr>
        <p:spPr>
          <a:xfrm rot="10800000">
            <a:off x="10619480" y="1522276"/>
            <a:ext cx="137009" cy="1368408"/>
          </a:xfrm>
          <a:prstGeom prst="leftBrace">
            <a:avLst>
              <a:gd name="adj1" fmla="val 77408"/>
              <a:gd name="adj2" fmla="val 50000"/>
            </a:avLst>
          </a:prstGeom>
          <a:ln w="3810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Left Brace 12"/>
          <p:cNvSpPr/>
          <p:nvPr/>
        </p:nvSpPr>
        <p:spPr>
          <a:xfrm>
            <a:off x="9241921" y="1525375"/>
            <a:ext cx="137009" cy="2358682"/>
          </a:xfrm>
          <a:prstGeom prst="leftBrace">
            <a:avLst>
              <a:gd name="adj1" fmla="val 77408"/>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Google Shape;1794;p49"/>
          <p:cNvSpPr txBox="1"/>
          <p:nvPr/>
        </p:nvSpPr>
        <p:spPr>
          <a:xfrm>
            <a:off x="10707329" y="1901261"/>
            <a:ext cx="571069"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FFF00"/>
                </a:solidFill>
                <a:latin typeface="Itim" panose="00000500000000000000" pitchFamily="2" charset="-34"/>
                <a:cs typeface="Itim" panose="00000500000000000000" pitchFamily="2" charset="-34"/>
              </a:rPr>
              <a:t>h</a:t>
            </a:r>
            <a:r>
              <a:rPr lang="en-US" sz="2500" kern="0" baseline="-25000">
                <a:solidFill>
                  <a:srgbClr val="FFFF00"/>
                </a:solidFill>
                <a:latin typeface="Itim" panose="00000500000000000000" pitchFamily="2" charset="-34"/>
                <a:cs typeface="Itim" panose="00000500000000000000" pitchFamily="2" charset="-34"/>
              </a:rPr>
              <a:t>2</a:t>
            </a:r>
            <a:endParaRPr lang="en-US" sz="2500" kern="0" baseline="-25000">
              <a:solidFill>
                <a:srgbClr val="FFFF00"/>
              </a:solidFill>
              <a:latin typeface="Itim" panose="00000500000000000000" pitchFamily="2" charset="-34"/>
              <a:cs typeface="Itim" panose="00000500000000000000" pitchFamily="2" charset="-34"/>
            </a:endParaRPr>
          </a:p>
        </p:txBody>
      </p:sp>
      <p:sp>
        <p:nvSpPr>
          <p:cNvPr id="15" name="Google Shape;1794;p49"/>
          <p:cNvSpPr txBox="1"/>
          <p:nvPr/>
        </p:nvSpPr>
        <p:spPr>
          <a:xfrm>
            <a:off x="8670852" y="2383740"/>
            <a:ext cx="571069"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F0000"/>
                </a:solidFill>
                <a:latin typeface="Itim" panose="00000500000000000000" pitchFamily="2" charset="-34"/>
                <a:cs typeface="Itim" panose="00000500000000000000" pitchFamily="2" charset="-34"/>
              </a:rPr>
              <a:t>h</a:t>
            </a:r>
            <a:r>
              <a:rPr lang="en-US" sz="2500" kern="0" baseline="-25000">
                <a:solidFill>
                  <a:srgbClr val="FF0000"/>
                </a:solidFill>
                <a:latin typeface="Itim" panose="00000500000000000000" pitchFamily="2" charset="-34"/>
                <a:cs typeface="Itim" panose="00000500000000000000" pitchFamily="2" charset="-34"/>
              </a:rPr>
              <a:t>1</a:t>
            </a:r>
            <a:endParaRPr lang="en-US" sz="2500" kern="0" baseline="-25000">
              <a:solidFill>
                <a:srgbClr val="FF0000"/>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9. Máy đóng cọc có đầu búa nặng 0,5 tấn, được nâng lên độ cao 10 m so với mặt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đất. Tính thế năng của đầu búa. Lấy g = 9,8 m/s</a:t>
            </a:r>
            <a:r>
              <a:rPr lang="en-US" sz="2500" kern="0" baseline="30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1794;p49"/>
          <p:cNvSpPr txBox="1"/>
          <p:nvPr/>
        </p:nvSpPr>
        <p:spPr>
          <a:xfrm>
            <a:off x="152400" y="1732305"/>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 Thế năng: </a:t>
            </a:r>
            <a:endParaRPr lang="en-US" sz="2500" kern="0">
              <a:solidFill>
                <a:srgbClr val="FFFF00"/>
              </a:solidFill>
              <a:latin typeface="Itim" panose="00000500000000000000" pitchFamily="2" charset="-34"/>
              <a:cs typeface="Itim" panose="00000500000000000000" pitchFamily="2" charset="-34"/>
            </a:endParaRPr>
          </a:p>
        </p:txBody>
      </p:sp>
      <p:sp>
        <p:nvSpPr>
          <p:cNvPr id="16" name="Google Shape;1794;p49"/>
          <p:cNvSpPr txBox="1"/>
          <p:nvPr/>
        </p:nvSpPr>
        <p:spPr>
          <a:xfrm>
            <a:off x="8119715" y="1336463"/>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7" name="Google Shape;1794;p49"/>
          <p:cNvSpPr txBox="1"/>
          <p:nvPr/>
        </p:nvSpPr>
        <p:spPr>
          <a:xfrm>
            <a:off x="6096000" y="1732305"/>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Chọn mốc thế năng tại mặt đất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Thế năng của đầu búa là: </a:t>
            </a:r>
            <a:endParaRPr lang="en-US" sz="2500" kern="0">
              <a:solidFill>
                <a:srgbClr val="F8F8F8"/>
              </a:solidFill>
              <a:latin typeface="Itim" panose="00000500000000000000" pitchFamily="2" charset="-34"/>
              <a:cs typeface="Itim" panose="00000500000000000000" pitchFamily="2" charset="-34"/>
            </a:endParaRPr>
          </a:p>
        </p:txBody>
      </p:sp>
      <p:sp>
        <p:nvSpPr>
          <p:cNvPr id="18" name="Google Shape;1794;p49"/>
          <p:cNvSpPr txBox="1"/>
          <p:nvPr/>
        </p:nvSpPr>
        <p:spPr>
          <a:xfrm>
            <a:off x="2176115" y="1336463"/>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graphicFrame>
        <p:nvGraphicFramePr>
          <p:cNvPr id="20" name="Object 19"/>
          <p:cNvGraphicFramePr>
            <a:graphicFrameLocks noChangeAspect="1"/>
          </p:cNvGraphicFramePr>
          <p:nvPr/>
        </p:nvGraphicFramePr>
        <p:xfrm>
          <a:off x="6610350" y="2770099"/>
          <a:ext cx="4914900" cy="1079500"/>
        </p:xfrm>
        <a:graphic>
          <a:graphicData uri="http://schemas.openxmlformats.org/presentationml/2006/ole">
            <mc:AlternateContent xmlns:mc="http://schemas.openxmlformats.org/markup-compatibility/2006">
              <mc:Choice xmlns:v="urn:schemas-microsoft-com:vml" Requires="v">
                <p:oleObj spid="_x0000_s7170" name="Equation" r:id="rId2" imgW="55168800" imgH="12192000" progId="Equation.DSMT4">
                  <p:embed/>
                </p:oleObj>
              </mc:Choice>
              <mc:Fallback>
                <p:oleObj name="Equation" r:id="rId2" imgW="55168800" imgH="12192000" progId="Equation.DSMT4">
                  <p:embed/>
                  <p:pic>
                    <p:nvPicPr>
                      <p:cNvPr id="0" name="Object 19"/>
                      <p:cNvPicPr/>
                      <p:nvPr/>
                    </p:nvPicPr>
                    <p:blipFill>
                      <a:blip r:embed="rId3"/>
                      <a:stretch>
                        <a:fillRect/>
                      </a:stretch>
                    </p:blipFill>
                    <p:spPr>
                      <a:xfrm>
                        <a:off x="6610350" y="2770099"/>
                        <a:ext cx="4914900" cy="1079500"/>
                      </a:xfrm>
                      <a:prstGeom prst="rect">
                        <a:avLst/>
                      </a:prstGeom>
                    </p:spPr>
                  </p:pic>
                </p:oleObj>
              </mc:Fallback>
            </mc:AlternateContent>
          </a:graphicData>
        </a:graphic>
      </p:graphicFrame>
      <p:graphicFrame>
        <p:nvGraphicFramePr>
          <p:cNvPr id="21" name="Object 20"/>
          <p:cNvGraphicFramePr>
            <a:graphicFrameLocks noChangeAspect="1"/>
          </p:cNvGraphicFramePr>
          <p:nvPr/>
        </p:nvGraphicFramePr>
        <p:xfrm>
          <a:off x="1900692" y="1810393"/>
          <a:ext cx="1384300" cy="485775"/>
        </p:xfrm>
        <a:graphic>
          <a:graphicData uri="http://schemas.openxmlformats.org/presentationml/2006/ole">
            <mc:AlternateContent xmlns:mc="http://schemas.openxmlformats.org/markup-compatibility/2006">
              <mc:Choice xmlns:v="urn:schemas-microsoft-com:vml" Requires="v">
                <p:oleObj spid="_x0000_s7171" name="Equation" r:id="rId4" imgW="15544800" imgH="5486400" progId="Equation.DSMT4">
                  <p:embed/>
                </p:oleObj>
              </mc:Choice>
              <mc:Fallback>
                <p:oleObj name="Equation" r:id="rId4" imgW="15544800" imgH="5486400" progId="Equation.DSMT4">
                  <p:embed/>
                  <p:pic>
                    <p:nvPicPr>
                      <p:cNvPr id="0" name="Object 20"/>
                      <p:cNvPicPr/>
                      <p:nvPr/>
                    </p:nvPicPr>
                    <p:blipFill>
                      <a:blip r:embed="rId5"/>
                      <a:stretch>
                        <a:fillRect/>
                      </a:stretch>
                    </p:blipFill>
                    <p:spPr>
                      <a:xfrm>
                        <a:off x="1900692" y="1810393"/>
                        <a:ext cx="1384300" cy="48577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10. Một chiếc cần cẩu xây dựng cẩu một khối vật liệu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nặng 500 kg từ vị trí A ở mặt đất đến vị trí B của một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tòa nhà cao tầng với các thông số cho trên hình. Lấy gia tốc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trọng trường g = 9,8 m/s</a:t>
            </a:r>
            <a:r>
              <a:rPr lang="en-US" sz="2500" kern="0" baseline="30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Tính thế năng của khối vật liệu tại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và công mà cần cẩu đã thực hiện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2"/>
          <a:stretch>
            <a:fillRect/>
          </a:stretch>
        </p:blipFill>
        <p:spPr>
          <a:xfrm>
            <a:off x="8665963" y="177470"/>
            <a:ext cx="3373637" cy="3657600"/>
          </a:xfrm>
          <a:prstGeom prst="rect">
            <a:avLst/>
          </a:prstGeom>
        </p:spPr>
      </p:pic>
      <p:sp>
        <p:nvSpPr>
          <p:cNvPr id="12" name="Google Shape;1794;p49"/>
          <p:cNvSpPr txBox="1"/>
          <p:nvPr/>
        </p:nvSpPr>
        <p:spPr>
          <a:xfrm>
            <a:off x="152400" y="4328548"/>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 Thế năng: </a:t>
            </a:r>
            <a:endParaRPr lang="en-US" sz="2500" kern="0">
              <a:solidFill>
                <a:srgbClr val="FFFF00"/>
              </a:solidFill>
              <a:latin typeface="Itim" panose="00000500000000000000" pitchFamily="2" charset="-34"/>
              <a:cs typeface="Itim" panose="00000500000000000000" pitchFamily="2" charset="-34"/>
            </a:endParaRPr>
          </a:p>
          <a:p>
            <a:pPr lvl="0">
              <a:defRPr/>
            </a:pPr>
            <a:endParaRPr lang="en-US" sz="2500" kern="0">
              <a:solidFill>
                <a:srgbClr val="FFFF00"/>
              </a:solidFill>
              <a:latin typeface="Itim" panose="00000500000000000000" pitchFamily="2" charset="-34"/>
              <a:cs typeface="Itim" panose="00000500000000000000" pitchFamily="2" charset="-34"/>
            </a:endParaRPr>
          </a:p>
          <a:p>
            <a:pPr lvl="0">
              <a:defRPr/>
            </a:pPr>
            <a:r>
              <a:rPr lang="en-US" sz="2500" kern="0">
                <a:solidFill>
                  <a:srgbClr val="FFFF00"/>
                </a:solidFill>
                <a:latin typeface="Itim" panose="00000500000000000000" pitchFamily="2" charset="-34"/>
                <a:cs typeface="Itim" panose="00000500000000000000" pitchFamily="2" charset="-34"/>
              </a:rPr>
              <a:t>- Ta có: </a:t>
            </a:r>
            <a:endParaRPr lang="en-US" sz="2500" kern="0">
              <a:solidFill>
                <a:srgbClr val="FFFF00"/>
              </a:solidFill>
              <a:latin typeface="Itim" panose="00000500000000000000" pitchFamily="2" charset="-34"/>
              <a:cs typeface="Itim" panose="00000500000000000000" pitchFamily="2" charset="-34"/>
            </a:endParaRPr>
          </a:p>
        </p:txBody>
      </p:sp>
      <p:sp>
        <p:nvSpPr>
          <p:cNvPr id="13" name="Google Shape;1794;p49"/>
          <p:cNvSpPr txBox="1"/>
          <p:nvPr/>
        </p:nvSpPr>
        <p:spPr>
          <a:xfrm>
            <a:off x="8119715" y="3932706"/>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5" name="Google Shape;1794;p49"/>
          <p:cNvSpPr txBox="1"/>
          <p:nvPr/>
        </p:nvSpPr>
        <p:spPr>
          <a:xfrm>
            <a:off x="6096000" y="4328548"/>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Chọn mốc thế năng tại mặt đất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Thế năng của khối vật liệu tại B là: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Công mà cần cẩu đã thực hiện: </a:t>
            </a:r>
            <a:endParaRPr lang="en-US" sz="2500" kern="0">
              <a:solidFill>
                <a:srgbClr val="F8F8F8"/>
              </a:solidFill>
              <a:latin typeface="Itim" panose="00000500000000000000" pitchFamily="2" charset="-34"/>
              <a:cs typeface="Itim" panose="00000500000000000000" pitchFamily="2" charset="-34"/>
            </a:endParaRPr>
          </a:p>
        </p:txBody>
      </p:sp>
      <p:sp>
        <p:nvSpPr>
          <p:cNvPr id="22" name="Google Shape;1794;p49"/>
          <p:cNvSpPr txBox="1"/>
          <p:nvPr/>
        </p:nvSpPr>
        <p:spPr>
          <a:xfrm>
            <a:off x="2176115" y="3932706"/>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graphicFrame>
        <p:nvGraphicFramePr>
          <p:cNvPr id="23" name="Object 22"/>
          <p:cNvGraphicFramePr>
            <a:graphicFrameLocks noChangeAspect="1"/>
          </p:cNvGraphicFramePr>
          <p:nvPr/>
        </p:nvGraphicFramePr>
        <p:xfrm>
          <a:off x="6460331" y="5144943"/>
          <a:ext cx="5214938" cy="539750"/>
        </p:xfrm>
        <a:graphic>
          <a:graphicData uri="http://schemas.openxmlformats.org/presentationml/2006/ole">
            <mc:AlternateContent xmlns:mc="http://schemas.openxmlformats.org/markup-compatibility/2006">
              <mc:Choice xmlns:v="urn:schemas-microsoft-com:vml" Requires="v">
                <p:oleObj spid="_x0000_s8194" name="Equation" r:id="rId3" imgW="58521600" imgH="6096000" progId="Equation.DSMT4">
                  <p:embed/>
                </p:oleObj>
              </mc:Choice>
              <mc:Fallback>
                <p:oleObj name="Equation" r:id="rId3" imgW="58521600" imgH="6096000" progId="Equation.DSMT4">
                  <p:embed/>
                  <p:pic>
                    <p:nvPicPr>
                      <p:cNvPr id="0" name="Object 22"/>
                      <p:cNvPicPr/>
                      <p:nvPr/>
                    </p:nvPicPr>
                    <p:blipFill>
                      <a:blip r:embed="rId4"/>
                      <a:stretch>
                        <a:fillRect/>
                      </a:stretch>
                    </p:blipFill>
                    <p:spPr>
                      <a:xfrm>
                        <a:off x="6460331" y="5144943"/>
                        <a:ext cx="5214938" cy="539750"/>
                      </a:xfrm>
                      <a:prstGeom prst="rect">
                        <a:avLst/>
                      </a:prstGeom>
                    </p:spPr>
                  </p:pic>
                </p:oleObj>
              </mc:Fallback>
            </mc:AlternateContent>
          </a:graphicData>
        </a:graphic>
      </p:graphicFrame>
      <p:graphicFrame>
        <p:nvGraphicFramePr>
          <p:cNvPr id="24" name="Object 23"/>
          <p:cNvGraphicFramePr>
            <a:graphicFrameLocks noChangeAspect="1"/>
          </p:cNvGraphicFramePr>
          <p:nvPr/>
        </p:nvGraphicFramePr>
        <p:xfrm>
          <a:off x="1837557" y="4406636"/>
          <a:ext cx="1384300" cy="485775"/>
        </p:xfrm>
        <a:graphic>
          <a:graphicData uri="http://schemas.openxmlformats.org/presentationml/2006/ole">
            <mc:AlternateContent xmlns:mc="http://schemas.openxmlformats.org/markup-compatibility/2006">
              <mc:Choice xmlns:v="urn:schemas-microsoft-com:vml" Requires="v">
                <p:oleObj spid="_x0000_s8195" name="Equation" r:id="rId5" imgW="15544800" imgH="5486400" progId="Equation.DSMT4">
                  <p:embed/>
                </p:oleObj>
              </mc:Choice>
              <mc:Fallback>
                <p:oleObj name="Equation" r:id="rId5" imgW="15544800" imgH="5486400" progId="Equation.DSMT4">
                  <p:embed/>
                  <p:pic>
                    <p:nvPicPr>
                      <p:cNvPr id="0" name="Object 23"/>
                      <p:cNvPicPr/>
                      <p:nvPr/>
                    </p:nvPicPr>
                    <p:blipFill>
                      <a:blip r:embed="rId6"/>
                      <a:stretch>
                        <a:fillRect/>
                      </a:stretch>
                    </p:blipFill>
                    <p:spPr>
                      <a:xfrm>
                        <a:off x="1837557" y="4406636"/>
                        <a:ext cx="1384300" cy="485775"/>
                      </a:xfrm>
                      <a:prstGeom prst="rect">
                        <a:avLst/>
                      </a:prstGeom>
                    </p:spPr>
                  </p:pic>
                </p:oleObj>
              </mc:Fallback>
            </mc:AlternateContent>
          </a:graphicData>
        </a:graphic>
      </p:graphicFrame>
      <p:graphicFrame>
        <p:nvGraphicFramePr>
          <p:cNvPr id="25" name="Object 24"/>
          <p:cNvGraphicFramePr>
            <a:graphicFrameLocks noChangeAspect="1"/>
          </p:cNvGraphicFramePr>
          <p:nvPr/>
        </p:nvGraphicFramePr>
        <p:xfrm>
          <a:off x="1279525" y="5145106"/>
          <a:ext cx="1844675" cy="485775"/>
        </p:xfrm>
        <a:graphic>
          <a:graphicData uri="http://schemas.openxmlformats.org/presentationml/2006/ole">
            <mc:AlternateContent xmlns:mc="http://schemas.openxmlformats.org/markup-compatibility/2006">
              <mc:Choice xmlns:v="urn:schemas-microsoft-com:vml" Requires="v">
                <p:oleObj spid="_x0000_s8196" name="Equation" r:id="rId7" imgW="20726400" imgH="5486400" progId="Equation.DSMT4">
                  <p:embed/>
                </p:oleObj>
              </mc:Choice>
              <mc:Fallback>
                <p:oleObj name="Equation" r:id="rId7" imgW="20726400" imgH="5486400" progId="Equation.DSMT4">
                  <p:embed/>
                  <p:pic>
                    <p:nvPicPr>
                      <p:cNvPr id="0" name="Object 24"/>
                      <p:cNvPicPr/>
                      <p:nvPr/>
                    </p:nvPicPr>
                    <p:blipFill>
                      <a:blip r:embed="rId8"/>
                      <a:stretch>
                        <a:fillRect/>
                      </a:stretch>
                    </p:blipFill>
                    <p:spPr>
                      <a:xfrm>
                        <a:off x="1279525" y="5145106"/>
                        <a:ext cx="1844675" cy="485775"/>
                      </a:xfrm>
                      <a:prstGeom prst="rect">
                        <a:avLst/>
                      </a:prstGeom>
                    </p:spPr>
                  </p:pic>
                </p:oleObj>
              </mc:Fallback>
            </mc:AlternateContent>
          </a:graphicData>
        </a:graphic>
      </p:graphicFrame>
      <p:graphicFrame>
        <p:nvGraphicFramePr>
          <p:cNvPr id="26" name="Object 25"/>
          <p:cNvGraphicFramePr>
            <a:graphicFrameLocks noChangeAspect="1"/>
          </p:cNvGraphicFramePr>
          <p:nvPr/>
        </p:nvGraphicFramePr>
        <p:xfrm>
          <a:off x="6297612" y="6026723"/>
          <a:ext cx="5540375" cy="539750"/>
        </p:xfrm>
        <a:graphic>
          <a:graphicData uri="http://schemas.openxmlformats.org/presentationml/2006/ole">
            <mc:AlternateContent xmlns:mc="http://schemas.openxmlformats.org/markup-compatibility/2006">
              <mc:Choice xmlns:v="urn:schemas-microsoft-com:vml" Requires="v">
                <p:oleObj spid="_x0000_s8197" name="Equation" r:id="rId9" imgW="62179200" imgH="6096000" progId="Equation.DSMT4">
                  <p:embed/>
                </p:oleObj>
              </mc:Choice>
              <mc:Fallback>
                <p:oleObj name="Equation" r:id="rId9" imgW="62179200" imgH="6096000" progId="Equation.DSMT4">
                  <p:embed/>
                  <p:pic>
                    <p:nvPicPr>
                      <p:cNvPr id="0" name="Object 25"/>
                      <p:cNvPicPr/>
                      <p:nvPr/>
                    </p:nvPicPr>
                    <p:blipFill>
                      <a:blip r:embed="rId10"/>
                      <a:stretch>
                        <a:fillRect/>
                      </a:stretch>
                    </p:blipFill>
                    <p:spPr>
                      <a:xfrm>
                        <a:off x="6297612" y="6026723"/>
                        <a:ext cx="5540375" cy="53975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6" presetID="10" presetClass="entr" presetSubtype="0" fill="hold"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11. Hãy chứng minh có thể dùng một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mặt phẳng nghiêng để đưa một vật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lên cao với một lực nhỏ hơn trọng lượng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của vật. Coi ma sát không đáng kể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2"/>
          <a:stretch>
            <a:fillRect/>
          </a:stretch>
        </p:blipFill>
        <p:spPr>
          <a:xfrm>
            <a:off x="6096000" y="177470"/>
            <a:ext cx="5988772" cy="2286000"/>
          </a:xfrm>
          <a:prstGeom prst="rect">
            <a:avLst/>
          </a:prstGeom>
        </p:spPr>
      </p:pic>
      <p:sp>
        <p:nvSpPr>
          <p:cNvPr id="5" name="Google Shape;1794;p49"/>
          <p:cNvSpPr txBox="1"/>
          <p:nvPr/>
        </p:nvSpPr>
        <p:spPr>
          <a:xfrm>
            <a:off x="11620931" y="1892127"/>
            <a:ext cx="571069"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0E261E"/>
                </a:solidFill>
                <a:latin typeface="Itim" panose="00000500000000000000" pitchFamily="2" charset="-34"/>
                <a:cs typeface="Itim" panose="00000500000000000000" pitchFamily="2" charset="-34"/>
              </a:rPr>
              <a:t>A</a:t>
            </a:r>
            <a:endParaRPr lang="en-US" sz="2500" kern="0" baseline="-25000">
              <a:solidFill>
                <a:srgbClr val="0E261E"/>
              </a:solidFill>
              <a:latin typeface="Itim" panose="00000500000000000000" pitchFamily="2" charset="-34"/>
              <a:cs typeface="Itim" panose="00000500000000000000" pitchFamily="2" charset="-34"/>
            </a:endParaRPr>
          </a:p>
        </p:txBody>
      </p:sp>
      <p:sp>
        <p:nvSpPr>
          <p:cNvPr id="6" name="Google Shape;1794;p49"/>
          <p:cNvSpPr txBox="1"/>
          <p:nvPr/>
        </p:nvSpPr>
        <p:spPr>
          <a:xfrm>
            <a:off x="6193524" y="0"/>
            <a:ext cx="571069"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0E261E"/>
                </a:solidFill>
                <a:latin typeface="Itim" panose="00000500000000000000" pitchFamily="2" charset="-34"/>
                <a:cs typeface="Itim" panose="00000500000000000000" pitchFamily="2" charset="-34"/>
              </a:rPr>
              <a:t>B</a:t>
            </a:r>
            <a:endParaRPr lang="en-US" sz="2500" kern="0" baseline="-25000">
              <a:solidFill>
                <a:srgbClr val="0E261E"/>
              </a:solidFill>
              <a:latin typeface="Itim" panose="00000500000000000000" pitchFamily="2" charset="-34"/>
              <a:cs typeface="Itim" panose="00000500000000000000" pitchFamily="2" charset="-34"/>
            </a:endParaRPr>
          </a:p>
        </p:txBody>
      </p:sp>
      <p:sp>
        <p:nvSpPr>
          <p:cNvPr id="7" name="Google Shape;1794;p49"/>
          <p:cNvSpPr txBox="1"/>
          <p:nvPr/>
        </p:nvSpPr>
        <p:spPr>
          <a:xfrm>
            <a:off x="152400" y="2902869"/>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 Ta có: </a:t>
            </a:r>
            <a:endParaRPr lang="en-US" sz="2500" kern="0">
              <a:solidFill>
                <a:srgbClr val="FFFF00"/>
              </a:solidFill>
              <a:latin typeface="Itim" panose="00000500000000000000" pitchFamily="2" charset="-34"/>
              <a:cs typeface="Itim" panose="00000500000000000000" pitchFamily="2" charset="-34"/>
            </a:endParaRPr>
          </a:p>
        </p:txBody>
      </p:sp>
      <p:sp>
        <p:nvSpPr>
          <p:cNvPr id="8" name="Google Shape;1794;p49"/>
          <p:cNvSpPr txBox="1"/>
          <p:nvPr/>
        </p:nvSpPr>
        <p:spPr>
          <a:xfrm>
            <a:off x="8119715" y="2507027"/>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0" name="Google Shape;1794;p49"/>
          <p:cNvSpPr txBox="1"/>
          <p:nvPr/>
        </p:nvSpPr>
        <p:spPr>
          <a:xfrm>
            <a:off x="6096000" y="2902869"/>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Chọn mốc thế năng tại mặt đất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Ta có: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Mà h &lt; ℓ nên F &lt; P </a:t>
            </a:r>
            <a:endParaRPr lang="en-US" sz="2500" kern="0">
              <a:solidFill>
                <a:srgbClr val="F8F8F8"/>
              </a:solidFill>
              <a:latin typeface="Itim" panose="00000500000000000000" pitchFamily="2" charset="-34"/>
              <a:cs typeface="Itim" panose="00000500000000000000" pitchFamily="2" charset="-34"/>
            </a:endParaRPr>
          </a:p>
        </p:txBody>
      </p:sp>
      <p:sp>
        <p:nvSpPr>
          <p:cNvPr id="11" name="Google Shape;1794;p49"/>
          <p:cNvSpPr txBox="1"/>
          <p:nvPr/>
        </p:nvSpPr>
        <p:spPr>
          <a:xfrm>
            <a:off x="2176115" y="2507027"/>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graphicFrame>
        <p:nvGraphicFramePr>
          <p:cNvPr id="14" name="Object 13"/>
          <p:cNvGraphicFramePr>
            <a:graphicFrameLocks noChangeAspect="1"/>
          </p:cNvGraphicFramePr>
          <p:nvPr/>
        </p:nvGraphicFramePr>
        <p:xfrm>
          <a:off x="1299189" y="2980957"/>
          <a:ext cx="1844675" cy="485775"/>
        </p:xfrm>
        <a:graphic>
          <a:graphicData uri="http://schemas.openxmlformats.org/presentationml/2006/ole">
            <mc:AlternateContent xmlns:mc="http://schemas.openxmlformats.org/markup-compatibility/2006">
              <mc:Choice xmlns:v="urn:schemas-microsoft-com:vml" Requires="v">
                <p:oleObj spid="_x0000_s9218" name="Equation" r:id="rId3" imgW="20726400" imgH="5486400" progId="Equation.DSMT4">
                  <p:embed/>
                </p:oleObj>
              </mc:Choice>
              <mc:Fallback>
                <p:oleObj name="Equation" r:id="rId3" imgW="20726400" imgH="5486400" progId="Equation.DSMT4">
                  <p:embed/>
                  <p:pic>
                    <p:nvPicPr>
                      <p:cNvPr id="0" name="Object 13"/>
                      <p:cNvPicPr/>
                      <p:nvPr/>
                    </p:nvPicPr>
                    <p:blipFill>
                      <a:blip r:embed="rId4"/>
                      <a:stretch>
                        <a:fillRect/>
                      </a:stretch>
                    </p:blipFill>
                    <p:spPr>
                      <a:xfrm>
                        <a:off x="1299189" y="2980957"/>
                        <a:ext cx="1844675" cy="485775"/>
                      </a:xfrm>
                      <a:prstGeom prst="rect">
                        <a:avLst/>
                      </a:prstGeom>
                    </p:spPr>
                  </p:pic>
                </p:oleObj>
              </mc:Fallback>
            </mc:AlternateContent>
          </a:graphicData>
        </a:graphic>
      </p:graphicFrame>
      <p:graphicFrame>
        <p:nvGraphicFramePr>
          <p:cNvPr id="15" name="Object 14"/>
          <p:cNvGraphicFramePr>
            <a:graphicFrameLocks noChangeAspect="1"/>
          </p:cNvGraphicFramePr>
          <p:nvPr/>
        </p:nvGraphicFramePr>
        <p:xfrm>
          <a:off x="8017236" y="3544821"/>
          <a:ext cx="2146300" cy="2320925"/>
        </p:xfrm>
        <a:graphic>
          <a:graphicData uri="http://schemas.openxmlformats.org/presentationml/2006/ole">
            <mc:AlternateContent xmlns:mc="http://schemas.openxmlformats.org/markup-compatibility/2006">
              <mc:Choice xmlns:v="urn:schemas-microsoft-com:vml" Requires="v">
                <p:oleObj spid="_x0000_s9219" name="Equation" r:id="rId5" imgW="24079200" imgH="26212800" progId="Equation.DSMT4">
                  <p:embed/>
                </p:oleObj>
              </mc:Choice>
              <mc:Fallback>
                <p:oleObj name="Equation" r:id="rId5" imgW="24079200" imgH="26212800" progId="Equation.DSMT4">
                  <p:embed/>
                  <p:pic>
                    <p:nvPicPr>
                      <p:cNvPr id="0" name="Object 14"/>
                      <p:cNvPicPr/>
                      <p:nvPr/>
                    </p:nvPicPr>
                    <p:blipFill>
                      <a:blip r:embed="rId6"/>
                      <a:stretch>
                        <a:fillRect/>
                      </a:stretch>
                    </p:blipFill>
                    <p:spPr>
                      <a:xfrm>
                        <a:off x="8017236" y="3544821"/>
                        <a:ext cx="2146300" cy="232092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1" grpId="0"/>
    </p:bldLst>
  </p:timing>
</p:sld>
</file>

<file path=ppt/theme/theme1.xml><?xml version="1.0" encoding="utf-8"?>
<a:theme xmlns:a="http://schemas.openxmlformats.org/drawingml/2006/main" name="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704020202020204" pitchFamily="34" charset="0"/>
            <a:ea typeface="SimSun"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704020202020204" pitchFamily="34" charset="0"/>
            <a:ea typeface="SimSun"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4868</Words>
  <Application>WPS Presentation</Application>
  <PresentationFormat>Widescreen</PresentationFormat>
  <Paragraphs>188</Paragraphs>
  <Slides>18</Slides>
  <Notes>4</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29</vt:i4>
      </vt:variant>
      <vt:variant>
        <vt:lpstr>幻灯片标题</vt:lpstr>
      </vt:variant>
      <vt:variant>
        <vt:i4>18</vt:i4>
      </vt:variant>
    </vt:vector>
  </HeadingPairs>
  <TitlesOfParts>
    <vt:vector size="65" baseType="lpstr">
      <vt:lpstr>Arial</vt:lpstr>
      <vt:lpstr>SimSun</vt:lpstr>
      <vt:lpstr>Wingdings</vt:lpstr>
      <vt:lpstr>Amatic SC</vt:lpstr>
      <vt:lpstr>Thonburi</vt:lpstr>
      <vt:lpstr>Quicksand Light</vt:lpstr>
      <vt:lpstr>Arial</vt:lpstr>
      <vt:lpstr>Bebas Neue</vt:lpstr>
      <vt:lpstr>Quicksand</vt:lpstr>
      <vt:lpstr>Itim</vt:lpstr>
      <vt:lpstr>Arial Unicode MS</vt:lpstr>
      <vt:lpstr>Microsoft YaHei</vt:lpstr>
      <vt:lpstr>汉仪旗黑</vt:lpstr>
      <vt:lpstr>Calibri Light</vt:lpstr>
      <vt:lpstr>Helvetica Neue</vt:lpstr>
      <vt:lpstr>Calibri</vt:lpstr>
      <vt:lpstr>宋体-简</vt:lpstr>
      <vt:lpstr>Art_mountaineering</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Động năng </vt:lpstr>
      <vt:lpstr>Động năng là năng lượng mà vật có được do chuyển động </vt:lpstr>
      <vt:lpstr>Mối liên hệ giữa động năng và công của lực </vt:lpstr>
      <vt:lpstr>PowerPoint 演示文稿</vt:lpstr>
      <vt:lpstr>PowerPoint 演示文稿</vt:lpstr>
      <vt:lpstr>PowerPoint 演示文稿</vt:lpstr>
      <vt:lpstr>PowerPoint 演示文稿</vt:lpstr>
      <vt:lpstr>PowerPoint 演示文稿</vt:lpstr>
      <vt:lpstr>PowerPoint 演示文稿</vt:lpstr>
      <vt:lpstr>Thế năng </vt:lpstr>
      <vt:lpstr>Thế năng trọng trường là năng lượng mà vật lưu trữ được khi ở một độ cao h so với mặt đất (hoặc mốc thế năng) </vt:lpstr>
      <vt:lpstr>Mối liên hệ giữa thế năng và công của lực thế </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VnTeach.Com</dc:creator>
  <cp:keywords>VnTeach.Com</cp:keywords>
  <cp:lastModifiedBy>vietchung</cp:lastModifiedBy>
  <cp:revision>1</cp:revision>
  <dcterms:created xsi:type="dcterms:W3CDTF">2025-09-17T02:40:01Z</dcterms:created>
  <dcterms:modified xsi:type="dcterms:W3CDTF">2025-09-17T02:40:01Z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8DA233D03BDFAD19811FCA684F0637B2_42</vt:lpwstr>
  </property>
  <property fmtid="{D5CDD505-2E9C-101B-9397-08002B2CF9AE}" pid="3" name="KSOProductBuildVer">
    <vt:lpwstr>1033-12.1.22553.22553</vt:lpwstr>
  </property>
</Properties>
</file>