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675" r:id="rId4"/>
    <p:sldId id="908" r:id="rId5"/>
    <p:sldId id="916" r:id="rId7"/>
    <p:sldId id="917" r:id="rId8"/>
    <p:sldId id="900" r:id="rId9"/>
    <p:sldId id="918" r:id="rId10"/>
    <p:sldId id="919" r:id="rId11"/>
    <p:sldId id="911" r:id="rId12"/>
    <p:sldId id="920" r:id="rId13"/>
    <p:sldId id="912" r:id="rId14"/>
    <p:sldId id="894" r:id="rId15"/>
    <p:sldId id="885" r:id="rId16"/>
    <p:sldId id="921" r:id="rId17"/>
    <p:sldId id="922" r:id="rId18"/>
    <p:sldId id="914" r:id="rId19"/>
    <p:sldId id="895" r:id="rId20"/>
    <p:sldId id="92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0E261E"/>
    <a:srgbClr val="009AE5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6" autoAdjust="0"/>
    <p:restoredTop sz="93970" autoAdjust="0"/>
  </p:normalViewPr>
  <p:slideViewPr>
    <p:cSldViewPr snapToGrid="0">
      <p:cViewPr varScale="1">
        <p:scale>
          <a:sx n="70" d="100"/>
          <a:sy n="70" d="100"/>
        </p:scale>
        <p:origin x="702" y="60"/>
      </p:cViewPr>
      <p:guideLst/>
    </p:cSldViewPr>
  </p:slideViewPr>
  <p:outlineViewPr>
    <p:cViewPr>
      <p:scale>
        <a:sx n="33" d="100"/>
        <a:sy n="33" d="100"/>
      </p:scale>
      <p:origin x="0" y="-49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4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5D4B9-0F66-430E-BE66-B9ABD378C14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2256367" y="4411663"/>
            <a:ext cx="24892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3043767" y="2293938"/>
            <a:ext cx="9196917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529167" y="2133600"/>
            <a:ext cx="11231033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EB2F9E-C9E0-4EA3-A9E2-0DF5F691060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7016751" y="4076700"/>
            <a:ext cx="1862667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840567" y="4749800"/>
            <a:ext cx="9351433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4.bin"/><Relationship Id="rId3" Type="http://schemas.openxmlformats.org/officeDocument/2006/relationships/image" Target="../media/image7.w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jpeg"/><Relationship Id="rId3" Type="http://schemas.openxmlformats.org/officeDocument/2006/relationships/image" Target="../media/image10.GIF"/><Relationship Id="rId2" Type="http://schemas.openxmlformats.org/officeDocument/2006/relationships/image" Target="../media/image9.wmf"/><Relationship Id="rId1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vmlDrawing" Target="../drawings/vmlDrawing5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7.bin"/><Relationship Id="rId3" Type="http://schemas.openxmlformats.org/officeDocument/2006/relationships/image" Target="../media/image13.GIF"/><Relationship Id="rId2" Type="http://schemas.openxmlformats.org/officeDocument/2006/relationships/image" Target="../media/image12.wmf"/><Relationship Id="rId1" Type="http://schemas.openxmlformats.org/officeDocument/2006/relationships/oleObject" Target="../embeddings/oleObject6.bin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8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wmf"/><Relationship Id="rId8" Type="http://schemas.openxmlformats.org/officeDocument/2006/relationships/oleObject" Target="../embeddings/oleObject12.bin"/><Relationship Id="rId7" Type="http://schemas.openxmlformats.org/officeDocument/2006/relationships/image" Target="../media/image18.wmf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0.bin"/><Relationship Id="rId3" Type="http://schemas.openxmlformats.org/officeDocument/2006/relationships/image" Target="../media/image16.wmf"/><Relationship Id="rId2" Type="http://schemas.openxmlformats.org/officeDocument/2006/relationships/oleObject" Target="../embeddings/oleObject9.bin"/><Relationship Id="rId11" Type="http://schemas.openxmlformats.org/officeDocument/2006/relationships/vmlDrawing" Target="../drawings/vmlDrawing7.v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wmf"/><Relationship Id="rId8" Type="http://schemas.openxmlformats.org/officeDocument/2006/relationships/oleObject" Target="../embeddings/oleObject16.bin"/><Relationship Id="rId7" Type="http://schemas.openxmlformats.org/officeDocument/2006/relationships/image" Target="../media/image22.wmf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4.bin"/><Relationship Id="rId3" Type="http://schemas.openxmlformats.org/officeDocument/2006/relationships/image" Target="../media/image20.wmf"/><Relationship Id="rId2" Type="http://schemas.openxmlformats.org/officeDocument/2006/relationships/oleObject" Target="../embeddings/oleObject13.bin"/><Relationship Id="rId11" Type="http://schemas.openxmlformats.org/officeDocument/2006/relationships/vmlDrawing" Target="../drawings/vmlDrawing8.v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276;p33"/>
          <p:cNvSpPr txBox="1"/>
          <p:nvPr/>
        </p:nvSpPr>
        <p:spPr>
          <a:xfrm>
            <a:off x="152400" y="1178355"/>
            <a:ext cx="11887200" cy="292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1106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/>
            </a:pPr>
            <a:r>
              <a:rPr kumimoji="0" lang="en-US" sz="100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Itim" panose="00000500000000000000" pitchFamily="2" charset="-34"/>
                <a:cs typeface="Itim" panose="00000500000000000000" pitchFamily="2" charset="-34"/>
                <a:sym typeface="Amatic SC"/>
              </a:rPr>
              <a:t>Bài 28. Động lượng </a:t>
            </a:r>
            <a:endParaRPr kumimoji="0" lang="en-US" sz="100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Itim" panose="00000500000000000000" pitchFamily="2" charset="-34"/>
              <a:cs typeface="Itim" panose="00000500000000000000" pitchFamily="2" charset="-34"/>
              <a:sym typeface="Amatic S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3240349"/>
            <a:ext cx="11887200" cy="913819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-GB" sz="500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Động lượng </a:t>
            </a:r>
            <a:endParaRPr sz="500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3" name="Google Shape;2366;p54"/>
          <p:cNvSpPr txBox="1"/>
          <p:nvPr/>
        </p:nvSpPr>
        <p:spPr>
          <a:xfrm>
            <a:off x="4951200" y="2068175"/>
            <a:ext cx="2289600" cy="132622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/>
            <a:r>
              <a:rPr lang="en-GB" sz="10000" kern="0">
                <a:solidFill>
                  <a:schemeClr val="accent5">
                    <a:lumMod val="75000"/>
                  </a:schemeClr>
                </a:solidFill>
                <a:latin typeface="Itim" panose="00000500000000000000" pitchFamily="2" charset="-34"/>
                <a:cs typeface="Itim" panose="00000500000000000000" pitchFamily="2" charset="-34"/>
              </a:rPr>
              <a:t>01</a:t>
            </a:r>
            <a:endParaRPr lang="en-GB" sz="10000" kern="0">
              <a:solidFill>
                <a:schemeClr val="accent5">
                  <a:lumMod val="75000"/>
                </a:schemeClr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cxnSp>
        <p:nvCxnSpPr>
          <p:cNvPr id="4" name="Google Shape;2368;p54"/>
          <p:cNvCxnSpPr/>
          <p:nvPr/>
        </p:nvCxnSpPr>
        <p:spPr>
          <a:xfrm>
            <a:off x="5121400" y="4269648"/>
            <a:ext cx="1949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139284"/>
            <a:ext cx="11887200" cy="6419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Động lượng là đại lượng đặc trưng cho khả năng truyền chuyển động của một vật khi tương tác với vật khác </a:t>
            </a:r>
            <a:endParaRPr sz="3000" b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5" name="Google Shape;1794;p49"/>
          <p:cNvSpPr txBox="1"/>
          <p:nvPr/>
        </p:nvSpPr>
        <p:spPr>
          <a:xfrm>
            <a:off x="7767652" y="2389830"/>
            <a:ext cx="3747454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Viên bi nặng hơn khi va chạm sẽ đẩy viên bi A lăn đi xa hơn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=&gt; Sự truyền chuyển động phụ thuộc vào khối lượng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825910" y="2300748"/>
            <a:ext cx="3146320" cy="1122156"/>
          </a:xfrm>
          <a:prstGeom prst="line">
            <a:avLst/>
          </a:prstGeom>
          <a:ln w="38100">
            <a:solidFill>
              <a:srgbClr val="F8F8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3967150" y="3417824"/>
            <a:ext cx="2743200" cy="1455"/>
          </a:xfrm>
          <a:prstGeom prst="line">
            <a:avLst/>
          </a:prstGeom>
          <a:ln w="38100">
            <a:solidFill>
              <a:srgbClr val="F8F8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25910" y="1870930"/>
            <a:ext cx="457200" cy="457200"/>
          </a:xfrm>
          <a:prstGeom prst="ellipse">
            <a:avLst/>
          </a:prstGeom>
          <a:solidFill>
            <a:srgbClr val="0070C0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3967150" y="2956999"/>
            <a:ext cx="457200" cy="457200"/>
          </a:xfrm>
          <a:prstGeom prst="ellipse">
            <a:avLst/>
          </a:prstGeom>
          <a:solidFill>
            <a:srgbClr val="0070C0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/>
          <p:cNvCxnSpPr/>
          <p:nvPr/>
        </p:nvCxnSpPr>
        <p:spPr>
          <a:xfrm>
            <a:off x="825910" y="4814384"/>
            <a:ext cx="3146320" cy="1122156"/>
          </a:xfrm>
          <a:prstGeom prst="line">
            <a:avLst/>
          </a:prstGeom>
          <a:ln w="38100">
            <a:solidFill>
              <a:srgbClr val="F8F8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3967150" y="5931460"/>
            <a:ext cx="2743200" cy="1455"/>
          </a:xfrm>
          <a:prstGeom prst="line">
            <a:avLst/>
          </a:prstGeom>
          <a:ln w="38100">
            <a:solidFill>
              <a:srgbClr val="F8F8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744887" y="3992607"/>
            <a:ext cx="914400" cy="914400"/>
          </a:xfrm>
          <a:prstGeom prst="ellipse">
            <a:avLst/>
          </a:prstGeom>
          <a:solidFill>
            <a:srgbClr val="0070C0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3967150" y="5470635"/>
            <a:ext cx="457200" cy="457200"/>
          </a:xfrm>
          <a:prstGeom prst="ellipse">
            <a:avLst/>
          </a:prstGeom>
          <a:solidFill>
            <a:srgbClr val="0070C0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Google Shape;1794;p49"/>
          <p:cNvSpPr txBox="1"/>
          <p:nvPr/>
        </p:nvSpPr>
        <p:spPr>
          <a:xfrm>
            <a:off x="3967150" y="2307898"/>
            <a:ext cx="45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41" name="Google Shape;1794;p49"/>
          <p:cNvSpPr txBox="1"/>
          <p:nvPr/>
        </p:nvSpPr>
        <p:spPr>
          <a:xfrm>
            <a:off x="3967150" y="4733510"/>
            <a:ext cx="45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1249969" y="2177304"/>
            <a:ext cx="818636" cy="272997"/>
          </a:xfrm>
          <a:prstGeom prst="straightConnector1">
            <a:avLst/>
          </a:prstGeom>
          <a:ln w="38100">
            <a:solidFill>
              <a:srgbClr val="F8F8F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1659287" y="4597011"/>
            <a:ext cx="818636" cy="272997"/>
          </a:xfrm>
          <a:prstGeom prst="straightConnector1">
            <a:avLst/>
          </a:prstGeom>
          <a:ln w="38100">
            <a:solidFill>
              <a:srgbClr val="F8F8F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139284"/>
            <a:ext cx="11887200" cy="6419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Động lượng là đại lượng đặc trưng cho khả năng truyền chuyển động của một vật khi tương tác với vật khác </a:t>
            </a:r>
            <a:endParaRPr sz="3000" b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5" name="Google Shape;1794;p49"/>
          <p:cNvSpPr txBox="1"/>
          <p:nvPr/>
        </p:nvSpPr>
        <p:spPr>
          <a:xfrm>
            <a:off x="7767652" y="2389830"/>
            <a:ext cx="3747454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Viên bi có vận tốc lớn hơn khi va chạm sẽ đẩy viên bi A lăn đi xa hơn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=&gt; Sự truyền chuyển động phụ thuộc vào vận tốc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825910" y="2300748"/>
            <a:ext cx="3146320" cy="1122156"/>
          </a:xfrm>
          <a:prstGeom prst="line">
            <a:avLst/>
          </a:prstGeom>
          <a:ln w="38100">
            <a:solidFill>
              <a:srgbClr val="F8F8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3967150" y="3417824"/>
            <a:ext cx="2743200" cy="1455"/>
          </a:xfrm>
          <a:prstGeom prst="line">
            <a:avLst/>
          </a:prstGeom>
          <a:ln w="38100">
            <a:solidFill>
              <a:srgbClr val="F8F8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25910" y="1870930"/>
            <a:ext cx="457200" cy="457200"/>
          </a:xfrm>
          <a:prstGeom prst="ellipse">
            <a:avLst/>
          </a:prstGeom>
          <a:solidFill>
            <a:srgbClr val="0070C0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3967150" y="2956999"/>
            <a:ext cx="457200" cy="457200"/>
          </a:xfrm>
          <a:prstGeom prst="ellipse">
            <a:avLst/>
          </a:prstGeom>
          <a:solidFill>
            <a:srgbClr val="0070C0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Google Shape;1794;p49"/>
          <p:cNvSpPr txBox="1"/>
          <p:nvPr/>
        </p:nvSpPr>
        <p:spPr>
          <a:xfrm>
            <a:off x="3967150" y="2307898"/>
            <a:ext cx="45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1249969" y="2177304"/>
            <a:ext cx="818636" cy="272997"/>
          </a:xfrm>
          <a:prstGeom prst="straightConnector1">
            <a:avLst/>
          </a:prstGeom>
          <a:ln w="38100">
            <a:solidFill>
              <a:srgbClr val="F8F8F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825910" y="4411835"/>
            <a:ext cx="3146320" cy="1965663"/>
          </a:xfrm>
          <a:prstGeom prst="line">
            <a:avLst/>
          </a:prstGeom>
          <a:ln w="38100">
            <a:solidFill>
              <a:srgbClr val="F8F8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3967150" y="6372418"/>
            <a:ext cx="2743200" cy="1455"/>
          </a:xfrm>
          <a:prstGeom prst="line">
            <a:avLst/>
          </a:prstGeom>
          <a:ln w="38100">
            <a:solidFill>
              <a:srgbClr val="F8F8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25910" y="3989780"/>
            <a:ext cx="457200" cy="457200"/>
          </a:xfrm>
          <a:prstGeom prst="ellipse">
            <a:avLst/>
          </a:prstGeom>
          <a:solidFill>
            <a:srgbClr val="0070C0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3967150" y="5911593"/>
            <a:ext cx="457200" cy="457200"/>
          </a:xfrm>
          <a:prstGeom prst="ellipse">
            <a:avLst/>
          </a:prstGeom>
          <a:solidFill>
            <a:srgbClr val="0070C0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1794;p49"/>
          <p:cNvSpPr txBox="1"/>
          <p:nvPr/>
        </p:nvSpPr>
        <p:spPr>
          <a:xfrm>
            <a:off x="3967150" y="5262492"/>
            <a:ext cx="45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249969" y="4296154"/>
            <a:ext cx="726315" cy="433162"/>
          </a:xfrm>
          <a:prstGeom prst="straightConnector1">
            <a:avLst/>
          </a:prstGeom>
          <a:ln w="38100">
            <a:solidFill>
              <a:srgbClr val="F8F8F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139284"/>
            <a:ext cx="11887200" cy="6419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Động lượng của một vật có khối lượng m đang chuyển động với vận tốc v là đại lượng được xác định bởi công thức: </a:t>
            </a:r>
            <a:endParaRPr sz="3000" b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5207793" y="1542370"/>
          <a:ext cx="1776413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1" imgW="12192000" imgH="5791200" progId="Equation.DSMT4">
                  <p:embed/>
                </p:oleObj>
              </mc:Choice>
              <mc:Fallback>
                <p:oleObj name="Equation" r:id="rId1" imgW="12192000" imgH="5791200" progId="Equation.DSMT4">
                  <p:embed/>
                  <p:pic>
                    <p:nvPicPr>
                      <p:cNvPr id="0" name="Object 2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07793" y="1542370"/>
                        <a:ext cx="1776413" cy="836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Google Shape;1794;p49"/>
          <p:cNvSpPr txBox="1"/>
          <p:nvPr/>
        </p:nvSpPr>
        <p:spPr>
          <a:xfrm>
            <a:off x="4616237" y="2819140"/>
            <a:ext cx="3580706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p: động lượng (kg.m/s)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m: khối lượng (kg)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v: vận tốc (m/s)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1. Xe tải và xe ô tô chạy cùng vận tốc. Em hãy cho biết động lượng của xe tải hay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xe ô tô lớn hơn?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oogle Shape;1794;p49"/>
          <p:cNvSpPr txBox="1"/>
          <p:nvPr/>
        </p:nvSpPr>
        <p:spPr>
          <a:xfrm>
            <a:off x="5147915" y="4408464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5" name="Google Shape;1794;p49"/>
          <p:cNvSpPr txBox="1"/>
          <p:nvPr/>
        </p:nvSpPr>
        <p:spPr>
          <a:xfrm>
            <a:off x="152400" y="4804306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Động lượng của xe tải lớn hơn vì khối lượng của xe tải lớn hơn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797" y="1242343"/>
            <a:ext cx="6650406" cy="2743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2. Trong trường hợp sút phạt 11 m, tại sao thủ môn khó bắt bóng hơn nếu bóng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có động lượng tăng?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oogle Shape;1794;p49"/>
          <p:cNvSpPr txBox="1"/>
          <p:nvPr/>
        </p:nvSpPr>
        <p:spPr>
          <a:xfrm>
            <a:off x="5147915" y="4408464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5" name="Google Shape;1794;p49"/>
          <p:cNvSpPr txBox="1"/>
          <p:nvPr/>
        </p:nvSpPr>
        <p:spPr>
          <a:xfrm>
            <a:off x="152400" y="4804306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Vì khi động lượng của quả bóng tăng tức là vận tốc của bóng khi tới tay thủ môn tăng. Do vậy thủ môn khó bắt bóng hơn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516" y="1411742"/>
            <a:ext cx="2884967" cy="2743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3. Vẽ vectơ động lượng của một quả bóng tennis vừa bật ra khỏi mặt vợt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042" y="1091870"/>
            <a:ext cx="5627915" cy="3657600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8091321" y="4283690"/>
            <a:ext cx="938379" cy="105575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9117525" y="5011533"/>
          <a:ext cx="271462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3" imgW="3048000" imgH="5791200" progId="Equation.DSMT4">
                  <p:embed/>
                </p:oleObj>
              </mc:Choice>
              <mc:Fallback>
                <p:oleObj name="Equation" r:id="rId3" imgW="3048000" imgH="5791200" progId="Equation.DSMT4">
                  <p:embed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17525" y="5011533"/>
                        <a:ext cx="271462" cy="512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4. Tính độ lớn động lượng trong các trường hợp sau: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a) Một xe buýt khối lượng 3 tấn đang chuyển động với tốc độ 72 km/h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b) Một hòn đá khối lượng 500 g chuyển động với tốc độ 10 m/s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c) Một electron chuyển động với tốc độ 2.10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7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m/s. Biết khối lượng electron bằng 9,1.10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-31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kg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794;p49"/>
          <p:cNvSpPr txBox="1"/>
          <p:nvPr/>
        </p:nvSpPr>
        <p:spPr>
          <a:xfrm>
            <a:off x="152400" y="2637579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Động lượng: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 algn="ctr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p = m.v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7" name="Google Shape;1794;p49"/>
          <p:cNvSpPr txBox="1"/>
          <p:nvPr/>
        </p:nvSpPr>
        <p:spPr>
          <a:xfrm>
            <a:off x="2176115" y="2241737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8" name="Google Shape;1794;p49"/>
          <p:cNvSpPr txBox="1"/>
          <p:nvPr/>
        </p:nvSpPr>
        <p:spPr>
          <a:xfrm>
            <a:off x="8119715" y="2241737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0" name="Google Shape;1794;p49"/>
          <p:cNvSpPr txBox="1"/>
          <p:nvPr/>
        </p:nvSpPr>
        <p:spPr>
          <a:xfrm>
            <a:off x="6096000" y="2637579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a) Động lượng của xe buýt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p = m.v = 3000.20 = 60000 (kg.m/s)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b) Động lượng của hòn đá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p = m.v = 0,5.10 = 5 (kg.m/s)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c) Động lượng của electron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p = m.v = 9,1.10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-31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.2.10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7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            = 1,82.10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-23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(kg.m/s)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5. Một xe tải có khối lượng 1,5 tấn chuyển động với tốc độ 36 km/h và một ô tô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có khối lượng 750 kg chuyển động ngược chiều với tốc độ 54 km/h. So sánh động lượng của hai xe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794;p49"/>
          <p:cNvSpPr txBox="1"/>
          <p:nvPr/>
        </p:nvSpPr>
        <p:spPr>
          <a:xfrm>
            <a:off x="152400" y="2067307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Động lượng: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 algn="ctr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p = m.v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7" name="Google Shape;1794;p49"/>
          <p:cNvSpPr txBox="1"/>
          <p:nvPr/>
        </p:nvSpPr>
        <p:spPr>
          <a:xfrm>
            <a:off x="2176115" y="1671465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8" name="Google Shape;1794;p49"/>
          <p:cNvSpPr txBox="1"/>
          <p:nvPr/>
        </p:nvSpPr>
        <p:spPr>
          <a:xfrm>
            <a:off x="8119715" y="1671465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0" name="Google Shape;1794;p49"/>
          <p:cNvSpPr txBox="1"/>
          <p:nvPr/>
        </p:nvSpPr>
        <p:spPr>
          <a:xfrm>
            <a:off x="6096000" y="2067307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Động lượng của xe tải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p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1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= m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1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.v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1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= 1500.10 = 15000 (kg.m/s)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Động lượng của xe ô tô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p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= m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.v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= 750.15 = 11250 (kg.m/s)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Vậy động lượng của xe tải &gt; xe ô tô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6. Tại sao đơn vị của động lượng còn có thể viết là N.s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794;p49"/>
          <p:cNvSpPr txBox="1"/>
          <p:nvPr/>
        </p:nvSpPr>
        <p:spPr>
          <a:xfrm>
            <a:off x="152400" y="1757062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Định luật 2 Newton: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7" name="Google Shape;1794;p49"/>
          <p:cNvSpPr txBox="1"/>
          <p:nvPr/>
        </p:nvSpPr>
        <p:spPr>
          <a:xfrm>
            <a:off x="2176115" y="1361220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8" name="Google Shape;1794;p49"/>
          <p:cNvSpPr txBox="1"/>
          <p:nvPr/>
        </p:nvSpPr>
        <p:spPr>
          <a:xfrm>
            <a:off x="8119715" y="1361220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0" name="Google Shape;1794;p49"/>
          <p:cNvSpPr txBox="1"/>
          <p:nvPr/>
        </p:nvSpPr>
        <p:spPr>
          <a:xfrm>
            <a:off x="6096000" y="1757062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Đơn vị của động lượng là: kg.m/s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Mà ta có: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=&gt; Đơn vị động lượng còn có thể viết là N.s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233948" y="2422254"/>
          <a:ext cx="3255962" cy="264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2" imgW="36576000" imgH="29870400" progId="Equation.DSMT4">
                  <p:embed/>
                </p:oleObj>
              </mc:Choice>
              <mc:Fallback>
                <p:oleObj name="Equation" r:id="rId2" imgW="36576000" imgH="29870400" progId="Equation.DSMT4">
                  <p:embed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33948" y="2422254"/>
                        <a:ext cx="3255962" cy="2644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7034212" y="2694702"/>
          <a:ext cx="40671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4" imgW="45720000" imgH="5486400" progId="Equation.DSMT4">
                  <p:embed/>
                </p:oleObj>
              </mc:Choice>
              <mc:Fallback>
                <p:oleObj name="Equation" r:id="rId4" imgW="45720000" imgH="5486400" progId="Equation.DSMT4">
                  <p:embed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34212" y="2694702"/>
                        <a:ext cx="4067175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3240349"/>
            <a:ext cx="11887200" cy="913819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-GB" sz="500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Xung lượng của lực </a:t>
            </a:r>
            <a:endParaRPr sz="500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3" name="Google Shape;2366;p54"/>
          <p:cNvSpPr txBox="1"/>
          <p:nvPr/>
        </p:nvSpPr>
        <p:spPr>
          <a:xfrm>
            <a:off x="4951200" y="1970203"/>
            <a:ext cx="2289600" cy="132622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/>
            <a:r>
              <a:rPr lang="en-GB" sz="10000" kern="0">
                <a:solidFill>
                  <a:schemeClr val="accent5">
                    <a:lumMod val="75000"/>
                  </a:schemeClr>
                </a:solidFill>
                <a:latin typeface="Itim" panose="00000500000000000000" pitchFamily="2" charset="-34"/>
                <a:cs typeface="Itim" panose="00000500000000000000" pitchFamily="2" charset="-34"/>
              </a:rPr>
              <a:t>02</a:t>
            </a:r>
            <a:endParaRPr lang="en-GB" sz="10000" kern="0">
              <a:solidFill>
                <a:schemeClr val="accent5">
                  <a:lumMod val="75000"/>
                </a:schemeClr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cxnSp>
        <p:nvCxnSpPr>
          <p:cNvPr id="4" name="Google Shape;2368;p54"/>
          <p:cNvCxnSpPr/>
          <p:nvPr/>
        </p:nvCxnSpPr>
        <p:spPr>
          <a:xfrm>
            <a:off x="5121400" y="4269648"/>
            <a:ext cx="1949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139284"/>
            <a:ext cx="11887200" cy="6419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Xung lượng của lực là đại lượng đặc trưng cho lực tác dụng lên vật trong khoảng thời gian ngắn </a:t>
            </a:r>
            <a:r>
              <a:rPr lang="el-GR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Δ</a:t>
            </a:r>
            <a: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t </a:t>
            </a:r>
            <a:endParaRPr sz="3000" b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5540375" y="1283153"/>
          <a:ext cx="111125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1" imgW="7620000" imgH="4876800" progId="Equation.DSMT4">
                  <p:embed/>
                </p:oleObj>
              </mc:Choice>
              <mc:Fallback>
                <p:oleObj name="Equation" r:id="rId1" imgW="7620000" imgH="48768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540375" y="1283153"/>
                        <a:ext cx="1111250" cy="704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6" name="Picture 2" descr="043 - FF Starter - Unit 7 P2 | English - Quizizz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896" y="2489920"/>
            <a:ext cx="48768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rtoon funny boy playing tennis 5113018 Vector Art at Vecteez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1199" y="2489920"/>
            <a:ext cx="2937087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139284"/>
            <a:ext cx="11887200" cy="6419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Liên hệ giữa xung lượng của lực và độ biến thiên động lượng </a:t>
            </a:r>
            <a:endParaRPr sz="3000" b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4273550" y="919617"/>
          <a:ext cx="3644900" cy="176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1" imgW="24993600" imgH="12192000" progId="Equation.DSMT4">
                  <p:embed/>
                </p:oleObj>
              </mc:Choice>
              <mc:Fallback>
                <p:oleObj name="Equation" r:id="rId1" imgW="24993600" imgH="121920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73550" y="919617"/>
                        <a:ext cx="3644900" cy="1762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0" name="Picture 2" descr="Action verbs+ can | Baambooz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999373"/>
            <a:ext cx="4876799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794;p49"/>
          <p:cNvSpPr txBox="1"/>
          <p:nvPr/>
        </p:nvSpPr>
        <p:spPr>
          <a:xfrm>
            <a:off x="5029198" y="2848060"/>
            <a:ext cx="7010401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Quả bóng đang lăn với vận tốc v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1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, sau khi tác dụng lực F trong khoảng thời gian </a:t>
            </a:r>
            <a:r>
              <a:rPr lang="el-GR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Δ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t thì vận tốc của nó thay đổi thành v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, ta có: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=&gt; Xung lượng của lực tác dụng lên vật trong một khoảng thời gian bằng độ biến thiên động lượng của vật trong khoảng thời gian đó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470650" y="4098925"/>
          <a:ext cx="4124325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4" imgW="46329600" imgH="16459200" progId="Equation.DSMT4">
                  <p:embed/>
                </p:oleObj>
              </mc:Choice>
              <mc:Fallback>
                <p:oleObj name="Equation" r:id="rId4" imgW="46329600" imgH="164592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70650" y="4098925"/>
                        <a:ext cx="4124325" cy="1457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139284"/>
            <a:ext cx="11887200" cy="6419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Dạng tổng quát của định luật 2 Newton: Tổng hợp lực tác dụng lên vật bằng tốc độ thay đổi động lượng của vật </a:t>
            </a:r>
            <a:endParaRPr sz="3000" b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873500" y="1362757"/>
          <a:ext cx="4445000" cy="149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1" imgW="30480000" imgH="10363200" progId="Equation.DSMT4">
                  <p:embed/>
                </p:oleObj>
              </mc:Choice>
              <mc:Fallback>
                <p:oleObj name="Equation" r:id="rId1" imgW="30480000" imgH="103632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73500" y="1362757"/>
                        <a:ext cx="4445000" cy="1497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7. Một quả bóng khối lượng m đang bay ngang với tốc độ v thì đập vào một bức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tường và bật trở lại với cùng tốc độ. Xung lượng của lực gây ra bởi tường lên quả bóng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	A. mv 			B. –mv 		C. 2mv 		D. -2mv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oogle Shape;1794;p49"/>
          <p:cNvSpPr txBox="1"/>
          <p:nvPr/>
        </p:nvSpPr>
        <p:spPr>
          <a:xfrm>
            <a:off x="152400" y="4352083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Xung lượng của lực: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4" name="Google Shape;1794;p49"/>
          <p:cNvSpPr txBox="1"/>
          <p:nvPr/>
        </p:nvSpPr>
        <p:spPr>
          <a:xfrm>
            <a:off x="2176115" y="3956241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5" name="Google Shape;1794;p49"/>
          <p:cNvSpPr txBox="1"/>
          <p:nvPr/>
        </p:nvSpPr>
        <p:spPr>
          <a:xfrm>
            <a:off x="8119715" y="2068446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6" name="Google Shape;1794;p49"/>
          <p:cNvSpPr txBox="1"/>
          <p:nvPr/>
        </p:nvSpPr>
        <p:spPr>
          <a:xfrm>
            <a:off x="6096000" y="2464288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Chọn chiều dương là chiều quả bóng bay vào tường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Xung lượng của lực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Đáp án D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1838482" y="4994035"/>
          <a:ext cx="2411413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2" imgW="27127200" imgH="11582400" progId="Equation.DSMT4">
                  <p:embed/>
                </p:oleObj>
              </mc:Choice>
              <mc:Fallback>
                <p:oleObj name="Equation" r:id="rId2" imgW="27127200" imgH="11582400" progId="Equation.DSMT4">
                  <p:embed/>
                  <p:pic>
                    <p:nvPicPr>
                      <p:cNvPr id="0" name="Object 1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38482" y="4994035"/>
                        <a:ext cx="2411413" cy="1025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7102475" y="3742352"/>
          <a:ext cx="393065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4" imgW="44196000" imgH="10972800" progId="Equation.DSMT4">
                  <p:embed/>
                </p:oleObj>
              </mc:Choice>
              <mc:Fallback>
                <p:oleObj name="Equation" r:id="rId4" imgW="44196000" imgH="10972800" progId="Equation.DSMT4">
                  <p:embed/>
                  <p:pic>
                    <p:nvPicPr>
                      <p:cNvPr id="0" name="Object 1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02475" y="3742352"/>
                        <a:ext cx="3930650" cy="971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Straight Connector 20"/>
          <p:cNvCxnSpPr/>
          <p:nvPr/>
        </p:nvCxnSpPr>
        <p:spPr>
          <a:xfrm>
            <a:off x="4478428" y="1983381"/>
            <a:ext cx="0" cy="1861032"/>
          </a:xfrm>
          <a:prstGeom prst="line">
            <a:avLst/>
          </a:prstGeom>
          <a:ln w="38100">
            <a:solidFill>
              <a:srgbClr val="F8F8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044189" y="2606175"/>
            <a:ext cx="457200" cy="457200"/>
          </a:xfrm>
          <a:prstGeom prst="ellipse">
            <a:avLst/>
          </a:prstGeom>
          <a:solidFill>
            <a:srgbClr val="0070C0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3501389" y="2834500"/>
            <a:ext cx="977039" cy="0"/>
          </a:xfrm>
          <a:prstGeom prst="straightConnector1">
            <a:avLst/>
          </a:prstGeom>
          <a:ln w="38100">
            <a:solidFill>
              <a:srgbClr val="F8F8F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Object 26"/>
          <p:cNvGraphicFramePr>
            <a:graphicFrameLocks noChangeAspect="1"/>
          </p:cNvGraphicFramePr>
          <p:nvPr/>
        </p:nvGraphicFramePr>
        <p:xfrm>
          <a:off x="4003675" y="2203450"/>
          <a:ext cx="381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Equation" r:id="rId6" imgW="4267200" imgH="6096000" progId="Equation.DSMT4">
                  <p:embed/>
                </p:oleObj>
              </mc:Choice>
              <mc:Fallback>
                <p:oleObj name="Equation" r:id="rId6" imgW="4267200" imgH="6096000" progId="Equation.DSMT4">
                  <p:embed/>
                  <p:pic>
                    <p:nvPicPr>
                      <p:cNvPr id="0" name="Object 2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03675" y="2203450"/>
                        <a:ext cx="381000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1" name="Straight Arrow Connector 30"/>
          <p:cNvCxnSpPr/>
          <p:nvPr/>
        </p:nvCxnSpPr>
        <p:spPr>
          <a:xfrm flipH="1">
            <a:off x="3824748" y="3063375"/>
            <a:ext cx="653680" cy="0"/>
          </a:xfrm>
          <a:prstGeom prst="straightConnector1">
            <a:avLst/>
          </a:prstGeom>
          <a:ln w="38100">
            <a:solidFill>
              <a:srgbClr val="F8F8F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3947594" y="3125610"/>
          <a:ext cx="40798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Equation" r:id="rId8" imgW="4572000" imgH="6096000" progId="Equation.DSMT4">
                  <p:embed/>
                </p:oleObj>
              </mc:Choice>
              <mc:Fallback>
                <p:oleObj name="Equation" r:id="rId8" imgW="4572000" imgH="6096000" progId="Equation.DSMT4">
                  <p:embed/>
                  <p:pic>
                    <p:nvPicPr>
                      <p:cNvPr id="0" name="Object 3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47594" y="3125610"/>
                        <a:ext cx="407987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8. Một quả bóng gôn có khối lượng 46 g đang nằm yên, sau một cú đánh quả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bóng bay lên với tốc độ 70 m/s. Tính xung lượng của lực và độ lớn trung bình của lực tác dụng vào quả bóng. Biết thời gian tác dụng là 0,5.10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-3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s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oogle Shape;1794;p49"/>
          <p:cNvSpPr txBox="1"/>
          <p:nvPr/>
        </p:nvSpPr>
        <p:spPr>
          <a:xfrm>
            <a:off x="152400" y="2049748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Xung lượng của lực: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Định luật 2 Newton dạng tổng quát: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4" name="Google Shape;1794;p49"/>
          <p:cNvSpPr txBox="1"/>
          <p:nvPr/>
        </p:nvSpPr>
        <p:spPr>
          <a:xfrm>
            <a:off x="2176115" y="1653906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5" name="Google Shape;1794;p49"/>
          <p:cNvSpPr txBox="1"/>
          <p:nvPr/>
        </p:nvSpPr>
        <p:spPr>
          <a:xfrm>
            <a:off x="8119715" y="1653906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6" name="Google Shape;1794;p49"/>
          <p:cNvSpPr txBox="1"/>
          <p:nvPr/>
        </p:nvSpPr>
        <p:spPr>
          <a:xfrm>
            <a:off x="6096000" y="2049748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Xung lượng của lực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Định luật 2 Newton dạng tổng quát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6344444" y="2664712"/>
          <a:ext cx="544671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2" imgW="61264800" imgH="6096000" progId="Equation.DSMT4">
                  <p:embed/>
                </p:oleObj>
              </mc:Choice>
              <mc:Fallback>
                <p:oleObj name="Equation" r:id="rId2" imgW="61264800" imgH="6096000" progId="Equation.DSMT4">
                  <p:embed/>
                  <p:pic>
                    <p:nvPicPr>
                      <p:cNvPr id="0" name="Object 2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344444" y="2664712"/>
                        <a:ext cx="5446712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/>
        </p:nvGraphicFramePr>
        <p:xfrm>
          <a:off x="1750393" y="2691700"/>
          <a:ext cx="222250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4" imgW="24993600" imgH="11582400" progId="Equation.DSMT4">
                  <p:embed/>
                </p:oleObj>
              </mc:Choice>
              <mc:Fallback>
                <p:oleObj name="Equation" r:id="rId4" imgW="24993600" imgH="11582400" progId="Equation.DSMT4">
                  <p:embed/>
                  <p:pic>
                    <p:nvPicPr>
                      <p:cNvPr id="0" name="Object 2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50393" y="2691700"/>
                        <a:ext cx="2222500" cy="1025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/>
          <p:cNvGraphicFramePr>
            <a:graphicFrameLocks noChangeAspect="1"/>
          </p:cNvGraphicFramePr>
          <p:nvPr/>
        </p:nvGraphicFramePr>
        <p:xfrm>
          <a:off x="1736105" y="4694819"/>
          <a:ext cx="2251075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6" imgW="25298400" imgH="9448800" progId="Equation.DSMT4">
                  <p:embed/>
                </p:oleObj>
              </mc:Choice>
              <mc:Fallback>
                <p:oleObj name="Equation" r:id="rId6" imgW="25298400" imgH="9448800" progId="Equation.DSMT4">
                  <p:embed/>
                  <p:pic>
                    <p:nvPicPr>
                      <p:cNvPr id="0" name="Object 2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36105" y="4694819"/>
                        <a:ext cx="2251075" cy="836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/>
          <p:cNvGraphicFramePr>
            <a:graphicFrameLocks noChangeAspect="1"/>
          </p:cNvGraphicFramePr>
          <p:nvPr/>
        </p:nvGraphicFramePr>
        <p:xfrm>
          <a:off x="6437312" y="3831219"/>
          <a:ext cx="52609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8" imgW="59131200" imgH="9753600" progId="Equation.DSMT4">
                  <p:embed/>
                </p:oleObj>
              </mc:Choice>
              <mc:Fallback>
                <p:oleObj name="Equation" r:id="rId8" imgW="59131200" imgH="9753600" progId="Equation.DSMT4">
                  <p:embed/>
                  <p:pic>
                    <p:nvPicPr>
                      <p:cNvPr id="0" name="Object 3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437312" y="3831219"/>
                        <a:ext cx="5260975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9. Hai vật có khối lượng lần lượt là m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1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= 1 kg và m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= 2 kg, chuyển động với vận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tốc có độ lớn lần lượt là v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1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= 3 m/s và v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= 2 m/s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	a) Tính động lượng của mỗi vật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	b) Vật nào khó dừng lại hơn? Vì sao?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1794;p49"/>
          <p:cNvSpPr txBox="1"/>
          <p:nvPr/>
        </p:nvSpPr>
        <p:spPr>
          <a:xfrm>
            <a:off x="152400" y="2275891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a) Động lượng: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 algn="ctr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p = m.v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b) Vật có động lượng càng lớn thì càng khó dừng lại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7" name="Google Shape;1794;p49"/>
          <p:cNvSpPr txBox="1"/>
          <p:nvPr/>
        </p:nvSpPr>
        <p:spPr>
          <a:xfrm>
            <a:off x="2176115" y="1880049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8" name="Google Shape;1794;p49"/>
          <p:cNvSpPr txBox="1"/>
          <p:nvPr/>
        </p:nvSpPr>
        <p:spPr>
          <a:xfrm>
            <a:off x="8119715" y="1880049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0" name="Google Shape;1794;p49"/>
          <p:cNvSpPr txBox="1"/>
          <p:nvPr/>
        </p:nvSpPr>
        <p:spPr>
          <a:xfrm>
            <a:off x="6096000" y="2275891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a) Động lượng của vật 1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p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1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= m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1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.v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1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= 1.3 = 3 (kg.m/s)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Động lượng của vật 2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p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= m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.v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= 2.2 = 4 (kg.m/s)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b) Vật 2 khó dừng lại hơn do có động lượng lớn hơn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18" grpId="0"/>
      <p:bldP spid="20" grpId="0"/>
    </p:bldLst>
  </p:timing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70402020202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704020202020204" pitchFamily="34" charset="0"/>
            <a:ea typeface="SimSun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4145</Words>
  <Application>WPS Presentation</Application>
  <PresentationFormat>Widescreen</PresentationFormat>
  <Paragraphs>170</Paragraphs>
  <Slides>18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16</vt:i4>
      </vt:variant>
      <vt:variant>
        <vt:lpstr>幻灯片标题</vt:lpstr>
      </vt:variant>
      <vt:variant>
        <vt:i4>18</vt:i4>
      </vt:variant>
    </vt:vector>
  </HeadingPairs>
  <TitlesOfParts>
    <vt:vector size="52" baseType="lpstr">
      <vt:lpstr>Arial</vt:lpstr>
      <vt:lpstr>SimSun</vt:lpstr>
      <vt:lpstr>Wingdings</vt:lpstr>
      <vt:lpstr>Amatic SC</vt:lpstr>
      <vt:lpstr>Thonburi</vt:lpstr>
      <vt:lpstr>Quicksand Light</vt:lpstr>
      <vt:lpstr>Arial</vt:lpstr>
      <vt:lpstr>Bebas Neue</vt:lpstr>
      <vt:lpstr>Quicksand</vt:lpstr>
      <vt:lpstr>Itim</vt:lpstr>
      <vt:lpstr>Arial Unicode MS</vt:lpstr>
      <vt:lpstr>Microsoft YaHei</vt:lpstr>
      <vt:lpstr>汉仪旗黑</vt:lpstr>
      <vt:lpstr>Calibri Light</vt:lpstr>
      <vt:lpstr>Helvetica Neue</vt:lpstr>
      <vt:lpstr>Calibri</vt:lpstr>
      <vt:lpstr>宋体-简</vt:lpstr>
      <vt:lpstr>Art_mountaineering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Động lượng </vt:lpstr>
      <vt:lpstr>Động lượng là đại lượng đặc trưng cho khả năng truyền chuyển động của một vật khi tương tác với vật khác </vt:lpstr>
      <vt:lpstr>Động lượng là đại lượng đặc trưng cho khả năng truyền chuyển động của một vật khi tương tác với vật khác </vt:lpstr>
      <vt:lpstr>Động lượng của một vật có khối lượng m đang chuyển động với vận tốc v là đại lượng được xác định bởi công thức: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Xung lượng của lực </vt:lpstr>
      <vt:lpstr>Xung lượng của lực là đại lượng đặc trưng cho lực tác dụng lên vật trong khoảng thời gian ngắn Δt </vt:lpstr>
      <vt:lpstr>Liên hệ giữa xung lượng của lực và độ biến thiên động lượng </vt:lpstr>
      <vt:lpstr>Dạng tổng quát của định luật 2 Newton: Tổng hợp lực tác dụng lên vật bằng tốc độ thay đổi động lượng của vật 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VnTeach.Com</dc:creator>
  <cp:keywords>VnTeach.Com</cp:keywords>
  <cp:lastModifiedBy>vietchung</cp:lastModifiedBy>
  <cp:revision>1</cp:revision>
  <dcterms:created xsi:type="dcterms:W3CDTF">2025-09-17T02:52:15Z</dcterms:created>
  <dcterms:modified xsi:type="dcterms:W3CDTF">2025-09-17T02:52:15Z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96646A86A1C0DB0E5F22CA6823ACDC7F_42</vt:lpwstr>
  </property>
  <property fmtid="{D5CDD505-2E9C-101B-9397-08002B2CF9AE}" pid="3" name="KSOProductBuildVer">
    <vt:lpwstr>1033-12.1.22553.22553</vt:lpwstr>
  </property>
</Properties>
</file>