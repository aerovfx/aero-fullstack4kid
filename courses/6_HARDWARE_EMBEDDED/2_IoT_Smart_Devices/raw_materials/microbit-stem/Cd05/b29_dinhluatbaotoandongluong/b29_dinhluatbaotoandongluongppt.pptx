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908" r:id="rId5"/>
    <p:sldId id="916" r:id="rId7"/>
    <p:sldId id="900" r:id="rId8"/>
    <p:sldId id="894" r:id="rId9"/>
    <p:sldId id="885" r:id="rId10"/>
    <p:sldId id="924" r:id="rId11"/>
    <p:sldId id="914" r:id="rId12"/>
    <p:sldId id="925" r:id="rId13"/>
    <p:sldId id="926" r:id="rId14"/>
    <p:sldId id="92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7" autoAdjust="0"/>
    <p:restoredTop sz="93970" autoAdjust="0"/>
  </p:normalViewPr>
  <p:slideViewPr>
    <p:cSldViewPr snapToGrid="0">
      <p:cViewPr varScale="1">
        <p:scale>
          <a:sx n="70" d="100"/>
          <a:sy n="70" d="100"/>
        </p:scale>
        <p:origin x="648" y="60"/>
      </p:cViewPr>
      <p:guideLst/>
    </p:cSldViewPr>
  </p:slideViewPr>
  <p:outlineViewPr>
    <p:cViewPr>
      <p:scale>
        <a:sx n="33" d="100"/>
        <a:sy n="33" d="100"/>
      </p:scale>
      <p:origin x="0" y="-490"/>
    </p:cViewPr>
  </p:outlineViewPr>
  <p:notesTextViewPr>
    <p:cViewPr>
      <p:scale>
        <a:sx n="3" d="2"/>
        <a:sy n="3" d="2"/>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wmf"/><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image" Target="../media/image5.wmf"/><Relationship Id="rId8" Type="http://schemas.openxmlformats.org/officeDocument/2006/relationships/oleObject" Target="../embeddings/oleObject4.bin"/><Relationship Id="rId7" Type="http://schemas.openxmlformats.org/officeDocument/2006/relationships/image" Target="../media/image4.wmf"/><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3" Type="http://schemas.openxmlformats.org/officeDocument/2006/relationships/image" Target="../media/image2.png"/><Relationship Id="rId20" Type="http://schemas.openxmlformats.org/officeDocument/2006/relationships/notesSlide" Target="../notesSlides/notesSlide2.xml"/><Relationship Id="rId2" Type="http://schemas.openxmlformats.org/officeDocument/2006/relationships/image" Target="../media/image1.wmf"/><Relationship Id="rId19" Type="http://schemas.openxmlformats.org/officeDocument/2006/relationships/vmlDrawing" Target="../drawings/vmlDrawing1.vml"/><Relationship Id="rId18" Type="http://schemas.openxmlformats.org/officeDocument/2006/relationships/slideLayout" Target="../slideLayouts/slideLayout2.xml"/><Relationship Id="rId17" Type="http://schemas.openxmlformats.org/officeDocument/2006/relationships/image" Target="../media/image9.wmf"/><Relationship Id="rId16" Type="http://schemas.openxmlformats.org/officeDocument/2006/relationships/oleObject" Target="../embeddings/oleObject8.bin"/><Relationship Id="rId15" Type="http://schemas.openxmlformats.org/officeDocument/2006/relationships/image" Target="../media/image8.wmf"/><Relationship Id="rId14" Type="http://schemas.openxmlformats.org/officeDocument/2006/relationships/oleObject" Target="../embeddings/oleObject7.bin"/><Relationship Id="rId13" Type="http://schemas.openxmlformats.org/officeDocument/2006/relationships/image" Target="../media/image7.wmf"/><Relationship Id="rId12" Type="http://schemas.openxmlformats.org/officeDocument/2006/relationships/oleObject" Target="../embeddings/oleObject6.bin"/><Relationship Id="rId11" Type="http://schemas.openxmlformats.org/officeDocument/2006/relationships/image" Target="../media/image6.wmf"/><Relationship Id="rId10" Type="http://schemas.openxmlformats.org/officeDocument/2006/relationships/oleObject" Target="../embeddings/oleObject5.bin"/><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11.wmf"/><Relationship Id="rId6" Type="http://schemas.openxmlformats.org/officeDocument/2006/relationships/oleObject" Target="../embeddings/oleObject11.bin"/><Relationship Id="rId5" Type="http://schemas.openxmlformats.org/officeDocument/2006/relationships/image" Target="../media/image7.wmf"/><Relationship Id="rId4" Type="http://schemas.openxmlformats.org/officeDocument/2006/relationships/oleObject" Target="../embeddings/oleObject10.bin"/><Relationship Id="rId3" Type="http://schemas.openxmlformats.org/officeDocument/2006/relationships/image" Target="../media/image6.wmf"/><Relationship Id="rId2" Type="http://schemas.openxmlformats.org/officeDocument/2006/relationships/oleObject" Target="../embeddings/oleObject9.bin"/><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5.GIF"/></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wmf"/><Relationship Id="rId7" Type="http://schemas.openxmlformats.org/officeDocument/2006/relationships/oleObject" Target="../embeddings/oleObject14.bin"/><Relationship Id="rId6" Type="http://schemas.openxmlformats.org/officeDocument/2006/relationships/image" Target="../media/image18.wmf"/><Relationship Id="rId5" Type="http://schemas.openxmlformats.org/officeDocument/2006/relationships/oleObject" Target="../embeddings/oleObject13.bin"/><Relationship Id="rId4" Type="http://schemas.openxmlformats.org/officeDocument/2006/relationships/image" Target="../media/image17.wmf"/><Relationship Id="rId3" Type="http://schemas.openxmlformats.org/officeDocument/2006/relationships/oleObject" Target="../embeddings/oleObject12.bin"/><Relationship Id="rId2" Type="http://schemas.openxmlformats.org/officeDocument/2006/relationships/image" Target="../media/image16.png"/><Relationship Id="rId10" Type="http://schemas.openxmlformats.org/officeDocument/2006/relationships/vmlDrawing" Target="../drawings/vmlDrawing3.v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png"/><Relationship Id="rId7" Type="http://schemas.openxmlformats.org/officeDocument/2006/relationships/image" Target="../media/image20.wmf"/><Relationship Id="rId6" Type="http://schemas.openxmlformats.org/officeDocument/2006/relationships/oleObject" Target="../embeddings/oleObject17.bin"/><Relationship Id="rId5" Type="http://schemas.openxmlformats.org/officeDocument/2006/relationships/image" Target="../media/image18.wmf"/><Relationship Id="rId4" Type="http://schemas.openxmlformats.org/officeDocument/2006/relationships/oleObject" Target="../embeddings/oleObject16.bin"/><Relationship Id="rId3" Type="http://schemas.openxmlformats.org/officeDocument/2006/relationships/image" Target="../media/image17.wmf"/><Relationship Id="rId2" Type="http://schemas.openxmlformats.org/officeDocument/2006/relationships/oleObject" Target="../embeddings/oleObject15.bin"/><Relationship Id="rId10" Type="http://schemas.openxmlformats.org/officeDocument/2006/relationships/vmlDrawing" Target="../drawings/vmlDrawing4.v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17.wmf"/><Relationship Id="rId2" Type="http://schemas.openxmlformats.org/officeDocument/2006/relationships/oleObject" Target="../embeddings/oleObject18.bin"/><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GIF"/><Relationship Id="rId2" Type="http://schemas.openxmlformats.org/officeDocument/2006/relationships/image" Target="../media/image22.pn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178355"/>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rPr>
              <a:t>Bài 29. Định luật bảo toàn động lượng </a:t>
            </a:r>
            <a:endPar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Định luật bảo toàn động lượng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6817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Hệ kín (hay hệ cô lập) là hệ gồm nhiều vật tác dụng lẫn nhau khi không có ngoại lực tác dụng vào hệ hoặc khi các ngoại lực cân bằng nhau. Trong một hệ kín, chỉ có các nội lực (các lực tác dụng giữa các vật trong hệ) tương tác giữa các vật </a:t>
            </a:r>
            <a:endParaRPr sz="3000" b="0">
              <a:solidFill>
                <a:srgbClr val="FFFF00"/>
              </a:solidFill>
              <a:latin typeface="Itim" panose="00000500000000000000" pitchFamily="2" charset="-34"/>
              <a:cs typeface="Itim" panose="00000500000000000000" pitchFamily="2" charset="-34"/>
            </a:endParaRPr>
          </a:p>
        </p:txBody>
      </p:sp>
      <p:sp>
        <p:nvSpPr>
          <p:cNvPr id="5" name="Google Shape;1794;p49"/>
          <p:cNvSpPr txBox="1"/>
          <p:nvPr/>
        </p:nvSpPr>
        <p:spPr>
          <a:xfrm>
            <a:off x="3472689" y="4880413"/>
            <a:ext cx="524661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Hai viên bi A và B va chạm với nhau </a:t>
            </a:r>
            <a:endParaRPr lang="en-US" sz="2500" kern="0">
              <a:solidFill>
                <a:srgbClr val="F8F8F8"/>
              </a:solidFill>
              <a:latin typeface="Itim" panose="00000500000000000000" pitchFamily="2" charset="-34"/>
              <a:cs typeface="Itim" panose="00000500000000000000" pitchFamily="2" charset="-34"/>
            </a:endParaRPr>
          </a:p>
        </p:txBody>
      </p:sp>
      <p:sp>
        <p:nvSpPr>
          <p:cNvPr id="16" name="Oval 15"/>
          <p:cNvSpPr/>
          <p:nvPr/>
        </p:nvSpPr>
        <p:spPr>
          <a:xfrm>
            <a:off x="3674622" y="3517251"/>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990807" y="3517251"/>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3189167" y="3981059"/>
            <a:ext cx="5813665"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131822" y="3745851"/>
            <a:ext cx="817121"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179127" y="3726411"/>
            <a:ext cx="811680"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sp>
        <p:nvSpPr>
          <p:cNvPr id="25" name="Google Shape;1794;p49"/>
          <p:cNvSpPr txBox="1"/>
          <p:nvPr/>
        </p:nvSpPr>
        <p:spPr>
          <a:xfrm>
            <a:off x="3674622" y="2868691"/>
            <a:ext cx="45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A</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7990807" y="2836420"/>
            <a:ext cx="45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B </a:t>
            </a:r>
            <a:endParaRPr lang="en-US" sz="2500" kern="0">
              <a:solidFill>
                <a:srgbClr val="00B0F0"/>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Định luật bảo toàn động lượng: “Động lượng toàn phần của hệ kín là một đại lượng bảo toàn” </a:t>
            </a:r>
            <a:endParaRPr sz="3000" b="0">
              <a:solidFill>
                <a:srgbClr val="FFFF00"/>
              </a:solidFill>
              <a:latin typeface="Itim" panose="00000500000000000000" pitchFamily="2" charset="-34"/>
              <a:cs typeface="Itim" panose="00000500000000000000" pitchFamily="2" charset="-34"/>
            </a:endParaRPr>
          </a:p>
        </p:txBody>
      </p:sp>
      <p:sp>
        <p:nvSpPr>
          <p:cNvPr id="5" name="Google Shape;1794;p49"/>
          <p:cNvSpPr txBox="1"/>
          <p:nvPr/>
        </p:nvSpPr>
        <p:spPr>
          <a:xfrm>
            <a:off x="6234873" y="2904339"/>
            <a:ext cx="514105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Động lượng của hệ trước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Động lượng của hệ sau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Định luật bảo toàn động lượng: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22" name="Object 21"/>
          <p:cNvGraphicFramePr>
            <a:graphicFrameLocks noChangeAspect="1"/>
          </p:cNvGraphicFramePr>
          <p:nvPr/>
        </p:nvGraphicFramePr>
        <p:xfrm>
          <a:off x="2212181" y="1220237"/>
          <a:ext cx="7767637" cy="881063"/>
        </p:xfrm>
        <a:graphic>
          <a:graphicData uri="http://schemas.openxmlformats.org/presentationml/2006/ole">
            <mc:AlternateContent xmlns:mc="http://schemas.openxmlformats.org/markup-compatibility/2006">
              <mc:Choice xmlns:v="urn:schemas-microsoft-com:vml" Requires="v">
                <p:oleObj spid="_x0000_s1034" name="Equation" r:id="rId1" imgW="53340000" imgH="6096000" progId="Equation.DSMT4">
                  <p:embed/>
                </p:oleObj>
              </mc:Choice>
              <mc:Fallback>
                <p:oleObj name="Equation" r:id="rId1" imgW="53340000" imgH="6096000" progId="Equation.DSMT4">
                  <p:embed/>
                  <p:pic>
                    <p:nvPicPr>
                      <p:cNvPr id="0" name="Object 21"/>
                      <p:cNvPicPr/>
                      <p:nvPr/>
                    </p:nvPicPr>
                    <p:blipFill>
                      <a:blip r:embed="rId2"/>
                      <a:stretch>
                        <a:fillRect/>
                      </a:stretch>
                    </p:blipFill>
                    <p:spPr>
                      <a:xfrm>
                        <a:off x="2212181" y="1220237"/>
                        <a:ext cx="7767637" cy="881063"/>
                      </a:xfrm>
                      <a:prstGeom prst="rect">
                        <a:avLst/>
                      </a:prstGeom>
                    </p:spPr>
                  </p:pic>
                </p:oleObj>
              </mc:Fallback>
            </mc:AlternateContent>
          </a:graphicData>
        </a:graphic>
      </p:graphicFrame>
      <p:pic>
        <p:nvPicPr>
          <p:cNvPr id="6" name="Picture 5"/>
          <p:cNvPicPr>
            <a:picLocks noChangeAspect="1"/>
          </p:cNvPicPr>
          <p:nvPr/>
        </p:nvPicPr>
        <p:blipFill>
          <a:blip r:embed="rId3"/>
          <a:stretch>
            <a:fillRect/>
          </a:stretch>
        </p:blipFill>
        <p:spPr>
          <a:xfrm>
            <a:off x="1150415" y="2799735"/>
            <a:ext cx="4161453" cy="914400"/>
          </a:xfrm>
          <a:prstGeom prst="rect">
            <a:avLst/>
          </a:prstGeom>
        </p:spPr>
      </p:pic>
      <p:pic>
        <p:nvPicPr>
          <p:cNvPr id="23" name="Picture 22"/>
          <p:cNvPicPr>
            <a:picLocks noChangeAspect="1"/>
          </p:cNvPicPr>
          <p:nvPr/>
        </p:nvPicPr>
        <p:blipFill>
          <a:blip r:embed="rId3"/>
          <a:stretch>
            <a:fillRect/>
          </a:stretch>
        </p:blipFill>
        <p:spPr>
          <a:xfrm>
            <a:off x="1150416" y="5349232"/>
            <a:ext cx="4161453" cy="914400"/>
          </a:xfrm>
          <a:prstGeom prst="rect">
            <a:avLst/>
          </a:prstGeom>
        </p:spPr>
      </p:pic>
      <p:graphicFrame>
        <p:nvGraphicFramePr>
          <p:cNvPr id="25" name="Object 24"/>
          <p:cNvGraphicFramePr>
            <a:graphicFrameLocks noChangeAspect="1"/>
          </p:cNvGraphicFramePr>
          <p:nvPr/>
        </p:nvGraphicFramePr>
        <p:xfrm>
          <a:off x="8465241" y="3475140"/>
          <a:ext cx="1003300" cy="539750"/>
        </p:xfrm>
        <a:graphic>
          <a:graphicData uri="http://schemas.openxmlformats.org/presentationml/2006/ole">
            <mc:AlternateContent xmlns:mc="http://schemas.openxmlformats.org/markup-compatibility/2006">
              <mc:Choice xmlns:v="urn:schemas-microsoft-com:vml" Requires="v">
                <p:oleObj spid="_x0000_s1035" name="Equation" r:id="rId4" imgW="11277600" imgH="6096000" progId="Equation.DSMT4">
                  <p:embed/>
                </p:oleObj>
              </mc:Choice>
              <mc:Fallback>
                <p:oleObj name="Equation" r:id="rId4" imgW="11277600" imgH="6096000" progId="Equation.DSMT4">
                  <p:embed/>
                  <p:pic>
                    <p:nvPicPr>
                      <p:cNvPr id="0" name="Object 24"/>
                      <p:cNvPicPr/>
                      <p:nvPr/>
                    </p:nvPicPr>
                    <p:blipFill>
                      <a:blip r:embed="rId5"/>
                      <a:stretch>
                        <a:fillRect/>
                      </a:stretch>
                    </p:blipFill>
                    <p:spPr>
                      <a:xfrm>
                        <a:off x="8465241" y="3475140"/>
                        <a:ext cx="1003300" cy="539750"/>
                      </a:xfrm>
                      <a:prstGeom prst="rect">
                        <a:avLst/>
                      </a:prstGeom>
                    </p:spPr>
                  </p:pic>
                </p:oleObj>
              </mc:Fallback>
            </mc:AlternateContent>
          </a:graphicData>
        </a:graphic>
      </p:graphicFrame>
      <p:graphicFrame>
        <p:nvGraphicFramePr>
          <p:cNvPr id="26" name="Object 25"/>
          <p:cNvGraphicFramePr>
            <a:graphicFrameLocks noChangeAspect="1"/>
          </p:cNvGraphicFramePr>
          <p:nvPr/>
        </p:nvGraphicFramePr>
        <p:xfrm>
          <a:off x="8383484" y="4701333"/>
          <a:ext cx="1166813" cy="539750"/>
        </p:xfrm>
        <a:graphic>
          <a:graphicData uri="http://schemas.openxmlformats.org/presentationml/2006/ole">
            <mc:AlternateContent xmlns:mc="http://schemas.openxmlformats.org/markup-compatibility/2006">
              <mc:Choice xmlns:v="urn:schemas-microsoft-com:vml" Requires="v">
                <p:oleObj spid="_x0000_s1036" name="Equation" r:id="rId6" imgW="13106400" imgH="6096000" progId="Equation.DSMT4">
                  <p:embed/>
                </p:oleObj>
              </mc:Choice>
              <mc:Fallback>
                <p:oleObj name="Equation" r:id="rId6" imgW="13106400" imgH="6096000" progId="Equation.DSMT4">
                  <p:embed/>
                  <p:pic>
                    <p:nvPicPr>
                      <p:cNvPr id="0" name="Object 25"/>
                      <p:cNvPicPr/>
                      <p:nvPr/>
                    </p:nvPicPr>
                    <p:blipFill>
                      <a:blip r:embed="rId7"/>
                      <a:stretch>
                        <a:fillRect/>
                      </a:stretch>
                    </p:blipFill>
                    <p:spPr>
                      <a:xfrm>
                        <a:off x="8383484" y="4701333"/>
                        <a:ext cx="1166813" cy="539750"/>
                      </a:xfrm>
                      <a:prstGeom prst="rect">
                        <a:avLst/>
                      </a:prstGeom>
                    </p:spPr>
                  </p:pic>
                </p:oleObj>
              </mc:Fallback>
            </mc:AlternateContent>
          </a:graphicData>
        </a:graphic>
      </p:graphicFrame>
      <p:graphicFrame>
        <p:nvGraphicFramePr>
          <p:cNvPr id="27" name="Object 26"/>
          <p:cNvGraphicFramePr>
            <a:graphicFrameLocks noChangeAspect="1"/>
          </p:cNvGraphicFramePr>
          <p:nvPr/>
        </p:nvGraphicFramePr>
        <p:xfrm>
          <a:off x="7889875" y="5856375"/>
          <a:ext cx="2386013" cy="539750"/>
        </p:xfrm>
        <a:graphic>
          <a:graphicData uri="http://schemas.openxmlformats.org/presentationml/2006/ole">
            <mc:AlternateContent xmlns:mc="http://schemas.openxmlformats.org/markup-compatibility/2006">
              <mc:Choice xmlns:v="urn:schemas-microsoft-com:vml" Requires="v">
                <p:oleObj spid="_x0000_s1037" name="Equation" r:id="rId8" imgW="26822400" imgH="6096000" progId="Equation.DSMT4">
                  <p:embed/>
                </p:oleObj>
              </mc:Choice>
              <mc:Fallback>
                <p:oleObj name="Equation" r:id="rId8" imgW="26822400" imgH="6096000" progId="Equation.DSMT4">
                  <p:embed/>
                  <p:pic>
                    <p:nvPicPr>
                      <p:cNvPr id="0" name="Object 26"/>
                      <p:cNvPicPr/>
                      <p:nvPr/>
                    </p:nvPicPr>
                    <p:blipFill>
                      <a:blip r:embed="rId9"/>
                      <a:stretch>
                        <a:fillRect/>
                      </a:stretch>
                    </p:blipFill>
                    <p:spPr>
                      <a:xfrm>
                        <a:off x="7889875" y="5856375"/>
                        <a:ext cx="2386013" cy="539750"/>
                      </a:xfrm>
                      <a:prstGeom prst="rect">
                        <a:avLst/>
                      </a:prstGeom>
                    </p:spPr>
                  </p:pic>
                </p:oleObj>
              </mc:Fallback>
            </mc:AlternateContent>
          </a:graphicData>
        </a:graphic>
      </p:graphicFrame>
      <p:cxnSp>
        <p:nvCxnSpPr>
          <p:cNvPr id="30" name="Straight Arrow Connector 29"/>
          <p:cNvCxnSpPr/>
          <p:nvPr/>
        </p:nvCxnSpPr>
        <p:spPr>
          <a:xfrm>
            <a:off x="1732751" y="2565980"/>
            <a:ext cx="817121"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3903406" y="2565980"/>
            <a:ext cx="779022"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1822670" y="5039789"/>
            <a:ext cx="779022"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865307" y="5010053"/>
            <a:ext cx="817121"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sp>
        <p:nvSpPr>
          <p:cNvPr id="34" name="Google Shape;1794;p49"/>
          <p:cNvSpPr txBox="1"/>
          <p:nvPr/>
        </p:nvSpPr>
        <p:spPr>
          <a:xfrm>
            <a:off x="2018881" y="3725236"/>
            <a:ext cx="242451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Trước va chạm </a:t>
            </a:r>
            <a:endParaRPr lang="en-US" sz="2500" kern="0">
              <a:solidFill>
                <a:srgbClr val="F8F8F8"/>
              </a:solidFill>
              <a:latin typeface="Itim" panose="00000500000000000000" pitchFamily="2" charset="-34"/>
              <a:cs typeface="Itim" panose="00000500000000000000" pitchFamily="2" charset="-34"/>
            </a:endParaRPr>
          </a:p>
        </p:txBody>
      </p:sp>
      <p:sp>
        <p:nvSpPr>
          <p:cNvPr id="35" name="Google Shape;1794;p49"/>
          <p:cNvSpPr txBox="1"/>
          <p:nvPr/>
        </p:nvSpPr>
        <p:spPr>
          <a:xfrm>
            <a:off x="2018881" y="6197407"/>
            <a:ext cx="242451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Sau va chạm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36" name="Object 35"/>
          <p:cNvGraphicFramePr>
            <a:graphicFrameLocks noChangeAspect="1"/>
          </p:cNvGraphicFramePr>
          <p:nvPr/>
        </p:nvGraphicFramePr>
        <p:xfrm>
          <a:off x="1951604" y="2035502"/>
          <a:ext cx="379413" cy="539750"/>
        </p:xfrm>
        <a:graphic>
          <a:graphicData uri="http://schemas.openxmlformats.org/presentationml/2006/ole">
            <mc:AlternateContent xmlns:mc="http://schemas.openxmlformats.org/markup-compatibility/2006">
              <mc:Choice xmlns:v="urn:schemas-microsoft-com:vml" Requires="v">
                <p:oleObj spid="_x0000_s1038" name="Equation" r:id="rId10" imgW="4267200" imgH="6096000" progId="Equation.DSMT4">
                  <p:embed/>
                </p:oleObj>
              </mc:Choice>
              <mc:Fallback>
                <p:oleObj name="Equation" r:id="rId10" imgW="4267200" imgH="6096000" progId="Equation.DSMT4">
                  <p:embed/>
                  <p:pic>
                    <p:nvPicPr>
                      <p:cNvPr id="0" name="Object 35"/>
                      <p:cNvPicPr/>
                      <p:nvPr/>
                    </p:nvPicPr>
                    <p:blipFill>
                      <a:blip r:embed="rId11"/>
                      <a:stretch>
                        <a:fillRect/>
                      </a:stretch>
                    </p:blipFill>
                    <p:spPr>
                      <a:xfrm>
                        <a:off x="1951604" y="2035502"/>
                        <a:ext cx="379413" cy="539750"/>
                      </a:xfrm>
                      <a:prstGeom prst="rect">
                        <a:avLst/>
                      </a:prstGeom>
                    </p:spPr>
                  </p:pic>
                </p:oleObj>
              </mc:Fallback>
            </mc:AlternateContent>
          </a:graphicData>
        </a:graphic>
      </p:graphicFrame>
      <p:graphicFrame>
        <p:nvGraphicFramePr>
          <p:cNvPr id="37" name="Object 36"/>
          <p:cNvGraphicFramePr>
            <a:graphicFrameLocks noChangeAspect="1"/>
          </p:cNvGraphicFramePr>
          <p:nvPr/>
        </p:nvGraphicFramePr>
        <p:xfrm>
          <a:off x="4090988" y="2025650"/>
          <a:ext cx="406400" cy="539750"/>
        </p:xfrm>
        <a:graphic>
          <a:graphicData uri="http://schemas.openxmlformats.org/presentationml/2006/ole">
            <mc:AlternateContent xmlns:mc="http://schemas.openxmlformats.org/markup-compatibility/2006">
              <mc:Choice xmlns:v="urn:schemas-microsoft-com:vml" Requires="v">
                <p:oleObj spid="_x0000_s1039" name="Equation" r:id="rId12" imgW="4572000" imgH="6096000" progId="Equation.DSMT4">
                  <p:embed/>
                </p:oleObj>
              </mc:Choice>
              <mc:Fallback>
                <p:oleObj name="Equation" r:id="rId12" imgW="4572000" imgH="6096000" progId="Equation.DSMT4">
                  <p:embed/>
                  <p:pic>
                    <p:nvPicPr>
                      <p:cNvPr id="0" name="Object 36"/>
                      <p:cNvPicPr/>
                      <p:nvPr/>
                    </p:nvPicPr>
                    <p:blipFill>
                      <a:blip r:embed="rId13"/>
                      <a:stretch>
                        <a:fillRect/>
                      </a:stretch>
                    </p:blipFill>
                    <p:spPr>
                      <a:xfrm>
                        <a:off x="4090988" y="2025650"/>
                        <a:ext cx="406400" cy="539750"/>
                      </a:xfrm>
                      <a:prstGeom prst="rect">
                        <a:avLst/>
                      </a:prstGeom>
                    </p:spPr>
                  </p:pic>
                </p:oleObj>
              </mc:Fallback>
            </mc:AlternateContent>
          </a:graphicData>
        </a:graphic>
      </p:graphicFrame>
      <p:graphicFrame>
        <p:nvGraphicFramePr>
          <p:cNvPr id="38" name="Object 37"/>
          <p:cNvGraphicFramePr>
            <a:graphicFrameLocks noChangeAspect="1"/>
          </p:cNvGraphicFramePr>
          <p:nvPr/>
        </p:nvGraphicFramePr>
        <p:xfrm>
          <a:off x="1982788" y="4470400"/>
          <a:ext cx="460375" cy="539750"/>
        </p:xfrm>
        <a:graphic>
          <a:graphicData uri="http://schemas.openxmlformats.org/presentationml/2006/ole">
            <mc:AlternateContent xmlns:mc="http://schemas.openxmlformats.org/markup-compatibility/2006">
              <mc:Choice xmlns:v="urn:schemas-microsoft-com:vml" Requires="v">
                <p:oleObj spid="_x0000_s1040" name="Equation" r:id="rId14" imgW="5181600" imgH="6096000" progId="Equation.DSMT4">
                  <p:embed/>
                </p:oleObj>
              </mc:Choice>
              <mc:Fallback>
                <p:oleObj name="Equation" r:id="rId14" imgW="5181600" imgH="6096000" progId="Equation.DSMT4">
                  <p:embed/>
                  <p:pic>
                    <p:nvPicPr>
                      <p:cNvPr id="0" name="Object 37"/>
                      <p:cNvPicPr/>
                      <p:nvPr/>
                    </p:nvPicPr>
                    <p:blipFill>
                      <a:blip r:embed="rId15"/>
                      <a:stretch>
                        <a:fillRect/>
                      </a:stretch>
                    </p:blipFill>
                    <p:spPr>
                      <a:xfrm>
                        <a:off x="1982788" y="4470400"/>
                        <a:ext cx="460375" cy="539750"/>
                      </a:xfrm>
                      <a:prstGeom prst="rect">
                        <a:avLst/>
                      </a:prstGeom>
                    </p:spPr>
                  </p:pic>
                </p:oleObj>
              </mc:Fallback>
            </mc:AlternateContent>
          </a:graphicData>
        </a:graphic>
      </p:graphicFrame>
      <p:graphicFrame>
        <p:nvGraphicFramePr>
          <p:cNvPr id="39" name="Object 38"/>
          <p:cNvGraphicFramePr>
            <a:graphicFrameLocks noChangeAspect="1"/>
          </p:cNvGraphicFramePr>
          <p:nvPr/>
        </p:nvGraphicFramePr>
        <p:xfrm>
          <a:off x="4030186" y="4470303"/>
          <a:ext cx="487362" cy="539750"/>
        </p:xfrm>
        <a:graphic>
          <a:graphicData uri="http://schemas.openxmlformats.org/presentationml/2006/ole">
            <mc:AlternateContent xmlns:mc="http://schemas.openxmlformats.org/markup-compatibility/2006">
              <mc:Choice xmlns:v="urn:schemas-microsoft-com:vml" Requires="v">
                <p:oleObj spid="_x0000_s1041" name="Equation" r:id="rId16" imgW="5486400" imgH="6096000" progId="Equation.DSMT4">
                  <p:embed/>
                </p:oleObj>
              </mc:Choice>
              <mc:Fallback>
                <p:oleObj name="Equation" r:id="rId16" imgW="5486400" imgH="6096000" progId="Equation.DSMT4">
                  <p:embed/>
                  <p:pic>
                    <p:nvPicPr>
                      <p:cNvPr id="0" name="Object 38"/>
                      <p:cNvPicPr/>
                      <p:nvPr/>
                    </p:nvPicPr>
                    <p:blipFill>
                      <a:blip r:embed="rId17"/>
                      <a:stretch>
                        <a:fillRect/>
                      </a:stretch>
                    </p:blipFill>
                    <p:spPr>
                      <a:xfrm>
                        <a:off x="4030186" y="4470303"/>
                        <a:ext cx="487362" cy="539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Một hệ gồm hai vật có khối lượng lần lượt là m</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và m</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chuyển động với vận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tốc có độ lớn lần lượt là v</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và v</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hướng vào nhau. Bỏ qua mọi ma sát và lực cản của không khí. Viết biểu thức của định luật bảo toàn động lượng cho hệ này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794;p49"/>
          <p:cNvSpPr txBox="1"/>
          <p:nvPr/>
        </p:nvSpPr>
        <p:spPr>
          <a:xfrm>
            <a:off x="5147915" y="3036862"/>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5" name="Google Shape;1794;p49"/>
          <p:cNvSpPr txBox="1"/>
          <p:nvPr/>
        </p:nvSpPr>
        <p:spPr>
          <a:xfrm>
            <a:off x="152400" y="3432704"/>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Định luật bảo toàn động lượng: </a:t>
            </a:r>
            <a:endParaRPr lang="en-US" sz="2500" kern="0">
              <a:solidFill>
                <a:srgbClr val="F8F8F8"/>
              </a:solidFill>
              <a:latin typeface="Itim" panose="00000500000000000000" pitchFamily="2" charset="-34"/>
              <a:cs typeface="Itim" panose="00000500000000000000" pitchFamily="2" charset="-34"/>
            </a:endParaRPr>
          </a:p>
        </p:txBody>
      </p:sp>
      <p:sp>
        <p:nvSpPr>
          <p:cNvPr id="7" name="Oval 6"/>
          <p:cNvSpPr/>
          <p:nvPr/>
        </p:nvSpPr>
        <p:spPr>
          <a:xfrm>
            <a:off x="4175192" y="2194638"/>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332048" y="2194638"/>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3847926" y="2658446"/>
            <a:ext cx="4496147"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632392" y="2423238"/>
            <a:ext cx="817121"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6520368" y="2403798"/>
            <a:ext cx="811680"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sp>
        <p:nvSpPr>
          <p:cNvPr id="14" name="Google Shape;1794;p49"/>
          <p:cNvSpPr txBox="1"/>
          <p:nvPr/>
        </p:nvSpPr>
        <p:spPr>
          <a:xfrm>
            <a:off x="4009878" y="1563058"/>
            <a:ext cx="787828"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m</a:t>
            </a:r>
            <a:r>
              <a:rPr lang="en-US" sz="2500" kern="0" baseline="-25000">
                <a:solidFill>
                  <a:srgbClr val="F8F8F8"/>
                </a:solidFill>
                <a:latin typeface="Itim" panose="00000500000000000000" pitchFamily="2" charset="-34"/>
                <a:cs typeface="Itim" panose="00000500000000000000" pitchFamily="2" charset="-34"/>
              </a:rPr>
              <a:t>1</a:t>
            </a:r>
            <a:endParaRPr lang="en-US" sz="2500" kern="0" baseline="-25000">
              <a:solidFill>
                <a:srgbClr val="00B0F0"/>
              </a:solidFill>
              <a:latin typeface="Itim" panose="00000500000000000000" pitchFamily="2" charset="-34"/>
              <a:cs typeface="Itim" panose="00000500000000000000" pitchFamily="2" charset="-34"/>
            </a:endParaRPr>
          </a:p>
        </p:txBody>
      </p:sp>
      <p:sp>
        <p:nvSpPr>
          <p:cNvPr id="16" name="Google Shape;1794;p49"/>
          <p:cNvSpPr txBox="1"/>
          <p:nvPr/>
        </p:nvSpPr>
        <p:spPr>
          <a:xfrm>
            <a:off x="7253473" y="1552686"/>
            <a:ext cx="61435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m</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17" name="Object 16"/>
          <p:cNvGraphicFramePr>
            <a:graphicFrameLocks noChangeAspect="1"/>
          </p:cNvGraphicFramePr>
          <p:nvPr/>
        </p:nvGraphicFramePr>
        <p:xfrm>
          <a:off x="4876281" y="1727914"/>
          <a:ext cx="379413" cy="539750"/>
        </p:xfrm>
        <a:graphic>
          <a:graphicData uri="http://schemas.openxmlformats.org/presentationml/2006/ole">
            <mc:AlternateContent xmlns:mc="http://schemas.openxmlformats.org/markup-compatibility/2006">
              <mc:Choice xmlns:v="urn:schemas-microsoft-com:vml" Requires="v">
                <p:oleObj spid="_x0000_s2053" name="Equation" r:id="rId2" imgW="4267200" imgH="6096000" progId="Equation.DSMT4">
                  <p:embed/>
                </p:oleObj>
              </mc:Choice>
              <mc:Fallback>
                <p:oleObj name="Equation" r:id="rId2" imgW="4267200" imgH="6096000" progId="Equation.DSMT4">
                  <p:embed/>
                  <p:pic>
                    <p:nvPicPr>
                      <p:cNvPr id="0" name="Object 16"/>
                      <p:cNvPicPr/>
                      <p:nvPr/>
                    </p:nvPicPr>
                    <p:blipFill>
                      <a:blip r:embed="rId3"/>
                      <a:stretch>
                        <a:fillRect/>
                      </a:stretch>
                    </p:blipFill>
                    <p:spPr>
                      <a:xfrm>
                        <a:off x="4876281" y="1727914"/>
                        <a:ext cx="379413" cy="539750"/>
                      </a:xfrm>
                      <a:prstGeom prst="rect">
                        <a:avLst/>
                      </a:prstGeom>
                    </p:spPr>
                  </p:pic>
                </p:oleObj>
              </mc:Fallback>
            </mc:AlternateContent>
          </a:graphicData>
        </a:graphic>
      </p:graphicFrame>
      <p:graphicFrame>
        <p:nvGraphicFramePr>
          <p:cNvPr id="18" name="Object 17"/>
          <p:cNvGraphicFramePr>
            <a:graphicFrameLocks noChangeAspect="1"/>
          </p:cNvGraphicFramePr>
          <p:nvPr/>
        </p:nvGraphicFramePr>
        <p:xfrm>
          <a:off x="6680241" y="1759468"/>
          <a:ext cx="406400" cy="539750"/>
        </p:xfrm>
        <a:graphic>
          <a:graphicData uri="http://schemas.openxmlformats.org/presentationml/2006/ole">
            <mc:AlternateContent xmlns:mc="http://schemas.openxmlformats.org/markup-compatibility/2006">
              <mc:Choice xmlns:v="urn:schemas-microsoft-com:vml" Requires="v">
                <p:oleObj spid="_x0000_s2054" name="Equation" r:id="rId4" imgW="4572000" imgH="6096000" progId="Equation.DSMT4">
                  <p:embed/>
                </p:oleObj>
              </mc:Choice>
              <mc:Fallback>
                <p:oleObj name="Equation" r:id="rId4" imgW="4572000" imgH="6096000" progId="Equation.DSMT4">
                  <p:embed/>
                  <p:pic>
                    <p:nvPicPr>
                      <p:cNvPr id="0" name="Object 17"/>
                      <p:cNvPicPr/>
                      <p:nvPr/>
                    </p:nvPicPr>
                    <p:blipFill>
                      <a:blip r:embed="rId5"/>
                      <a:stretch>
                        <a:fillRect/>
                      </a:stretch>
                    </p:blipFill>
                    <p:spPr>
                      <a:xfrm>
                        <a:off x="6680241" y="1759468"/>
                        <a:ext cx="406400" cy="539750"/>
                      </a:xfrm>
                      <a:prstGeom prst="rect">
                        <a:avLst/>
                      </a:prstGeom>
                    </p:spPr>
                  </p:pic>
                </p:oleObj>
              </mc:Fallback>
            </mc:AlternateContent>
          </a:graphicData>
        </a:graphic>
      </p:graphicFrame>
      <p:graphicFrame>
        <p:nvGraphicFramePr>
          <p:cNvPr id="20" name="Object 19"/>
          <p:cNvGraphicFramePr>
            <a:graphicFrameLocks noChangeAspect="1"/>
          </p:cNvGraphicFramePr>
          <p:nvPr/>
        </p:nvGraphicFramePr>
        <p:xfrm>
          <a:off x="4876281" y="4120113"/>
          <a:ext cx="2386013" cy="539750"/>
        </p:xfrm>
        <a:graphic>
          <a:graphicData uri="http://schemas.openxmlformats.org/presentationml/2006/ole">
            <mc:AlternateContent xmlns:mc="http://schemas.openxmlformats.org/markup-compatibility/2006">
              <mc:Choice xmlns:v="urn:schemas-microsoft-com:vml" Requires="v">
                <p:oleObj spid="_x0000_s2055" name="Equation" r:id="rId6" imgW="26822400" imgH="6096000" progId="Equation.DSMT4">
                  <p:embed/>
                </p:oleObj>
              </mc:Choice>
              <mc:Fallback>
                <p:oleObj name="Equation" r:id="rId6" imgW="26822400" imgH="6096000" progId="Equation.DSMT4">
                  <p:embed/>
                  <p:pic>
                    <p:nvPicPr>
                      <p:cNvPr id="0" name="Object 19"/>
                      <p:cNvPicPr/>
                      <p:nvPr/>
                    </p:nvPicPr>
                    <p:blipFill>
                      <a:blip r:embed="rId7"/>
                      <a:stretch>
                        <a:fillRect/>
                      </a:stretch>
                    </p:blipFill>
                    <p:spPr>
                      <a:xfrm>
                        <a:off x="4876281" y="4120113"/>
                        <a:ext cx="2386013" cy="539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Va chạm đàn hồi và va chạm mềm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Va chạm đàn hồi: Sau va chạm, hai vật chuyển động với vận tốc khác nhau </a:t>
            </a:r>
            <a:endParaRPr sz="3000" b="0">
              <a:solidFill>
                <a:srgbClr val="FFFF00"/>
              </a:solidFill>
              <a:latin typeface="Itim" panose="00000500000000000000" pitchFamily="2" charset="-34"/>
              <a:cs typeface="Itim" panose="00000500000000000000" pitchFamily="2" charset="-34"/>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1580676"/>
            <a:ext cx="7315200" cy="921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104867"/>
            <a:ext cx="7315200" cy="8778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585168"/>
            <a:ext cx="7315200" cy="17556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Va chạm mềm: Sau va chạm, hai vật dính vào nhau và chuyển động cùng vận tốc </a:t>
            </a:r>
            <a:endParaRPr sz="3000" b="0">
              <a:solidFill>
                <a:srgbClr val="FFFF00"/>
              </a:solidFill>
              <a:latin typeface="Itim" panose="00000500000000000000" pitchFamily="2" charset="-34"/>
              <a:cs typeface="Itim" panose="00000500000000000000" pitchFamily="2" charset="-34"/>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1619250"/>
            <a:ext cx="7315200" cy="8778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Hình dưới mô tả một thí nghiệm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về va chạm đàn hồi của hai xe A và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có khối lượng m giống nhau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Hãy tính động lượng và động năng của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hệ trước và sau va chạm đàn hồi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Từ kết quả tính được rút ra nhận xét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gì?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5953125" y="177470"/>
            <a:ext cx="6086475" cy="2743200"/>
          </a:xfrm>
          <a:prstGeom prst="rect">
            <a:avLst/>
          </a:prstGeom>
        </p:spPr>
      </p:pic>
      <p:sp>
        <p:nvSpPr>
          <p:cNvPr id="24" name="Google Shape;1794;p49"/>
          <p:cNvSpPr txBox="1"/>
          <p:nvPr/>
        </p:nvSpPr>
        <p:spPr>
          <a:xfrm>
            <a:off x="1524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Động lượng: p = m.v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Động năng: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Trước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Sau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Động lượng và động năng của hệ được bảo toàn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30" name="Object 29"/>
          <p:cNvGraphicFramePr>
            <a:graphicFrameLocks noChangeAspect="1"/>
          </p:cNvGraphicFramePr>
          <p:nvPr/>
        </p:nvGraphicFramePr>
        <p:xfrm>
          <a:off x="2176115" y="4099528"/>
          <a:ext cx="1571625" cy="836612"/>
        </p:xfrm>
        <a:graphic>
          <a:graphicData uri="http://schemas.openxmlformats.org/presentationml/2006/ole">
            <mc:AlternateContent xmlns:mc="http://schemas.openxmlformats.org/markup-compatibility/2006">
              <mc:Choice xmlns:v="urn:schemas-microsoft-com:vml" Requires="v">
                <p:oleObj spid="_x0000_s3077" name="Equation" r:id="rId3" imgW="17678400" imgH="9448800" progId="Equation.DSMT4">
                  <p:embed/>
                </p:oleObj>
              </mc:Choice>
              <mc:Fallback>
                <p:oleObj name="Equation" r:id="rId3" imgW="17678400" imgH="9448800" progId="Equation.DSMT4">
                  <p:embed/>
                  <p:pic>
                    <p:nvPicPr>
                      <p:cNvPr id="0" name="Object 29"/>
                      <p:cNvPicPr/>
                      <p:nvPr/>
                    </p:nvPicPr>
                    <p:blipFill>
                      <a:blip r:embed="rId4"/>
                      <a:stretch>
                        <a:fillRect/>
                      </a:stretch>
                    </p:blipFill>
                    <p:spPr>
                      <a:xfrm>
                        <a:off x="2176115" y="4099528"/>
                        <a:ext cx="1571625" cy="836612"/>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8742709" y="3481844"/>
          <a:ext cx="2873375" cy="1349375"/>
        </p:xfrm>
        <a:graphic>
          <a:graphicData uri="http://schemas.openxmlformats.org/presentationml/2006/ole">
            <mc:AlternateContent xmlns:mc="http://schemas.openxmlformats.org/markup-compatibility/2006">
              <mc:Choice xmlns:v="urn:schemas-microsoft-com:vml" Requires="v">
                <p:oleObj spid="_x0000_s3078" name="Equation" r:id="rId5" imgW="32308800" imgH="15240000" progId="Equation.DSMT4">
                  <p:embed/>
                </p:oleObj>
              </mc:Choice>
              <mc:Fallback>
                <p:oleObj name="Equation" r:id="rId5" imgW="32308800" imgH="15240000" progId="Equation.DSMT4">
                  <p:embed/>
                  <p:pic>
                    <p:nvPicPr>
                      <p:cNvPr id="0" name="Object 33"/>
                      <p:cNvPicPr/>
                      <p:nvPr/>
                    </p:nvPicPr>
                    <p:blipFill>
                      <a:blip r:embed="rId6"/>
                      <a:stretch>
                        <a:fillRect/>
                      </a:stretch>
                    </p:blipFill>
                    <p:spPr>
                      <a:xfrm>
                        <a:off x="8742709" y="3481844"/>
                        <a:ext cx="2873375" cy="134937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8188561" y="4578207"/>
          <a:ext cx="2792413" cy="1349375"/>
        </p:xfrm>
        <a:graphic>
          <a:graphicData uri="http://schemas.openxmlformats.org/presentationml/2006/ole">
            <mc:AlternateContent xmlns:mc="http://schemas.openxmlformats.org/markup-compatibility/2006">
              <mc:Choice xmlns:v="urn:schemas-microsoft-com:vml" Requires="v">
                <p:oleObj spid="_x0000_s3079" name="Equation" r:id="rId7" imgW="31394400" imgH="15240000" progId="Equation.DSMT4">
                  <p:embed/>
                </p:oleObj>
              </mc:Choice>
              <mc:Fallback>
                <p:oleObj name="Equation" r:id="rId7" imgW="31394400" imgH="15240000" progId="Equation.DSMT4">
                  <p:embed/>
                  <p:pic>
                    <p:nvPicPr>
                      <p:cNvPr id="0" name="Object 34"/>
                      <p:cNvPicPr/>
                      <p:nvPr/>
                    </p:nvPicPr>
                    <p:blipFill>
                      <a:blip r:embed="rId8"/>
                      <a:stretch>
                        <a:fillRect/>
                      </a:stretch>
                    </p:blipFill>
                    <p:spPr>
                      <a:xfrm>
                        <a:off x="8188561" y="4578207"/>
                        <a:ext cx="2792413" cy="134937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Hình dưới mô tả một thí nghiệm về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va chạm mềm của hai xe A và B có khối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lượng m giống nhau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Hãy tính động lượng và động năng của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hệ trước và sau va chạm mềm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Từ kết quả tính được rút ra nhận xét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gì?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794;p49"/>
          <p:cNvSpPr txBox="1"/>
          <p:nvPr/>
        </p:nvSpPr>
        <p:spPr>
          <a:xfrm>
            <a:off x="1524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Động lượng: p = m.v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Động năng: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Trước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Sau va chạm: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30" name="Object 29"/>
          <p:cNvGraphicFramePr>
            <a:graphicFrameLocks noChangeAspect="1"/>
          </p:cNvGraphicFramePr>
          <p:nvPr/>
        </p:nvGraphicFramePr>
        <p:xfrm>
          <a:off x="2176115" y="4099528"/>
          <a:ext cx="1571625" cy="836612"/>
        </p:xfrm>
        <a:graphic>
          <a:graphicData uri="http://schemas.openxmlformats.org/presentationml/2006/ole">
            <mc:AlternateContent xmlns:mc="http://schemas.openxmlformats.org/markup-compatibility/2006">
              <mc:Choice xmlns:v="urn:schemas-microsoft-com:vml" Requires="v">
                <p:oleObj spid="_x0000_s4101" name="Equation" r:id="rId2" imgW="17678400" imgH="9448800" progId="Equation.DSMT4">
                  <p:embed/>
                </p:oleObj>
              </mc:Choice>
              <mc:Fallback>
                <p:oleObj name="Equation" r:id="rId2" imgW="17678400" imgH="9448800" progId="Equation.DSMT4">
                  <p:embed/>
                  <p:pic>
                    <p:nvPicPr>
                      <p:cNvPr id="0" name="Object 29"/>
                      <p:cNvPicPr/>
                      <p:nvPr/>
                    </p:nvPicPr>
                    <p:blipFill>
                      <a:blip r:embed="rId3"/>
                      <a:stretch>
                        <a:fillRect/>
                      </a:stretch>
                    </p:blipFill>
                    <p:spPr>
                      <a:xfrm>
                        <a:off x="2176115" y="4099528"/>
                        <a:ext cx="1571625" cy="836612"/>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8742709" y="3481844"/>
          <a:ext cx="2873375" cy="1349375"/>
        </p:xfrm>
        <a:graphic>
          <a:graphicData uri="http://schemas.openxmlformats.org/presentationml/2006/ole">
            <mc:AlternateContent xmlns:mc="http://schemas.openxmlformats.org/markup-compatibility/2006">
              <mc:Choice xmlns:v="urn:schemas-microsoft-com:vml" Requires="v">
                <p:oleObj spid="_x0000_s4102" name="Equation" r:id="rId4" imgW="32308800" imgH="15240000" progId="Equation.DSMT4">
                  <p:embed/>
                </p:oleObj>
              </mc:Choice>
              <mc:Fallback>
                <p:oleObj name="Equation" r:id="rId4" imgW="32308800" imgH="15240000" progId="Equation.DSMT4">
                  <p:embed/>
                  <p:pic>
                    <p:nvPicPr>
                      <p:cNvPr id="0" name="Object 33"/>
                      <p:cNvPicPr/>
                      <p:nvPr/>
                    </p:nvPicPr>
                    <p:blipFill>
                      <a:blip r:embed="rId5"/>
                      <a:stretch>
                        <a:fillRect/>
                      </a:stretch>
                    </p:blipFill>
                    <p:spPr>
                      <a:xfrm>
                        <a:off x="8742709" y="3481844"/>
                        <a:ext cx="2873375" cy="134937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5695950" y="4936140"/>
          <a:ext cx="6343650" cy="1835150"/>
        </p:xfrm>
        <a:graphic>
          <a:graphicData uri="http://schemas.openxmlformats.org/presentationml/2006/ole">
            <mc:AlternateContent xmlns:mc="http://schemas.openxmlformats.org/markup-compatibility/2006">
              <mc:Choice xmlns:v="urn:schemas-microsoft-com:vml" Requires="v">
                <p:oleObj spid="_x0000_s4103" name="Equation" r:id="rId6" imgW="71323200" imgH="20726400" progId="Equation.DSMT4">
                  <p:embed/>
                </p:oleObj>
              </mc:Choice>
              <mc:Fallback>
                <p:oleObj name="Equation" r:id="rId6" imgW="71323200" imgH="20726400" progId="Equation.DSMT4">
                  <p:embed/>
                  <p:pic>
                    <p:nvPicPr>
                      <p:cNvPr id="0" name="Object 34"/>
                      <p:cNvPicPr/>
                      <p:nvPr/>
                    </p:nvPicPr>
                    <p:blipFill>
                      <a:blip r:embed="rId7"/>
                      <a:stretch>
                        <a:fillRect/>
                      </a:stretch>
                    </p:blipFill>
                    <p:spPr>
                      <a:xfrm>
                        <a:off x="5695950" y="4936140"/>
                        <a:ext cx="6343650" cy="1835150"/>
                      </a:xfrm>
                      <a:prstGeom prst="rect">
                        <a:avLst/>
                      </a:prstGeom>
                    </p:spPr>
                  </p:pic>
                </p:oleObj>
              </mc:Fallback>
            </mc:AlternateContent>
          </a:graphicData>
        </a:graphic>
      </p:graphicFrame>
      <p:pic>
        <p:nvPicPr>
          <p:cNvPr id="4" name="Picture 3"/>
          <p:cNvPicPr>
            <a:picLocks noChangeAspect="1"/>
          </p:cNvPicPr>
          <p:nvPr/>
        </p:nvPicPr>
        <p:blipFill>
          <a:blip r:embed="rId8"/>
          <a:stretch>
            <a:fillRect/>
          </a:stretch>
        </p:blipFill>
        <p:spPr>
          <a:xfrm>
            <a:off x="6416040" y="255982"/>
            <a:ext cx="5623560" cy="2743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Hình dưới mô tả một thí nghiệm về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va chạm mềm của hai xe A và B có khối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lượng m giống nhau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Hãy tính động lượng và động năng của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hệ trước và sau va chạm đàn hồi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Từ kết quả tính được rút ra nhận xét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gì?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794;p49"/>
          <p:cNvSpPr txBox="1"/>
          <p:nvPr/>
        </p:nvSpPr>
        <p:spPr>
          <a:xfrm>
            <a:off x="1524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Động lượng: p = m.v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Động năng: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304183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343767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b) Động lượng được bảo toàn, còn động năng thay đổi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30" name="Object 29"/>
          <p:cNvGraphicFramePr>
            <a:graphicFrameLocks noChangeAspect="1"/>
          </p:cNvGraphicFramePr>
          <p:nvPr/>
        </p:nvGraphicFramePr>
        <p:xfrm>
          <a:off x="2176115" y="4099528"/>
          <a:ext cx="1571625" cy="836612"/>
        </p:xfrm>
        <a:graphic>
          <a:graphicData uri="http://schemas.openxmlformats.org/presentationml/2006/ole">
            <mc:AlternateContent xmlns:mc="http://schemas.openxmlformats.org/markup-compatibility/2006">
              <mc:Choice xmlns:v="urn:schemas-microsoft-com:vml" Requires="v">
                <p:oleObj spid="_x0000_s5123" name="Equation" r:id="rId2" imgW="17678400" imgH="9448800" progId="Equation.DSMT4">
                  <p:embed/>
                </p:oleObj>
              </mc:Choice>
              <mc:Fallback>
                <p:oleObj name="Equation" r:id="rId2" imgW="17678400" imgH="9448800" progId="Equation.DSMT4">
                  <p:embed/>
                  <p:pic>
                    <p:nvPicPr>
                      <p:cNvPr id="0" name="Object 29"/>
                      <p:cNvPicPr/>
                      <p:nvPr/>
                    </p:nvPicPr>
                    <p:blipFill>
                      <a:blip r:embed="rId3"/>
                      <a:stretch>
                        <a:fillRect/>
                      </a:stretch>
                    </p:blipFill>
                    <p:spPr>
                      <a:xfrm>
                        <a:off x="2176115" y="4099528"/>
                        <a:ext cx="1571625" cy="836612"/>
                      </a:xfrm>
                      <a:prstGeom prst="rect">
                        <a:avLst/>
                      </a:prstGeom>
                    </p:spPr>
                  </p:pic>
                </p:oleObj>
              </mc:Fallback>
            </mc:AlternateContent>
          </a:graphicData>
        </a:graphic>
      </p:graphicFrame>
      <p:pic>
        <p:nvPicPr>
          <p:cNvPr id="4" name="Picture 3"/>
          <p:cNvPicPr>
            <a:picLocks noChangeAspect="1"/>
          </p:cNvPicPr>
          <p:nvPr/>
        </p:nvPicPr>
        <p:blipFill>
          <a:blip r:embed="rId4"/>
          <a:stretch>
            <a:fillRect/>
          </a:stretch>
        </p:blipFill>
        <p:spPr>
          <a:xfrm>
            <a:off x="6416040" y="255982"/>
            <a:ext cx="5623560" cy="2743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4. Trong hình dưới, nếu kéo bi (1) lên thêm một độ cao 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rồi thả ra. Con lắc sẽ rơi xuống và va chạm với hai con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lắc còn lại. Hãy dự đoán xem va chạm là va chạm gì? Con lắc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(2), (3) lên tới độ cao nào?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1794;p49"/>
          <p:cNvSpPr txBox="1"/>
          <p:nvPr/>
        </p:nvSpPr>
        <p:spPr>
          <a:xfrm>
            <a:off x="2176115" y="1882505"/>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410319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4499035"/>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Va chạm này là va chạm đàn hồi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Con lắc (2) giữ nguyên vị trí, con lắc (3) lên tới độ cao h (vị trí B) </a:t>
            </a:r>
            <a:endParaRPr lang="en-US" sz="2500" kern="0">
              <a:solidFill>
                <a:srgbClr val="F8F8F8"/>
              </a:solidFill>
              <a:latin typeface="Itim" panose="00000500000000000000" pitchFamily="2" charset="-34"/>
              <a:cs typeface="Itim" panose="00000500000000000000" pitchFamily="2" charset="-34"/>
            </a:endParaRPr>
          </a:p>
        </p:txBody>
      </p:sp>
      <p:pic>
        <p:nvPicPr>
          <p:cNvPr id="3" name="Picture 2"/>
          <p:cNvPicPr>
            <a:picLocks noChangeAspect="1"/>
          </p:cNvPicPr>
          <p:nvPr/>
        </p:nvPicPr>
        <p:blipFill>
          <a:blip r:embed="rId2"/>
          <a:stretch>
            <a:fillRect/>
          </a:stretch>
        </p:blipFill>
        <p:spPr>
          <a:xfrm>
            <a:off x="8840006" y="233157"/>
            <a:ext cx="3199594" cy="3657600"/>
          </a:xfrm>
          <a:prstGeom prst="rect">
            <a:avLst/>
          </a:prstGeom>
        </p:spPr>
      </p:pic>
      <p:pic>
        <p:nvPicPr>
          <p:cNvPr id="7" name="Picture 6" descr="A close-up of a magnifying glass&#10;&#10;Description automatically generated with medium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586614"/>
            <a:ext cx="4572000" cy="3429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8" grpId="0"/>
    </p:bldLst>
  </p:timing>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2430</Words>
  <Application>WPS Presentation</Application>
  <PresentationFormat>Widescreen</PresentationFormat>
  <Paragraphs>124</Paragraphs>
  <Slides>12</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18</vt:i4>
      </vt:variant>
      <vt:variant>
        <vt:lpstr>幻灯片标题</vt:lpstr>
      </vt:variant>
      <vt:variant>
        <vt:i4>12</vt:i4>
      </vt:variant>
    </vt:vector>
  </HeadingPairs>
  <TitlesOfParts>
    <vt:vector size="48"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Microsoft YaHei</vt:lpstr>
      <vt:lpstr>汉仪旗黑</vt:lpstr>
      <vt:lpstr>Calibri Light</vt:lpstr>
      <vt:lpstr>Helvetica Neue</vt:lpstr>
      <vt:lpstr>Calibri</vt:lpstr>
      <vt:lpstr>宋体-简</vt:lpstr>
      <vt:lpstr>Art_mountaineering</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Định luật bảo toàn động lượng </vt:lpstr>
      <vt:lpstr>Hệ kín (hay hệ cô lập) là hệ gồm nhiều vật tác dụng lẫn nhau khi không có ngoại lực tác dụng vào hệ hoặc khi các ngoại lực cân bằng nhau. Trong một hệ kín, chỉ có các nội lực (các lực tác dụng giữa các vật trong hệ) tương tác giữa các vật </vt:lpstr>
      <vt:lpstr>Định luật bảo toàn động lượng: “Động lượng toàn phần của hệ kín là một đại lượng bảo toàn” </vt:lpstr>
      <vt:lpstr>PowerPoint 演示文稿</vt:lpstr>
      <vt:lpstr>Va chạm đàn hồi và va chạm mềm </vt:lpstr>
      <vt:lpstr>Va chạm đàn hồi: Sau va chạm, hai vật chuyển động với vận tốc khác nhau </vt:lpstr>
      <vt:lpstr>Va chạm mềm: Sau va chạm, hai vật dính vào nhau và chuyển động cùng vận tốc </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2025-09-17T02:54:32Z</dcterms:created>
  <dcterms:modified xsi:type="dcterms:W3CDTF">2025-09-17T02:54:32Z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FCD7E82A6129C681E822CA68D55842ED_42</vt:lpwstr>
  </property>
  <property fmtid="{D5CDD505-2E9C-101B-9397-08002B2CF9AE}" pid="3" name="KSOProductBuildVer">
    <vt:lpwstr>1033-12.1.22553.22553</vt:lpwstr>
  </property>
</Properties>
</file>